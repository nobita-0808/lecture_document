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8" r:id="rId2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7AFB8-F59A-417F-B4AA-335B57ADB8BF}" v="8" dt="2026-04-14T05:36:23.33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830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賢 宮本" userId="4e484cef2ba5051b" providerId="LiveId" clId="{72CE4236-0583-4672-AA7F-EA39505C199A}"/>
    <pc:docChg chg="undo custSel addSld delSld modSld sldOrd">
      <pc:chgData name="賢 宮本" userId="4e484cef2ba5051b" providerId="LiveId" clId="{72CE4236-0583-4672-AA7F-EA39505C199A}" dt="2026-04-14T05:39:20.162" v="651" actId="20577"/>
      <pc:docMkLst>
        <pc:docMk/>
      </pc:docMkLst>
      <pc:sldChg chg="modSp mod">
        <pc:chgData name="賢 宮本" userId="4e484cef2ba5051b" providerId="LiveId" clId="{72CE4236-0583-4672-AA7F-EA39505C199A}" dt="2026-04-13T06:17:08.802" v="273" actId="20577"/>
        <pc:sldMkLst>
          <pc:docMk/>
          <pc:sldMk cId="0" sldId="257"/>
        </pc:sldMkLst>
        <pc:spChg chg="mod">
          <ac:chgData name="賢 宮本" userId="4e484cef2ba5051b" providerId="LiveId" clId="{72CE4236-0583-4672-AA7F-EA39505C199A}" dt="2026-04-13T06:17:08.802" v="273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賢 宮本" userId="4e484cef2ba5051b" providerId="LiveId" clId="{72CE4236-0583-4672-AA7F-EA39505C199A}" dt="2026-04-07T05:11:29.852" v="0" actId="6549"/>
        <pc:sldMkLst>
          <pc:docMk/>
          <pc:sldMk cId="0" sldId="258"/>
        </pc:sldMkLst>
        <pc:spChg chg="mod">
          <ac:chgData name="賢 宮本" userId="4e484cef2ba5051b" providerId="LiveId" clId="{72CE4236-0583-4672-AA7F-EA39505C199A}" dt="2026-04-07T05:11:29.852" v="0" actId="6549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賢 宮本" userId="4e484cef2ba5051b" providerId="LiveId" clId="{72CE4236-0583-4672-AA7F-EA39505C199A}" dt="2026-04-07T05:15:37.296" v="122" actId="6549"/>
        <pc:sldMkLst>
          <pc:docMk/>
          <pc:sldMk cId="0" sldId="259"/>
        </pc:sldMkLst>
        <pc:spChg chg="mod">
          <ac:chgData name="賢 宮本" userId="4e484cef2ba5051b" providerId="LiveId" clId="{72CE4236-0583-4672-AA7F-EA39505C199A}" dt="2026-04-07T05:11:42.225" v="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5:37.296" v="122" actId="6549"/>
          <ac:spMkLst>
            <pc:docMk/>
            <pc:sldMk cId="0" sldId="259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5:10.368" v="113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5:10.368" v="113" actId="1076"/>
          <ac:spMkLst>
            <pc:docMk/>
            <pc:sldMk cId="0" sldId="259"/>
            <ac:spMk id="21" creationId="{5193B450-E47C-0C85-1047-E8F197D7623A}"/>
          </ac:spMkLst>
        </pc:spChg>
        <pc:spChg chg="mod">
          <ac:chgData name="賢 宮本" userId="4e484cef2ba5051b" providerId="LiveId" clId="{72CE4236-0583-4672-AA7F-EA39505C199A}" dt="2026-04-07T05:15:10.368" v="113" actId="1076"/>
          <ac:spMkLst>
            <pc:docMk/>
            <pc:sldMk cId="0" sldId="259"/>
            <ac:spMk id="26" creationId="{0E7689FF-2F05-A93A-705D-167A40028BB9}"/>
          </ac:spMkLst>
        </pc:spChg>
        <pc:grpChg chg="mod">
          <ac:chgData name="賢 宮本" userId="4e484cef2ba5051b" providerId="LiveId" clId="{72CE4236-0583-4672-AA7F-EA39505C199A}" dt="2026-04-07T05:15:10.368" v="113" actId="1076"/>
          <ac:grpSpMkLst>
            <pc:docMk/>
            <pc:sldMk cId="0" sldId="259"/>
            <ac:grpSpMk id="4" creationId="{00000000-0000-0000-0000-000000000000}"/>
          </ac:grpSpMkLst>
        </pc:grpChg>
        <pc:picChg chg="mod">
          <ac:chgData name="賢 宮本" userId="4e484cef2ba5051b" providerId="LiveId" clId="{72CE4236-0583-4672-AA7F-EA39505C199A}" dt="2026-04-07T05:15:10.368" v="113" actId="1076"/>
          <ac:picMkLst>
            <pc:docMk/>
            <pc:sldMk cId="0" sldId="259"/>
            <ac:picMk id="9" creationId="{00000000-0000-0000-0000-000000000000}"/>
          </ac:picMkLst>
        </pc:picChg>
        <pc:picChg chg="mod">
          <ac:chgData name="賢 宮本" userId="4e484cef2ba5051b" providerId="LiveId" clId="{72CE4236-0583-4672-AA7F-EA39505C199A}" dt="2026-04-07T05:15:10.368" v="113" actId="1076"/>
          <ac:picMkLst>
            <pc:docMk/>
            <pc:sldMk cId="0" sldId="259"/>
            <ac:picMk id="14" creationId="{00000000-0000-0000-0000-000000000000}"/>
          </ac:picMkLst>
        </pc:picChg>
        <pc:picChg chg="mod">
          <ac:chgData name="賢 宮本" userId="4e484cef2ba5051b" providerId="LiveId" clId="{72CE4236-0583-4672-AA7F-EA39505C199A}" dt="2026-04-07T05:15:10.368" v="113" actId="1076"/>
          <ac:picMkLst>
            <pc:docMk/>
            <pc:sldMk cId="0" sldId="259"/>
            <ac:picMk id="15" creationId="{00000000-0000-0000-0000-000000000000}"/>
          </ac:picMkLst>
        </pc:picChg>
        <pc:cxnChg chg="mod">
          <ac:chgData name="賢 宮本" userId="4e484cef2ba5051b" providerId="LiveId" clId="{72CE4236-0583-4672-AA7F-EA39505C199A}" dt="2026-04-07T05:15:10.368" v="113" actId="1076"/>
          <ac:cxnSpMkLst>
            <pc:docMk/>
            <pc:sldMk cId="0" sldId="259"/>
            <ac:cxnSpMk id="23" creationId="{A61B01A0-D33D-2910-FFBC-08784AAB170A}"/>
          </ac:cxnSpMkLst>
        </pc:cxnChg>
      </pc:sldChg>
      <pc:sldChg chg="modSp mod">
        <pc:chgData name="賢 宮本" userId="4e484cef2ba5051b" providerId="LiveId" clId="{72CE4236-0583-4672-AA7F-EA39505C199A}" dt="2026-04-07T05:16:58.438" v="142" actId="20577"/>
        <pc:sldMkLst>
          <pc:docMk/>
          <pc:sldMk cId="0" sldId="260"/>
        </pc:sldMkLst>
        <pc:spChg chg="mod">
          <ac:chgData name="賢 宮本" userId="4e484cef2ba5051b" providerId="LiveId" clId="{72CE4236-0583-4672-AA7F-EA39505C199A}" dt="2026-04-07T05:16:05.227" v="136" actId="6549"/>
          <ac:spMkLst>
            <pc:docMk/>
            <pc:sldMk cId="0" sldId="260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6:58.438" v="142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7T05:17:46.794" v="149" actId="20577"/>
        <pc:sldMkLst>
          <pc:docMk/>
          <pc:sldMk cId="0" sldId="261"/>
        </pc:sldMkLst>
        <pc:spChg chg="mod">
          <ac:chgData name="賢 宮本" userId="4e484cef2ba5051b" providerId="LiveId" clId="{72CE4236-0583-4672-AA7F-EA39505C199A}" dt="2026-04-07T05:17:36.106" v="146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7:46.794" v="149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7:19.506" v="145" actId="1076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賢 宮本" userId="4e484cef2ba5051b" providerId="LiveId" clId="{72CE4236-0583-4672-AA7F-EA39505C199A}" dt="2026-04-07T05:18:13.312" v="156" actId="1076"/>
        <pc:sldMkLst>
          <pc:docMk/>
          <pc:sldMk cId="0" sldId="262"/>
        </pc:sldMkLst>
        <pc:spChg chg="mod">
          <ac:chgData name="賢 宮本" userId="4e484cef2ba5051b" providerId="LiveId" clId="{72CE4236-0583-4672-AA7F-EA39505C199A}" dt="2026-04-07T05:18:13.312" v="156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7T05:19:39.388" v="179" actId="1076"/>
        <pc:sldMkLst>
          <pc:docMk/>
          <pc:sldMk cId="0" sldId="263"/>
        </pc:sldMkLst>
        <pc:spChg chg="mod">
          <ac:chgData name="賢 宮本" userId="4e484cef2ba5051b" providerId="LiveId" clId="{72CE4236-0583-4672-AA7F-EA39505C199A}" dt="2026-04-07T05:19:39.388" v="179" actId="1076"/>
          <ac:spMkLst>
            <pc:docMk/>
            <pc:sldMk cId="0" sldId="263"/>
            <ac:spMk id="12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7T05:19:53.683" v="183" actId="1076"/>
        <pc:sldMkLst>
          <pc:docMk/>
          <pc:sldMk cId="0" sldId="264"/>
        </pc:sldMkLst>
        <pc:spChg chg="mod">
          <ac:chgData name="賢 宮本" userId="4e484cef2ba5051b" providerId="LiveId" clId="{72CE4236-0583-4672-AA7F-EA39505C199A}" dt="2026-04-07T05:19:53.683" v="183" actId="1076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13T06:23:32.673" v="276"/>
        <pc:sldMkLst>
          <pc:docMk/>
          <pc:sldMk cId="0" sldId="265"/>
        </pc:sldMkLst>
        <pc:spChg chg="del mod">
          <ac:chgData name="賢 宮本" userId="4e484cef2ba5051b" providerId="LiveId" clId="{72CE4236-0583-4672-AA7F-EA39505C199A}" dt="2026-04-13T06:23:27.178" v="274" actId="478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賢 宮本" userId="4e484cef2ba5051b" providerId="LiveId" clId="{72CE4236-0583-4672-AA7F-EA39505C199A}" dt="2026-04-13T06:23:31.144" v="275" actId="478"/>
          <ac:spMkLst>
            <pc:docMk/>
            <pc:sldMk cId="0" sldId="265"/>
            <ac:spMk id="20" creationId="{898A913A-F18F-F9D3-8C28-973378F98E71}"/>
          </ac:spMkLst>
        </pc:spChg>
        <pc:spChg chg="add mod">
          <ac:chgData name="賢 宮本" userId="4e484cef2ba5051b" providerId="LiveId" clId="{72CE4236-0583-4672-AA7F-EA39505C199A}" dt="2026-04-13T06:23:32.673" v="276"/>
          <ac:spMkLst>
            <pc:docMk/>
            <pc:sldMk cId="0" sldId="265"/>
            <ac:spMk id="21" creationId="{5BAD57F2-DBE3-F477-8DCA-B3AA5057A7B3}"/>
          </ac:spMkLst>
        </pc:spChg>
      </pc:sldChg>
      <pc:sldChg chg="modSp mod">
        <pc:chgData name="賢 宮本" userId="4e484cef2ba5051b" providerId="LiveId" clId="{72CE4236-0583-4672-AA7F-EA39505C199A}" dt="2026-04-07T05:20:19.905" v="185" actId="6549"/>
        <pc:sldMkLst>
          <pc:docMk/>
          <pc:sldMk cId="0" sldId="266"/>
        </pc:sldMkLst>
        <pc:spChg chg="mod">
          <ac:chgData name="賢 宮本" userId="4e484cef2ba5051b" providerId="LiveId" clId="{72CE4236-0583-4672-AA7F-EA39505C199A}" dt="2026-04-07T05:20:19.905" v="185" actId="6549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賢 宮本" userId="4e484cef2ba5051b" providerId="LiveId" clId="{72CE4236-0583-4672-AA7F-EA39505C199A}" dt="2026-04-07T05:20:27.056" v="186" actId="6549"/>
        <pc:sldMkLst>
          <pc:docMk/>
          <pc:sldMk cId="0" sldId="267"/>
        </pc:sldMkLst>
        <pc:spChg chg="mod">
          <ac:chgData name="賢 宮本" userId="4e484cef2ba5051b" providerId="LiveId" clId="{72CE4236-0583-4672-AA7F-EA39505C199A}" dt="2026-04-07T05:20:27.056" v="186" actId="6549"/>
          <ac:spMkLst>
            <pc:docMk/>
            <pc:sldMk cId="0" sldId="267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07T05:19:07.659" v="176" actId="14100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">
        <pc:chgData name="賢 宮本" userId="4e484cef2ba5051b" providerId="LiveId" clId="{72CE4236-0583-4672-AA7F-EA39505C199A}" dt="2026-04-07T05:22:02.232" v="245" actId="1076"/>
        <pc:sldMkLst>
          <pc:docMk/>
          <pc:sldMk cId="0" sldId="268"/>
        </pc:sldMkLst>
        <pc:spChg chg="mod">
          <ac:chgData name="賢 宮本" userId="4e484cef2ba5051b" providerId="LiveId" clId="{72CE4236-0583-4672-AA7F-EA39505C199A}" dt="2026-04-07T05:21:11.630" v="199" actId="14100"/>
          <ac:spMkLst>
            <pc:docMk/>
            <pc:sldMk cId="0" sldId="268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4-07T05:21:48.980" v="244" actId="6549"/>
          <ac:spMkLst>
            <pc:docMk/>
            <pc:sldMk cId="0" sldId="268"/>
            <ac:spMk id="4" creationId="{00000000-0000-0000-0000-000000000000}"/>
          </ac:spMkLst>
        </pc:spChg>
        <pc:picChg chg="mod">
          <ac:chgData name="賢 宮本" userId="4e484cef2ba5051b" providerId="LiveId" clId="{72CE4236-0583-4672-AA7F-EA39505C199A}" dt="2026-04-07T05:22:02.232" v="24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addSp delSp modSp mod">
        <pc:chgData name="賢 宮本" userId="4e484cef2ba5051b" providerId="LiveId" clId="{72CE4236-0583-4672-AA7F-EA39505C199A}" dt="2026-04-14T05:34:09.874" v="530" actId="1076"/>
        <pc:sldMkLst>
          <pc:docMk/>
          <pc:sldMk cId="0" sldId="269"/>
        </pc:sldMkLst>
        <pc:spChg chg="mod">
          <ac:chgData name="賢 宮本" userId="4e484cef2ba5051b" providerId="LiveId" clId="{72CE4236-0583-4672-AA7F-EA39505C199A}" dt="2026-04-13T06:25:24.320" v="297" actId="14100"/>
          <ac:spMkLst>
            <pc:docMk/>
            <pc:sldMk cId="0" sldId="269"/>
            <ac:spMk id="3" creationId="{00000000-0000-0000-0000-000000000000}"/>
          </ac:spMkLst>
        </pc:spChg>
        <pc:picChg chg="mod">
          <ac:chgData name="賢 宮本" userId="4e484cef2ba5051b" providerId="LiveId" clId="{72CE4236-0583-4672-AA7F-EA39505C199A}" dt="2026-04-14T05:34:09.874" v="530" actId="1076"/>
          <ac:picMkLst>
            <pc:docMk/>
            <pc:sldMk cId="0" sldId="269"/>
            <ac:picMk id="5" creationId="{00000000-0000-0000-0000-000000000000}"/>
          </ac:picMkLst>
        </pc:picChg>
        <pc:picChg chg="del">
          <ac:chgData name="賢 宮本" userId="4e484cef2ba5051b" providerId="LiveId" clId="{72CE4236-0583-4672-AA7F-EA39505C199A}" dt="2026-04-14T05:34:01.398" v="528" actId="478"/>
          <ac:picMkLst>
            <pc:docMk/>
            <pc:sldMk cId="0" sldId="269"/>
            <ac:picMk id="6" creationId="{00000000-0000-0000-0000-000000000000}"/>
          </ac:picMkLst>
        </pc:picChg>
      </pc:sldChg>
      <pc:sldChg chg="addSp delSp modSp mod">
        <pc:chgData name="賢 宮本" userId="4e484cef2ba5051b" providerId="LiveId" clId="{72CE4236-0583-4672-AA7F-EA39505C199A}" dt="2026-04-14T05:39:20.162" v="651" actId="20577"/>
        <pc:sldMkLst>
          <pc:docMk/>
          <pc:sldMk cId="0" sldId="270"/>
        </pc:sldMkLst>
        <pc:spChg chg="mod">
          <ac:chgData name="賢 宮本" userId="4e484cef2ba5051b" providerId="LiveId" clId="{72CE4236-0583-4672-AA7F-EA39505C199A}" dt="2026-04-14T05:34:50.513" v="550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賢 宮本" userId="4e484cef2ba5051b" providerId="LiveId" clId="{72CE4236-0583-4672-AA7F-EA39505C199A}" dt="2026-04-14T05:39:20.162" v="651" actId="20577"/>
          <ac:spMkLst>
            <pc:docMk/>
            <pc:sldMk cId="0" sldId="270"/>
            <ac:spMk id="8" creationId="{00000000-0000-0000-0000-000000000000}"/>
          </ac:spMkLst>
        </pc:spChg>
        <pc:spChg chg="topLvl">
          <ac:chgData name="賢 宮本" userId="4e484cef2ba5051b" providerId="LiveId" clId="{72CE4236-0583-4672-AA7F-EA39505C199A}" dt="2026-04-14T05:36:41.409" v="590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賢 宮本" userId="4e484cef2ba5051b" providerId="LiveId" clId="{72CE4236-0583-4672-AA7F-EA39505C199A}" dt="2026-04-14T05:36:52.214" v="595" actId="478"/>
          <ac:spMkLst>
            <pc:docMk/>
            <pc:sldMk cId="0" sldId="270"/>
            <ac:spMk id="29" creationId="{00000000-0000-0000-0000-000000000000}"/>
          </ac:spMkLst>
        </pc:spChg>
        <pc:grpChg chg="del">
          <ac:chgData name="賢 宮本" userId="4e484cef2ba5051b" providerId="LiveId" clId="{72CE4236-0583-4672-AA7F-EA39505C199A}" dt="2026-04-14T05:36:49.074" v="594" actId="478"/>
          <ac:grpSpMkLst>
            <pc:docMk/>
            <pc:sldMk cId="0" sldId="270"/>
            <ac:grpSpMk id="9" creationId="{00000000-0000-0000-0000-000000000000}"/>
          </ac:grpSpMkLst>
        </pc:grpChg>
        <pc:grpChg chg="del">
          <ac:chgData name="賢 宮本" userId="4e484cef2ba5051b" providerId="LiveId" clId="{72CE4236-0583-4672-AA7F-EA39505C199A}" dt="2026-04-14T05:36:41.409" v="590" actId="478"/>
          <ac:grpSpMkLst>
            <pc:docMk/>
            <pc:sldMk cId="0" sldId="270"/>
            <ac:grpSpMk id="17" creationId="{00000000-0000-0000-0000-000000000000}"/>
          </ac:grpSpMkLst>
        </pc:grpChg>
        <pc:picChg chg="del">
          <ac:chgData name="賢 宮本" userId="4e484cef2ba5051b" providerId="LiveId" clId="{72CE4236-0583-4672-AA7F-EA39505C199A}" dt="2026-04-14T05:36:45.041" v="591" actId="478"/>
          <ac:picMkLst>
            <pc:docMk/>
            <pc:sldMk cId="0" sldId="270"/>
            <ac:picMk id="2" creationId="{00000000-0000-0000-0000-000000000000}"/>
          </ac:picMkLst>
        </pc:picChg>
        <pc:picChg chg="del">
          <ac:chgData name="賢 宮本" userId="4e484cef2ba5051b" providerId="LiveId" clId="{72CE4236-0583-4672-AA7F-EA39505C199A}" dt="2026-04-14T05:36:46.097" v="592" actId="478"/>
          <ac:picMkLst>
            <pc:docMk/>
            <pc:sldMk cId="0" sldId="270"/>
            <ac:picMk id="3" creationId="{00000000-0000-0000-0000-000000000000}"/>
          </ac:picMkLst>
        </pc:picChg>
        <pc:picChg chg="del">
          <ac:chgData name="賢 宮本" userId="4e484cef2ba5051b" providerId="LiveId" clId="{72CE4236-0583-4672-AA7F-EA39505C199A}" dt="2026-04-14T05:36:47.555" v="593" actId="478"/>
          <ac:picMkLst>
            <pc:docMk/>
            <pc:sldMk cId="0" sldId="270"/>
            <ac:picMk id="4" creationId="{00000000-0000-0000-0000-000000000000}"/>
          </ac:picMkLst>
        </pc:picChg>
        <pc:picChg chg="del topLvl">
          <ac:chgData name="賢 宮本" userId="4e484cef2ba5051b" providerId="LiveId" clId="{72CE4236-0583-4672-AA7F-EA39505C199A}" dt="2026-04-14T05:36:41.409" v="590" actId="478"/>
          <ac:picMkLst>
            <pc:docMk/>
            <pc:sldMk cId="0" sldId="270"/>
            <ac:picMk id="18" creationId="{00000000-0000-0000-0000-000000000000}"/>
          </ac:picMkLst>
        </pc:picChg>
      </pc:sldChg>
      <pc:sldChg chg="modSp mod">
        <pc:chgData name="賢 宮本" userId="4e484cef2ba5051b" providerId="LiveId" clId="{72CE4236-0583-4672-AA7F-EA39505C199A}" dt="2026-04-13T06:26:27.033" v="303" actId="20577"/>
        <pc:sldMkLst>
          <pc:docMk/>
          <pc:sldMk cId="0" sldId="271"/>
        </pc:sldMkLst>
        <pc:spChg chg="mod">
          <ac:chgData name="賢 宮本" userId="4e484cef2ba5051b" providerId="LiveId" clId="{72CE4236-0583-4672-AA7F-EA39505C199A}" dt="2026-04-07T05:23:11.824" v="257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13T06:26:27.033" v="303" actId="20577"/>
          <ac:spMkLst>
            <pc:docMk/>
            <pc:sldMk cId="0" sldId="271"/>
            <ac:spMk id="6" creationId="{00000000-0000-0000-0000-000000000000}"/>
          </ac:spMkLst>
        </pc:spChg>
      </pc:sldChg>
      <pc:sldChg chg="delSp modSp mod">
        <pc:chgData name="賢 宮本" userId="4e484cef2ba5051b" providerId="LiveId" clId="{72CE4236-0583-4672-AA7F-EA39505C199A}" dt="2026-04-14T04:28:50.039" v="511" actId="20577"/>
        <pc:sldMkLst>
          <pc:docMk/>
          <pc:sldMk cId="0" sldId="272"/>
        </pc:sldMkLst>
        <pc:spChg chg="mod">
          <ac:chgData name="賢 宮本" userId="4e484cef2ba5051b" providerId="LiveId" clId="{72CE4236-0583-4672-AA7F-EA39505C199A}" dt="2026-04-14T04:28:50.039" v="511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4-13T07:37:37.981" v="315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賢 宮本" userId="4e484cef2ba5051b" providerId="LiveId" clId="{72CE4236-0583-4672-AA7F-EA39505C199A}" dt="2026-04-13T07:37:50.351" v="317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賢 宮本" userId="4e484cef2ba5051b" providerId="LiveId" clId="{72CE4236-0583-4672-AA7F-EA39505C199A}" dt="2026-04-13T07:38:21.198" v="324" actId="1076"/>
          <ac:spMkLst>
            <pc:docMk/>
            <pc:sldMk cId="0" sldId="272"/>
            <ac:spMk id="6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38:13.364" v="323" actId="478"/>
          <ac:spMkLst>
            <pc:docMk/>
            <pc:sldMk cId="0" sldId="272"/>
            <ac:spMk id="8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38:11.675" v="322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賢 宮本" userId="4e484cef2ba5051b" providerId="LiveId" clId="{72CE4236-0583-4672-AA7F-EA39505C199A}" dt="2026-04-13T07:37:14.141" v="309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賢 宮本" userId="4e484cef2ba5051b" providerId="LiveId" clId="{72CE4236-0583-4672-AA7F-EA39505C199A}" dt="2026-04-13T07:37:15.225" v="310" actId="478"/>
          <ac:spMkLst>
            <pc:docMk/>
            <pc:sldMk cId="0" sldId="272"/>
            <ac:spMk id="11" creationId="{00000000-0000-0000-0000-000000000000}"/>
          </ac:spMkLst>
        </pc:spChg>
        <pc:spChg chg="mod">
          <ac:chgData name="賢 宮本" userId="4e484cef2ba5051b" providerId="LiveId" clId="{72CE4236-0583-4672-AA7F-EA39505C199A}" dt="2026-04-13T07:38:08.832" v="321" actId="1076"/>
          <ac:spMkLst>
            <pc:docMk/>
            <pc:sldMk cId="0" sldId="272"/>
            <ac:spMk id="12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37:43.657" v="316" actId="478"/>
          <ac:spMkLst>
            <pc:docMk/>
            <pc:sldMk cId="0" sldId="272"/>
            <ac:spMk id="13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37:11.016" v="308" actId="478"/>
          <ac:spMkLst>
            <pc:docMk/>
            <pc:sldMk cId="0" sldId="272"/>
            <ac:spMk id="14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38:05.822" v="320" actId="478"/>
          <ac:spMkLst>
            <pc:docMk/>
            <pc:sldMk cId="0" sldId="272"/>
            <ac:spMk id="15" creationId="{00000000-0000-0000-0000-000000000000}"/>
          </ac:spMkLst>
        </pc:spChg>
        <pc:spChg chg="mod">
          <ac:chgData name="賢 宮本" userId="4e484cef2ba5051b" providerId="LiveId" clId="{72CE4236-0583-4672-AA7F-EA39505C199A}" dt="2026-04-13T07:38:04.240" v="319" actId="1076"/>
          <ac:spMkLst>
            <pc:docMk/>
            <pc:sldMk cId="0" sldId="272"/>
            <ac:spMk id="16" creationId="{00000000-0000-0000-0000-000000000000}"/>
          </ac:spMkLst>
        </pc:spChg>
      </pc:sldChg>
      <pc:sldChg chg="addSp delSp modSp mod ord">
        <pc:chgData name="賢 宮本" userId="4e484cef2ba5051b" providerId="LiveId" clId="{72CE4236-0583-4672-AA7F-EA39505C199A}" dt="2026-04-14T04:30:09.683" v="523" actId="20577"/>
        <pc:sldMkLst>
          <pc:docMk/>
          <pc:sldMk cId="0" sldId="275"/>
        </pc:sldMkLst>
        <pc:spChg chg="mod">
          <ac:chgData name="賢 宮本" userId="4e484cef2ba5051b" providerId="LiveId" clId="{72CE4236-0583-4672-AA7F-EA39505C199A}" dt="2026-04-14T04:30:01.767" v="522" actId="14100"/>
          <ac:spMkLst>
            <pc:docMk/>
            <pc:sldMk cId="0" sldId="275"/>
            <ac:spMk id="2" creationId="{00000000-0000-0000-0000-000000000000}"/>
          </ac:spMkLst>
        </pc:spChg>
        <pc:spChg chg="mod">
          <ac:chgData name="賢 宮本" userId="4e484cef2ba5051b" providerId="LiveId" clId="{72CE4236-0583-4672-AA7F-EA39505C199A}" dt="2026-04-13T07:43:35.659" v="330" actId="6549"/>
          <ac:spMkLst>
            <pc:docMk/>
            <pc:sldMk cId="0" sldId="275"/>
            <ac:spMk id="3" creationId="{00000000-0000-0000-0000-000000000000}"/>
          </ac:spMkLst>
        </pc:spChg>
        <pc:spChg chg="del">
          <ac:chgData name="賢 宮本" userId="4e484cef2ba5051b" providerId="LiveId" clId="{72CE4236-0583-4672-AA7F-EA39505C199A}" dt="2026-04-13T07:43:26.203" v="327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賢 宮本" userId="4e484cef2ba5051b" providerId="LiveId" clId="{72CE4236-0583-4672-AA7F-EA39505C199A}" dt="2026-04-13T07:43:30.268" v="329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賢 宮本" userId="4e484cef2ba5051b" providerId="LiveId" clId="{72CE4236-0583-4672-AA7F-EA39505C199A}" dt="2026-04-13T07:43:30.268" v="329" actId="478"/>
          <ac:spMkLst>
            <pc:docMk/>
            <pc:sldMk cId="0" sldId="275"/>
            <ac:spMk id="6" creationId="{00000000-0000-0000-0000-000000000000}"/>
          </ac:spMkLst>
        </pc:spChg>
        <pc:spChg chg="del mod">
          <ac:chgData name="賢 宮本" userId="4e484cef2ba5051b" providerId="LiveId" clId="{72CE4236-0583-4672-AA7F-EA39505C199A}" dt="2026-04-13T07:43:30.268" v="329" actId="478"/>
          <ac:spMkLst>
            <pc:docMk/>
            <pc:sldMk cId="0" sldId="275"/>
            <ac:spMk id="7" creationId="{00000000-0000-0000-0000-000000000000}"/>
          </ac:spMkLst>
        </pc:spChg>
        <pc:spChg chg="add mod">
          <ac:chgData name="賢 宮本" userId="4e484cef2ba5051b" providerId="LiveId" clId="{72CE4236-0583-4672-AA7F-EA39505C199A}" dt="2026-04-14T04:30:09.683" v="523" actId="20577"/>
          <ac:spMkLst>
            <pc:docMk/>
            <pc:sldMk cId="0" sldId="275"/>
            <ac:spMk id="9" creationId="{2F03416C-865A-5F52-51C1-F11C6B96F154}"/>
          </ac:spMkLst>
        </pc:spChg>
      </pc:sldChg>
      <pc:sldChg chg="del">
        <pc:chgData name="賢 宮本" userId="4e484cef2ba5051b" providerId="LiveId" clId="{72CE4236-0583-4672-AA7F-EA39505C199A}" dt="2026-04-14T04:33:07.130" v="524" actId="47"/>
        <pc:sldMkLst>
          <pc:docMk/>
          <pc:sldMk cId="0" sldId="277"/>
        </pc:sldMkLst>
      </pc:sldChg>
      <pc:sldChg chg="new del">
        <pc:chgData name="賢 宮本" userId="4e484cef2ba5051b" providerId="LiveId" clId="{72CE4236-0583-4672-AA7F-EA39505C199A}" dt="2026-04-14T05:33:29.685" v="526" actId="680"/>
        <pc:sldMkLst>
          <pc:docMk/>
          <pc:sldMk cId="444157593" sldId="279"/>
        </pc:sldMkLst>
      </pc:sldChg>
      <pc:sldChg chg="add del">
        <pc:chgData name="賢 宮本" userId="4e484cef2ba5051b" providerId="LiveId" clId="{72CE4236-0583-4672-AA7F-EA39505C199A}" dt="2026-04-14T05:34:16.589" v="531" actId="47"/>
        <pc:sldMkLst>
          <pc:docMk/>
          <pc:sldMk cId="2087129539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604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80032" y="2363089"/>
            <a:ext cx="1849755" cy="376555"/>
          </a:xfrm>
          <a:custGeom>
            <a:avLst/>
            <a:gdLst/>
            <a:ahLst/>
            <a:cxnLst/>
            <a:rect l="l" t="t" r="r" b="b"/>
            <a:pathLst>
              <a:path w="1849754" h="376555">
                <a:moveTo>
                  <a:pt x="253237" y="94995"/>
                </a:moveTo>
                <a:lnTo>
                  <a:pt x="214756" y="124713"/>
                </a:lnTo>
                <a:lnTo>
                  <a:pt x="244689" y="165481"/>
                </a:lnTo>
                <a:lnTo>
                  <a:pt x="271811" y="212534"/>
                </a:lnTo>
                <a:lnTo>
                  <a:pt x="296124" y="265874"/>
                </a:lnTo>
                <a:lnTo>
                  <a:pt x="317626" y="325500"/>
                </a:lnTo>
                <a:lnTo>
                  <a:pt x="367538" y="309879"/>
                </a:lnTo>
                <a:lnTo>
                  <a:pt x="352419" y="265135"/>
                </a:lnTo>
                <a:lnTo>
                  <a:pt x="333430" y="221274"/>
                </a:lnTo>
                <a:lnTo>
                  <a:pt x="310570" y="178297"/>
                </a:lnTo>
                <a:lnTo>
                  <a:pt x="283839" y="136204"/>
                </a:lnTo>
                <a:lnTo>
                  <a:pt x="253237" y="94995"/>
                </a:lnTo>
                <a:close/>
              </a:path>
              <a:path w="1849754" h="376555">
                <a:moveTo>
                  <a:pt x="92963" y="113664"/>
                </a:moveTo>
                <a:lnTo>
                  <a:pt x="78009" y="166239"/>
                </a:lnTo>
                <a:lnTo>
                  <a:pt x="57530" y="215931"/>
                </a:lnTo>
                <a:lnTo>
                  <a:pt x="31527" y="262719"/>
                </a:lnTo>
                <a:lnTo>
                  <a:pt x="0" y="306577"/>
                </a:lnTo>
                <a:lnTo>
                  <a:pt x="41656" y="333248"/>
                </a:lnTo>
                <a:lnTo>
                  <a:pt x="71989" y="290695"/>
                </a:lnTo>
                <a:lnTo>
                  <a:pt x="97631" y="246475"/>
                </a:lnTo>
                <a:lnTo>
                  <a:pt x="118558" y="200588"/>
                </a:lnTo>
                <a:lnTo>
                  <a:pt x="134747" y="153035"/>
                </a:lnTo>
                <a:lnTo>
                  <a:pt x="141009" y="148703"/>
                </a:lnTo>
                <a:lnTo>
                  <a:pt x="143414" y="143906"/>
                </a:lnTo>
                <a:lnTo>
                  <a:pt x="141962" y="138658"/>
                </a:lnTo>
                <a:lnTo>
                  <a:pt x="136651" y="132968"/>
                </a:lnTo>
                <a:lnTo>
                  <a:pt x="92963" y="113664"/>
                </a:lnTo>
                <a:close/>
              </a:path>
              <a:path w="1849754" h="376555">
                <a:moveTo>
                  <a:pt x="682244" y="133857"/>
                </a:moveTo>
                <a:lnTo>
                  <a:pt x="659142" y="177369"/>
                </a:lnTo>
                <a:lnTo>
                  <a:pt x="630658" y="214393"/>
                </a:lnTo>
                <a:lnTo>
                  <a:pt x="596788" y="244928"/>
                </a:lnTo>
                <a:lnTo>
                  <a:pt x="557532" y="268972"/>
                </a:lnTo>
                <a:lnTo>
                  <a:pt x="512885" y="286522"/>
                </a:lnTo>
                <a:lnTo>
                  <a:pt x="462847" y="297576"/>
                </a:lnTo>
                <a:lnTo>
                  <a:pt x="407416" y="302132"/>
                </a:lnTo>
                <a:lnTo>
                  <a:pt x="420044" y="347090"/>
                </a:lnTo>
                <a:lnTo>
                  <a:pt x="420116" y="347344"/>
                </a:lnTo>
                <a:lnTo>
                  <a:pt x="426171" y="354756"/>
                </a:lnTo>
                <a:lnTo>
                  <a:pt x="426285" y="354895"/>
                </a:lnTo>
                <a:lnTo>
                  <a:pt x="432228" y="357362"/>
                </a:lnTo>
                <a:lnTo>
                  <a:pt x="437957" y="354756"/>
                </a:lnTo>
                <a:lnTo>
                  <a:pt x="443484" y="347090"/>
                </a:lnTo>
                <a:lnTo>
                  <a:pt x="496754" y="341017"/>
                </a:lnTo>
                <a:lnTo>
                  <a:pt x="545529" y="328131"/>
                </a:lnTo>
                <a:lnTo>
                  <a:pt x="589811" y="308428"/>
                </a:lnTo>
                <a:lnTo>
                  <a:pt x="629598" y="281908"/>
                </a:lnTo>
                <a:lnTo>
                  <a:pt x="664891" y="248567"/>
                </a:lnTo>
                <a:lnTo>
                  <a:pt x="695690" y="208404"/>
                </a:lnTo>
                <a:lnTo>
                  <a:pt x="721994" y="161416"/>
                </a:lnTo>
                <a:lnTo>
                  <a:pt x="682244" y="133857"/>
                </a:lnTo>
                <a:close/>
              </a:path>
              <a:path w="1849754" h="376555">
                <a:moveTo>
                  <a:pt x="443484" y="60705"/>
                </a:moveTo>
                <a:lnTo>
                  <a:pt x="413638" y="99567"/>
                </a:lnTo>
                <a:lnTo>
                  <a:pt x="433617" y="114047"/>
                </a:lnTo>
                <a:lnTo>
                  <a:pt x="454310" y="130063"/>
                </a:lnTo>
                <a:lnTo>
                  <a:pt x="475718" y="147627"/>
                </a:lnTo>
                <a:lnTo>
                  <a:pt x="497840" y="166750"/>
                </a:lnTo>
                <a:lnTo>
                  <a:pt x="532130" y="132968"/>
                </a:lnTo>
                <a:lnTo>
                  <a:pt x="507384" y="109944"/>
                </a:lnTo>
                <a:lnTo>
                  <a:pt x="484378" y="90217"/>
                </a:lnTo>
                <a:lnTo>
                  <a:pt x="463085" y="73800"/>
                </a:lnTo>
                <a:lnTo>
                  <a:pt x="443484" y="60705"/>
                </a:lnTo>
                <a:close/>
              </a:path>
              <a:path w="1849754" h="376555">
                <a:moveTo>
                  <a:pt x="1021664" y="110743"/>
                </a:moveTo>
                <a:lnTo>
                  <a:pt x="970534" y="110743"/>
                </a:lnTo>
                <a:lnTo>
                  <a:pt x="951844" y="144631"/>
                </a:lnTo>
                <a:lnTo>
                  <a:pt x="926512" y="178980"/>
                </a:lnTo>
                <a:lnTo>
                  <a:pt x="894540" y="213788"/>
                </a:lnTo>
                <a:lnTo>
                  <a:pt x="855932" y="249051"/>
                </a:lnTo>
                <a:lnTo>
                  <a:pt x="810693" y="284766"/>
                </a:lnTo>
                <a:lnTo>
                  <a:pt x="758825" y="320928"/>
                </a:lnTo>
                <a:lnTo>
                  <a:pt x="792734" y="351916"/>
                </a:lnTo>
                <a:lnTo>
                  <a:pt x="831953" y="325036"/>
                </a:lnTo>
                <a:lnTo>
                  <a:pt x="868267" y="296608"/>
                </a:lnTo>
                <a:lnTo>
                  <a:pt x="901676" y="266656"/>
                </a:lnTo>
                <a:lnTo>
                  <a:pt x="932180" y="235203"/>
                </a:lnTo>
                <a:lnTo>
                  <a:pt x="1004017" y="235203"/>
                </a:lnTo>
                <a:lnTo>
                  <a:pt x="994390" y="226885"/>
                </a:lnTo>
                <a:lnTo>
                  <a:pt x="961390" y="200787"/>
                </a:lnTo>
                <a:lnTo>
                  <a:pt x="977088" y="179905"/>
                </a:lnTo>
                <a:lnTo>
                  <a:pt x="992393" y="157845"/>
                </a:lnTo>
                <a:lnTo>
                  <a:pt x="1007342" y="134618"/>
                </a:lnTo>
                <a:lnTo>
                  <a:pt x="1021664" y="110743"/>
                </a:lnTo>
                <a:close/>
              </a:path>
              <a:path w="1849754" h="376555">
                <a:moveTo>
                  <a:pt x="1004017" y="235203"/>
                </a:moveTo>
                <a:lnTo>
                  <a:pt x="932180" y="235203"/>
                </a:lnTo>
                <a:lnTo>
                  <a:pt x="961372" y="259470"/>
                </a:lnTo>
                <a:lnTo>
                  <a:pt x="991981" y="286750"/>
                </a:lnTo>
                <a:lnTo>
                  <a:pt x="1023995" y="317053"/>
                </a:lnTo>
                <a:lnTo>
                  <a:pt x="1057402" y="350392"/>
                </a:lnTo>
                <a:lnTo>
                  <a:pt x="1093724" y="320039"/>
                </a:lnTo>
                <a:lnTo>
                  <a:pt x="1060580" y="286512"/>
                </a:lnTo>
                <a:lnTo>
                  <a:pt x="1027461" y="255460"/>
                </a:lnTo>
                <a:lnTo>
                  <a:pt x="1004017" y="235203"/>
                </a:lnTo>
                <a:close/>
              </a:path>
              <a:path w="1849754" h="376555">
                <a:moveTo>
                  <a:pt x="1002030" y="62229"/>
                </a:moveTo>
                <a:lnTo>
                  <a:pt x="980313" y="68579"/>
                </a:lnTo>
                <a:lnTo>
                  <a:pt x="796290" y="76580"/>
                </a:lnTo>
                <a:lnTo>
                  <a:pt x="801497" y="121538"/>
                </a:lnTo>
                <a:lnTo>
                  <a:pt x="970534" y="110743"/>
                </a:lnTo>
                <a:lnTo>
                  <a:pt x="1021664" y="110743"/>
                </a:lnTo>
                <a:lnTo>
                  <a:pt x="1021969" y="110236"/>
                </a:lnTo>
                <a:lnTo>
                  <a:pt x="1029446" y="107378"/>
                </a:lnTo>
                <a:lnTo>
                  <a:pt x="1033018" y="102996"/>
                </a:lnTo>
                <a:lnTo>
                  <a:pt x="1032684" y="97091"/>
                </a:lnTo>
                <a:lnTo>
                  <a:pt x="1028445" y="89662"/>
                </a:lnTo>
                <a:lnTo>
                  <a:pt x="1002030" y="62229"/>
                </a:lnTo>
                <a:close/>
              </a:path>
              <a:path w="1849754" h="376555">
                <a:moveTo>
                  <a:pt x="1026922" y="23367"/>
                </a:moveTo>
                <a:lnTo>
                  <a:pt x="998601" y="47243"/>
                </a:lnTo>
                <a:lnTo>
                  <a:pt x="1015698" y="63789"/>
                </a:lnTo>
                <a:lnTo>
                  <a:pt x="1031176" y="79120"/>
                </a:lnTo>
                <a:lnTo>
                  <a:pt x="1045035" y="93214"/>
                </a:lnTo>
                <a:lnTo>
                  <a:pt x="1057275" y="106044"/>
                </a:lnTo>
                <a:lnTo>
                  <a:pt x="1085977" y="81914"/>
                </a:lnTo>
                <a:lnTo>
                  <a:pt x="1071999" y="66766"/>
                </a:lnTo>
                <a:lnTo>
                  <a:pt x="1057497" y="51974"/>
                </a:lnTo>
                <a:lnTo>
                  <a:pt x="1042471" y="37516"/>
                </a:lnTo>
                <a:lnTo>
                  <a:pt x="1026922" y="23367"/>
                </a:lnTo>
                <a:close/>
              </a:path>
              <a:path w="1849754" h="376555">
                <a:moveTo>
                  <a:pt x="1068324" y="0"/>
                </a:moveTo>
                <a:lnTo>
                  <a:pt x="1043686" y="24256"/>
                </a:lnTo>
                <a:lnTo>
                  <a:pt x="1057191" y="36397"/>
                </a:lnTo>
                <a:lnTo>
                  <a:pt x="1071245" y="49942"/>
                </a:lnTo>
                <a:lnTo>
                  <a:pt x="1085869" y="64869"/>
                </a:lnTo>
                <a:lnTo>
                  <a:pt x="1101090" y="81152"/>
                </a:lnTo>
                <a:lnTo>
                  <a:pt x="1126363" y="56895"/>
                </a:lnTo>
                <a:lnTo>
                  <a:pt x="1113026" y="41273"/>
                </a:lnTo>
                <a:lnTo>
                  <a:pt x="1098915" y="26590"/>
                </a:lnTo>
                <a:lnTo>
                  <a:pt x="1084018" y="12836"/>
                </a:lnTo>
                <a:lnTo>
                  <a:pt x="1068324" y="0"/>
                </a:lnTo>
                <a:close/>
              </a:path>
              <a:path w="1849754" h="376555">
                <a:moveTo>
                  <a:pt x="1364488" y="188467"/>
                </a:moveTo>
                <a:lnTo>
                  <a:pt x="1316863" y="188467"/>
                </a:lnTo>
                <a:lnTo>
                  <a:pt x="1316863" y="324357"/>
                </a:lnTo>
                <a:lnTo>
                  <a:pt x="1312799" y="330073"/>
                </a:lnTo>
                <a:lnTo>
                  <a:pt x="1304798" y="331596"/>
                </a:lnTo>
                <a:lnTo>
                  <a:pt x="1269365" y="331596"/>
                </a:lnTo>
                <a:lnTo>
                  <a:pt x="1276223" y="376046"/>
                </a:lnTo>
                <a:lnTo>
                  <a:pt x="1323848" y="376046"/>
                </a:lnTo>
                <a:lnTo>
                  <a:pt x="1341610" y="373262"/>
                </a:lnTo>
                <a:lnTo>
                  <a:pt x="1354312" y="364918"/>
                </a:lnTo>
                <a:lnTo>
                  <a:pt x="1361942" y="351026"/>
                </a:lnTo>
                <a:lnTo>
                  <a:pt x="1364488" y="331596"/>
                </a:lnTo>
                <a:lnTo>
                  <a:pt x="1364488" y="188467"/>
                </a:lnTo>
                <a:close/>
              </a:path>
              <a:path w="1849754" h="376555">
                <a:moveTo>
                  <a:pt x="1364488" y="156463"/>
                </a:moveTo>
                <a:lnTo>
                  <a:pt x="1300480" y="156463"/>
                </a:lnTo>
                <a:lnTo>
                  <a:pt x="1270043" y="195869"/>
                </a:lnTo>
                <a:lnTo>
                  <a:pt x="1233963" y="233298"/>
                </a:lnTo>
                <a:lnTo>
                  <a:pt x="1192216" y="268728"/>
                </a:lnTo>
                <a:lnTo>
                  <a:pt x="1144778" y="302132"/>
                </a:lnTo>
                <a:lnTo>
                  <a:pt x="1180338" y="334771"/>
                </a:lnTo>
                <a:lnTo>
                  <a:pt x="1221297" y="302982"/>
                </a:lnTo>
                <a:lnTo>
                  <a:pt x="1257696" y="268001"/>
                </a:lnTo>
                <a:lnTo>
                  <a:pt x="1289548" y="229830"/>
                </a:lnTo>
                <a:lnTo>
                  <a:pt x="1316863" y="188467"/>
                </a:lnTo>
                <a:lnTo>
                  <a:pt x="1364488" y="188467"/>
                </a:lnTo>
                <a:lnTo>
                  <a:pt x="1364488" y="156463"/>
                </a:lnTo>
                <a:close/>
              </a:path>
              <a:path w="1849754" h="376555">
                <a:moveTo>
                  <a:pt x="1495170" y="112140"/>
                </a:moveTo>
                <a:lnTo>
                  <a:pt x="1154176" y="112140"/>
                </a:lnTo>
                <a:lnTo>
                  <a:pt x="1154176" y="156463"/>
                </a:lnTo>
                <a:lnTo>
                  <a:pt x="1495170" y="156463"/>
                </a:lnTo>
                <a:lnTo>
                  <a:pt x="1495170" y="112140"/>
                </a:lnTo>
                <a:close/>
              </a:path>
              <a:path w="1849754" h="376555">
                <a:moveTo>
                  <a:pt x="1357122" y="26542"/>
                </a:moveTo>
                <a:lnTo>
                  <a:pt x="1316863" y="26542"/>
                </a:lnTo>
                <a:lnTo>
                  <a:pt x="1316863" y="112140"/>
                </a:lnTo>
                <a:lnTo>
                  <a:pt x="1364488" y="112140"/>
                </a:lnTo>
                <a:lnTo>
                  <a:pt x="1364488" y="44323"/>
                </a:lnTo>
                <a:lnTo>
                  <a:pt x="1368105" y="38365"/>
                </a:lnTo>
                <a:lnTo>
                  <a:pt x="1368091" y="33432"/>
                </a:lnTo>
                <a:lnTo>
                  <a:pt x="1364434" y="29499"/>
                </a:lnTo>
                <a:lnTo>
                  <a:pt x="1357122" y="26542"/>
                </a:lnTo>
                <a:close/>
              </a:path>
              <a:path w="1849754" h="376555">
                <a:moveTo>
                  <a:pt x="1810004" y="133857"/>
                </a:moveTo>
                <a:lnTo>
                  <a:pt x="1786902" y="177369"/>
                </a:lnTo>
                <a:lnTo>
                  <a:pt x="1758418" y="214393"/>
                </a:lnTo>
                <a:lnTo>
                  <a:pt x="1724548" y="244928"/>
                </a:lnTo>
                <a:lnTo>
                  <a:pt x="1685292" y="268972"/>
                </a:lnTo>
                <a:lnTo>
                  <a:pt x="1640645" y="286522"/>
                </a:lnTo>
                <a:lnTo>
                  <a:pt x="1590607" y="297576"/>
                </a:lnTo>
                <a:lnTo>
                  <a:pt x="1535176" y="302132"/>
                </a:lnTo>
                <a:lnTo>
                  <a:pt x="1547804" y="347090"/>
                </a:lnTo>
                <a:lnTo>
                  <a:pt x="1547876" y="347344"/>
                </a:lnTo>
                <a:lnTo>
                  <a:pt x="1553931" y="354756"/>
                </a:lnTo>
                <a:lnTo>
                  <a:pt x="1554045" y="354895"/>
                </a:lnTo>
                <a:lnTo>
                  <a:pt x="1559988" y="357362"/>
                </a:lnTo>
                <a:lnTo>
                  <a:pt x="1565717" y="354756"/>
                </a:lnTo>
                <a:lnTo>
                  <a:pt x="1571244" y="347090"/>
                </a:lnTo>
                <a:lnTo>
                  <a:pt x="1624514" y="341017"/>
                </a:lnTo>
                <a:lnTo>
                  <a:pt x="1673289" y="328131"/>
                </a:lnTo>
                <a:lnTo>
                  <a:pt x="1717571" y="308428"/>
                </a:lnTo>
                <a:lnTo>
                  <a:pt x="1757358" y="281908"/>
                </a:lnTo>
                <a:lnTo>
                  <a:pt x="1792651" y="248567"/>
                </a:lnTo>
                <a:lnTo>
                  <a:pt x="1823450" y="208404"/>
                </a:lnTo>
                <a:lnTo>
                  <a:pt x="1849755" y="161416"/>
                </a:lnTo>
                <a:lnTo>
                  <a:pt x="1810004" y="133857"/>
                </a:lnTo>
                <a:close/>
              </a:path>
              <a:path w="1849754" h="376555">
                <a:moveTo>
                  <a:pt x="1571244" y="60705"/>
                </a:moveTo>
                <a:lnTo>
                  <a:pt x="1541398" y="99567"/>
                </a:lnTo>
                <a:lnTo>
                  <a:pt x="1561377" y="114047"/>
                </a:lnTo>
                <a:lnTo>
                  <a:pt x="1582070" y="130063"/>
                </a:lnTo>
                <a:lnTo>
                  <a:pt x="1603478" y="147627"/>
                </a:lnTo>
                <a:lnTo>
                  <a:pt x="1625600" y="166750"/>
                </a:lnTo>
                <a:lnTo>
                  <a:pt x="1659890" y="132968"/>
                </a:lnTo>
                <a:lnTo>
                  <a:pt x="1635144" y="109944"/>
                </a:lnTo>
                <a:lnTo>
                  <a:pt x="1612138" y="90217"/>
                </a:lnTo>
                <a:lnTo>
                  <a:pt x="1590845" y="73800"/>
                </a:lnTo>
                <a:lnTo>
                  <a:pt x="1571244" y="60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0192" y="2917698"/>
            <a:ext cx="2147443" cy="3332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6545" y="2867914"/>
            <a:ext cx="2466975" cy="367665"/>
          </a:xfrm>
          <a:custGeom>
            <a:avLst/>
            <a:gdLst/>
            <a:ahLst/>
            <a:cxnLst/>
            <a:rect l="l" t="t" r="r" b="b"/>
            <a:pathLst>
              <a:path w="2466975" h="367664">
                <a:moveTo>
                  <a:pt x="214122" y="137033"/>
                </a:moveTo>
                <a:lnTo>
                  <a:pt x="212661" y="118173"/>
                </a:lnTo>
                <a:lnTo>
                  <a:pt x="208305" y="101409"/>
                </a:lnTo>
                <a:lnTo>
                  <a:pt x="203174" y="91059"/>
                </a:lnTo>
                <a:lnTo>
                  <a:pt x="201041" y="86741"/>
                </a:lnTo>
                <a:lnTo>
                  <a:pt x="190881" y="74168"/>
                </a:lnTo>
                <a:lnTo>
                  <a:pt x="178663" y="64173"/>
                </a:lnTo>
                <a:lnTo>
                  <a:pt x="167259" y="58343"/>
                </a:lnTo>
                <a:lnTo>
                  <a:pt x="167259" y="137033"/>
                </a:lnTo>
                <a:lnTo>
                  <a:pt x="166458" y="147662"/>
                </a:lnTo>
                <a:lnTo>
                  <a:pt x="141122" y="180797"/>
                </a:lnTo>
                <a:lnTo>
                  <a:pt x="123698" y="183642"/>
                </a:lnTo>
                <a:lnTo>
                  <a:pt x="47625" y="183642"/>
                </a:lnTo>
                <a:lnTo>
                  <a:pt x="47625" y="91059"/>
                </a:lnTo>
                <a:lnTo>
                  <a:pt x="123698" y="91059"/>
                </a:lnTo>
                <a:lnTo>
                  <a:pt x="160870" y="107797"/>
                </a:lnTo>
                <a:lnTo>
                  <a:pt x="167259" y="137033"/>
                </a:lnTo>
                <a:lnTo>
                  <a:pt x="167259" y="58343"/>
                </a:lnTo>
                <a:lnTo>
                  <a:pt x="164693" y="57023"/>
                </a:lnTo>
                <a:lnTo>
                  <a:pt x="148996" y="52743"/>
                </a:lnTo>
                <a:lnTo>
                  <a:pt x="131572" y="51308"/>
                </a:lnTo>
                <a:lnTo>
                  <a:pt x="0" y="51308"/>
                </a:lnTo>
                <a:lnTo>
                  <a:pt x="0" y="325501"/>
                </a:lnTo>
                <a:lnTo>
                  <a:pt x="47625" y="325501"/>
                </a:lnTo>
                <a:lnTo>
                  <a:pt x="47625" y="223393"/>
                </a:lnTo>
                <a:lnTo>
                  <a:pt x="131572" y="223393"/>
                </a:lnTo>
                <a:lnTo>
                  <a:pt x="180263" y="210324"/>
                </a:lnTo>
                <a:lnTo>
                  <a:pt x="203657" y="183642"/>
                </a:lnTo>
                <a:lnTo>
                  <a:pt x="208572" y="173316"/>
                </a:lnTo>
                <a:lnTo>
                  <a:pt x="212737" y="156349"/>
                </a:lnTo>
                <a:lnTo>
                  <a:pt x="214122" y="137033"/>
                </a:lnTo>
                <a:close/>
              </a:path>
              <a:path w="2466975" h="367664">
                <a:moveTo>
                  <a:pt x="295910" y="143256"/>
                </a:moveTo>
                <a:lnTo>
                  <a:pt x="253111" y="143256"/>
                </a:lnTo>
                <a:lnTo>
                  <a:pt x="253111" y="325501"/>
                </a:lnTo>
                <a:lnTo>
                  <a:pt x="295910" y="325501"/>
                </a:lnTo>
                <a:lnTo>
                  <a:pt x="295910" y="143256"/>
                </a:lnTo>
                <a:close/>
              </a:path>
              <a:path w="2466975" h="367664">
                <a:moveTo>
                  <a:pt x="295910" y="52959"/>
                </a:moveTo>
                <a:lnTo>
                  <a:pt x="253111" y="52959"/>
                </a:lnTo>
                <a:lnTo>
                  <a:pt x="253111" y="101346"/>
                </a:lnTo>
                <a:lnTo>
                  <a:pt x="295910" y="101346"/>
                </a:lnTo>
                <a:lnTo>
                  <a:pt x="295910" y="52959"/>
                </a:lnTo>
                <a:close/>
              </a:path>
              <a:path w="2466975" h="367664">
                <a:moveTo>
                  <a:pt x="509397" y="249047"/>
                </a:moveTo>
                <a:lnTo>
                  <a:pt x="465582" y="249047"/>
                </a:lnTo>
                <a:lnTo>
                  <a:pt x="464883" y="259575"/>
                </a:lnTo>
                <a:lnTo>
                  <a:pt x="462800" y="268693"/>
                </a:lnTo>
                <a:lnTo>
                  <a:pt x="432803" y="293420"/>
                </a:lnTo>
                <a:lnTo>
                  <a:pt x="423672" y="294132"/>
                </a:lnTo>
                <a:lnTo>
                  <a:pt x="415785" y="293420"/>
                </a:lnTo>
                <a:lnTo>
                  <a:pt x="384073" y="263321"/>
                </a:lnTo>
                <a:lnTo>
                  <a:pt x="380111" y="236601"/>
                </a:lnTo>
                <a:lnTo>
                  <a:pt x="381190" y="222110"/>
                </a:lnTo>
                <a:lnTo>
                  <a:pt x="403326" y="183870"/>
                </a:lnTo>
                <a:lnTo>
                  <a:pt x="425196" y="177546"/>
                </a:lnTo>
                <a:lnTo>
                  <a:pt x="432955" y="178054"/>
                </a:lnTo>
                <a:lnTo>
                  <a:pt x="461391" y="210312"/>
                </a:lnTo>
                <a:lnTo>
                  <a:pt x="504698" y="210312"/>
                </a:lnTo>
                <a:lnTo>
                  <a:pt x="502285" y="196646"/>
                </a:lnTo>
                <a:lnTo>
                  <a:pt x="502221" y="196342"/>
                </a:lnTo>
                <a:lnTo>
                  <a:pt x="502119" y="195745"/>
                </a:lnTo>
                <a:lnTo>
                  <a:pt x="482981" y="161290"/>
                </a:lnTo>
                <a:lnTo>
                  <a:pt x="442290" y="142849"/>
                </a:lnTo>
                <a:lnTo>
                  <a:pt x="423672" y="141605"/>
                </a:lnTo>
                <a:lnTo>
                  <a:pt x="406069" y="143129"/>
                </a:lnTo>
                <a:lnTo>
                  <a:pt x="362585" y="165989"/>
                </a:lnTo>
                <a:lnTo>
                  <a:pt x="338061" y="214680"/>
                </a:lnTo>
                <a:lnTo>
                  <a:pt x="336423" y="235077"/>
                </a:lnTo>
                <a:lnTo>
                  <a:pt x="338251" y="255562"/>
                </a:lnTo>
                <a:lnTo>
                  <a:pt x="352806" y="291274"/>
                </a:lnTo>
                <a:lnTo>
                  <a:pt x="391756" y="324396"/>
                </a:lnTo>
                <a:lnTo>
                  <a:pt x="407314" y="328853"/>
                </a:lnTo>
                <a:lnTo>
                  <a:pt x="408089" y="328853"/>
                </a:lnTo>
                <a:lnTo>
                  <a:pt x="423672" y="330200"/>
                </a:lnTo>
                <a:lnTo>
                  <a:pt x="474167" y="318046"/>
                </a:lnTo>
                <a:lnTo>
                  <a:pt x="497039" y="294132"/>
                </a:lnTo>
                <a:lnTo>
                  <a:pt x="502729" y="282981"/>
                </a:lnTo>
                <a:lnTo>
                  <a:pt x="507301" y="267055"/>
                </a:lnTo>
                <a:lnTo>
                  <a:pt x="509397" y="249047"/>
                </a:lnTo>
                <a:close/>
              </a:path>
              <a:path w="2466975" h="367664">
                <a:moveTo>
                  <a:pt x="718185" y="233553"/>
                </a:moveTo>
                <a:lnTo>
                  <a:pt x="716445" y="213741"/>
                </a:lnTo>
                <a:lnTo>
                  <a:pt x="711225" y="195618"/>
                </a:lnTo>
                <a:lnTo>
                  <a:pt x="702538" y="179158"/>
                </a:lnTo>
                <a:lnTo>
                  <a:pt x="699960" y="176022"/>
                </a:lnTo>
                <a:lnTo>
                  <a:pt x="690372" y="164338"/>
                </a:lnTo>
                <a:lnTo>
                  <a:pt x="677418" y="153746"/>
                </a:lnTo>
                <a:lnTo>
                  <a:pt x="674497" y="152222"/>
                </a:lnTo>
                <a:lnTo>
                  <a:pt x="674497" y="233553"/>
                </a:lnTo>
                <a:lnTo>
                  <a:pt x="673493" y="247802"/>
                </a:lnTo>
                <a:lnTo>
                  <a:pt x="651929" y="285280"/>
                </a:lnTo>
                <a:lnTo>
                  <a:pt x="629412" y="292608"/>
                </a:lnTo>
                <a:lnTo>
                  <a:pt x="621423" y="291807"/>
                </a:lnTo>
                <a:lnTo>
                  <a:pt x="588238" y="260210"/>
                </a:lnTo>
                <a:lnTo>
                  <a:pt x="584327" y="233553"/>
                </a:lnTo>
                <a:lnTo>
                  <a:pt x="585393" y="219798"/>
                </a:lnTo>
                <a:lnTo>
                  <a:pt x="607479" y="182295"/>
                </a:lnTo>
                <a:lnTo>
                  <a:pt x="629412" y="176022"/>
                </a:lnTo>
                <a:lnTo>
                  <a:pt x="637362" y="176720"/>
                </a:lnTo>
                <a:lnTo>
                  <a:pt x="670128" y="207479"/>
                </a:lnTo>
                <a:lnTo>
                  <a:pt x="674497" y="233553"/>
                </a:lnTo>
                <a:lnTo>
                  <a:pt x="674497" y="152222"/>
                </a:lnTo>
                <a:lnTo>
                  <a:pt x="662940" y="146164"/>
                </a:lnTo>
                <a:lnTo>
                  <a:pt x="646938" y="141605"/>
                </a:lnTo>
                <a:lnTo>
                  <a:pt x="629412" y="140081"/>
                </a:lnTo>
                <a:lnTo>
                  <a:pt x="611809" y="141605"/>
                </a:lnTo>
                <a:lnTo>
                  <a:pt x="568325" y="164338"/>
                </a:lnTo>
                <a:lnTo>
                  <a:pt x="542239" y="213741"/>
                </a:lnTo>
                <a:lnTo>
                  <a:pt x="540512" y="233553"/>
                </a:lnTo>
                <a:lnTo>
                  <a:pt x="542239" y="253898"/>
                </a:lnTo>
                <a:lnTo>
                  <a:pt x="568325" y="303911"/>
                </a:lnTo>
                <a:lnTo>
                  <a:pt x="611949" y="327012"/>
                </a:lnTo>
                <a:lnTo>
                  <a:pt x="629412" y="328549"/>
                </a:lnTo>
                <a:lnTo>
                  <a:pt x="646785" y="327012"/>
                </a:lnTo>
                <a:lnTo>
                  <a:pt x="662736" y="322376"/>
                </a:lnTo>
                <a:lnTo>
                  <a:pt x="677265" y="314680"/>
                </a:lnTo>
                <a:lnTo>
                  <a:pt x="690372" y="303911"/>
                </a:lnTo>
                <a:lnTo>
                  <a:pt x="699643" y="292608"/>
                </a:lnTo>
                <a:lnTo>
                  <a:pt x="702538" y="289090"/>
                </a:lnTo>
                <a:lnTo>
                  <a:pt x="711225" y="272402"/>
                </a:lnTo>
                <a:lnTo>
                  <a:pt x="716445" y="253898"/>
                </a:lnTo>
                <a:lnTo>
                  <a:pt x="718185" y="233553"/>
                </a:lnTo>
                <a:close/>
              </a:path>
              <a:path w="2466975" h="367664">
                <a:moveTo>
                  <a:pt x="1031367" y="51308"/>
                </a:moveTo>
                <a:lnTo>
                  <a:pt x="988187" y="51308"/>
                </a:lnTo>
                <a:lnTo>
                  <a:pt x="949833" y="247523"/>
                </a:lnTo>
                <a:lnTo>
                  <a:pt x="917435" y="112268"/>
                </a:lnTo>
                <a:lnTo>
                  <a:pt x="902843" y="51308"/>
                </a:lnTo>
                <a:lnTo>
                  <a:pt x="860679" y="51308"/>
                </a:lnTo>
                <a:lnTo>
                  <a:pt x="813816" y="247523"/>
                </a:lnTo>
                <a:lnTo>
                  <a:pt x="775335" y="51308"/>
                </a:lnTo>
                <a:lnTo>
                  <a:pt x="732282" y="51308"/>
                </a:lnTo>
                <a:lnTo>
                  <a:pt x="792353" y="328549"/>
                </a:lnTo>
                <a:lnTo>
                  <a:pt x="831088" y="328549"/>
                </a:lnTo>
                <a:lnTo>
                  <a:pt x="850061" y="247523"/>
                </a:lnTo>
                <a:lnTo>
                  <a:pt x="881761" y="112268"/>
                </a:lnTo>
                <a:lnTo>
                  <a:pt x="932561" y="328549"/>
                </a:lnTo>
                <a:lnTo>
                  <a:pt x="971296" y="328549"/>
                </a:lnTo>
                <a:lnTo>
                  <a:pt x="988847" y="247523"/>
                </a:lnTo>
                <a:lnTo>
                  <a:pt x="1031367" y="51308"/>
                </a:lnTo>
                <a:close/>
              </a:path>
              <a:path w="2466975" h="367664">
                <a:moveTo>
                  <a:pt x="1362583" y="190754"/>
                </a:moveTo>
                <a:lnTo>
                  <a:pt x="1359852" y="180467"/>
                </a:lnTo>
                <a:lnTo>
                  <a:pt x="1350391" y="144780"/>
                </a:lnTo>
                <a:lnTo>
                  <a:pt x="1319301" y="154825"/>
                </a:lnTo>
                <a:lnTo>
                  <a:pt x="1291882" y="163957"/>
                </a:lnTo>
                <a:lnTo>
                  <a:pt x="1267180" y="172542"/>
                </a:lnTo>
                <a:lnTo>
                  <a:pt x="1245489" y="180467"/>
                </a:lnTo>
                <a:lnTo>
                  <a:pt x="1244333" y="171323"/>
                </a:lnTo>
                <a:lnTo>
                  <a:pt x="1220558" y="140081"/>
                </a:lnTo>
                <a:lnTo>
                  <a:pt x="1197483" y="135382"/>
                </a:lnTo>
                <a:lnTo>
                  <a:pt x="1188758" y="135699"/>
                </a:lnTo>
                <a:lnTo>
                  <a:pt x="1180693" y="136588"/>
                </a:lnTo>
                <a:lnTo>
                  <a:pt x="1173276" y="138061"/>
                </a:lnTo>
                <a:lnTo>
                  <a:pt x="1166495" y="140081"/>
                </a:lnTo>
                <a:lnTo>
                  <a:pt x="1173899" y="133273"/>
                </a:lnTo>
                <a:lnTo>
                  <a:pt x="1181252" y="124256"/>
                </a:lnTo>
                <a:lnTo>
                  <a:pt x="1188567" y="113030"/>
                </a:lnTo>
                <a:lnTo>
                  <a:pt x="1194866" y="101346"/>
                </a:lnTo>
                <a:lnTo>
                  <a:pt x="1195832" y="99568"/>
                </a:lnTo>
                <a:lnTo>
                  <a:pt x="1319022" y="90043"/>
                </a:lnTo>
                <a:lnTo>
                  <a:pt x="1315364" y="60706"/>
                </a:lnTo>
                <a:lnTo>
                  <a:pt x="1313815" y="48260"/>
                </a:lnTo>
                <a:lnTo>
                  <a:pt x="1285849" y="52552"/>
                </a:lnTo>
                <a:lnTo>
                  <a:pt x="1258735" y="56057"/>
                </a:lnTo>
                <a:lnTo>
                  <a:pt x="1232458" y="58788"/>
                </a:lnTo>
                <a:lnTo>
                  <a:pt x="1207008" y="60706"/>
                </a:lnTo>
                <a:lnTo>
                  <a:pt x="1210665" y="53276"/>
                </a:lnTo>
                <a:lnTo>
                  <a:pt x="1214069" y="45453"/>
                </a:lnTo>
                <a:lnTo>
                  <a:pt x="1217193" y="37223"/>
                </a:lnTo>
                <a:lnTo>
                  <a:pt x="1220089" y="28575"/>
                </a:lnTo>
                <a:lnTo>
                  <a:pt x="1226121" y="23977"/>
                </a:lnTo>
                <a:lnTo>
                  <a:pt x="1227861" y="19329"/>
                </a:lnTo>
                <a:lnTo>
                  <a:pt x="1225257" y="14592"/>
                </a:lnTo>
                <a:lnTo>
                  <a:pt x="1218311" y="9779"/>
                </a:lnTo>
                <a:lnTo>
                  <a:pt x="1182878" y="0"/>
                </a:lnTo>
                <a:lnTo>
                  <a:pt x="1177277" y="21882"/>
                </a:lnTo>
                <a:lnTo>
                  <a:pt x="1172298" y="39865"/>
                </a:lnTo>
                <a:lnTo>
                  <a:pt x="1140104" y="65443"/>
                </a:lnTo>
                <a:lnTo>
                  <a:pt x="1057275" y="68707"/>
                </a:lnTo>
                <a:lnTo>
                  <a:pt x="1064387" y="107569"/>
                </a:lnTo>
                <a:lnTo>
                  <a:pt x="1150747" y="101346"/>
                </a:lnTo>
                <a:lnTo>
                  <a:pt x="1134808" y="125285"/>
                </a:lnTo>
                <a:lnTo>
                  <a:pt x="1112901" y="149072"/>
                </a:lnTo>
                <a:lnTo>
                  <a:pt x="1084986" y="172720"/>
                </a:lnTo>
                <a:lnTo>
                  <a:pt x="1051052" y="196215"/>
                </a:lnTo>
                <a:lnTo>
                  <a:pt x="1082040" y="227457"/>
                </a:lnTo>
                <a:lnTo>
                  <a:pt x="1112710" y="202882"/>
                </a:lnTo>
                <a:lnTo>
                  <a:pt x="1138809" y="185343"/>
                </a:lnTo>
                <a:lnTo>
                  <a:pt x="1160335" y="174828"/>
                </a:lnTo>
                <a:lnTo>
                  <a:pt x="1177290" y="171323"/>
                </a:lnTo>
                <a:lnTo>
                  <a:pt x="1189355" y="171323"/>
                </a:lnTo>
                <a:lnTo>
                  <a:pt x="1197102" y="172974"/>
                </a:lnTo>
                <a:lnTo>
                  <a:pt x="1200277" y="176276"/>
                </a:lnTo>
                <a:lnTo>
                  <a:pt x="1203706" y="179578"/>
                </a:lnTo>
                <a:lnTo>
                  <a:pt x="1205865" y="186182"/>
                </a:lnTo>
                <a:lnTo>
                  <a:pt x="1206754" y="196215"/>
                </a:lnTo>
                <a:lnTo>
                  <a:pt x="1206461" y="196215"/>
                </a:lnTo>
                <a:lnTo>
                  <a:pt x="1178864" y="208635"/>
                </a:lnTo>
                <a:lnTo>
                  <a:pt x="1133576" y="236397"/>
                </a:lnTo>
                <a:lnTo>
                  <a:pt x="1100086" y="274180"/>
                </a:lnTo>
                <a:lnTo>
                  <a:pt x="1094740" y="298958"/>
                </a:lnTo>
                <a:lnTo>
                  <a:pt x="1095717" y="310134"/>
                </a:lnTo>
                <a:lnTo>
                  <a:pt x="1095806" y="311150"/>
                </a:lnTo>
                <a:lnTo>
                  <a:pt x="1124559" y="351929"/>
                </a:lnTo>
                <a:lnTo>
                  <a:pt x="1161034" y="363550"/>
                </a:lnTo>
                <a:lnTo>
                  <a:pt x="1185037" y="364998"/>
                </a:lnTo>
                <a:lnTo>
                  <a:pt x="1322070" y="364998"/>
                </a:lnTo>
                <a:lnTo>
                  <a:pt x="1322070" y="325247"/>
                </a:lnTo>
                <a:lnTo>
                  <a:pt x="1186561" y="325247"/>
                </a:lnTo>
                <a:lnTo>
                  <a:pt x="1173416" y="324637"/>
                </a:lnTo>
                <a:lnTo>
                  <a:pt x="1140079" y="304546"/>
                </a:lnTo>
                <a:lnTo>
                  <a:pt x="1140079" y="298958"/>
                </a:lnTo>
                <a:lnTo>
                  <a:pt x="1163764" y="260870"/>
                </a:lnTo>
                <a:lnTo>
                  <a:pt x="1206119" y="233680"/>
                </a:lnTo>
                <a:lnTo>
                  <a:pt x="1206119" y="289687"/>
                </a:lnTo>
                <a:lnTo>
                  <a:pt x="1248918" y="289687"/>
                </a:lnTo>
                <a:lnTo>
                  <a:pt x="1248918" y="233680"/>
                </a:lnTo>
                <a:lnTo>
                  <a:pt x="1248918" y="219710"/>
                </a:lnTo>
                <a:lnTo>
                  <a:pt x="1274457" y="210832"/>
                </a:lnTo>
                <a:lnTo>
                  <a:pt x="1301927" y="203047"/>
                </a:lnTo>
                <a:lnTo>
                  <a:pt x="1331315" y="196354"/>
                </a:lnTo>
                <a:lnTo>
                  <a:pt x="1362583" y="190754"/>
                </a:lnTo>
                <a:close/>
              </a:path>
              <a:path w="2466975" h="367664">
                <a:moveTo>
                  <a:pt x="1766570" y="321564"/>
                </a:moveTo>
                <a:lnTo>
                  <a:pt x="1723453" y="313055"/>
                </a:lnTo>
                <a:lnTo>
                  <a:pt x="1686699" y="303377"/>
                </a:lnTo>
                <a:lnTo>
                  <a:pt x="1657642" y="292785"/>
                </a:lnTo>
                <a:lnTo>
                  <a:pt x="1635887" y="281178"/>
                </a:lnTo>
                <a:lnTo>
                  <a:pt x="1641309" y="267703"/>
                </a:lnTo>
                <a:lnTo>
                  <a:pt x="1644040" y="258318"/>
                </a:lnTo>
                <a:lnTo>
                  <a:pt x="1645196" y="254342"/>
                </a:lnTo>
                <a:lnTo>
                  <a:pt x="1647545" y="241084"/>
                </a:lnTo>
                <a:lnTo>
                  <a:pt x="1648333" y="227965"/>
                </a:lnTo>
                <a:lnTo>
                  <a:pt x="1694180" y="227965"/>
                </a:lnTo>
                <a:lnTo>
                  <a:pt x="1694180" y="238252"/>
                </a:lnTo>
                <a:lnTo>
                  <a:pt x="1737106" y="238252"/>
                </a:lnTo>
                <a:lnTo>
                  <a:pt x="1737106" y="193040"/>
                </a:lnTo>
                <a:lnTo>
                  <a:pt x="1737106" y="146939"/>
                </a:lnTo>
                <a:lnTo>
                  <a:pt x="1737106" y="112141"/>
                </a:lnTo>
                <a:lnTo>
                  <a:pt x="1694180" y="112141"/>
                </a:lnTo>
                <a:lnTo>
                  <a:pt x="1694180" y="146939"/>
                </a:lnTo>
                <a:lnTo>
                  <a:pt x="1694180" y="193040"/>
                </a:lnTo>
                <a:lnTo>
                  <a:pt x="1648333" y="193040"/>
                </a:lnTo>
                <a:lnTo>
                  <a:pt x="1648333" y="146939"/>
                </a:lnTo>
                <a:lnTo>
                  <a:pt x="1694180" y="146939"/>
                </a:lnTo>
                <a:lnTo>
                  <a:pt x="1694180" y="112141"/>
                </a:lnTo>
                <a:lnTo>
                  <a:pt x="1648333" y="112141"/>
                </a:lnTo>
                <a:lnTo>
                  <a:pt x="1648333" y="87884"/>
                </a:lnTo>
                <a:lnTo>
                  <a:pt x="1758823" y="87884"/>
                </a:lnTo>
                <a:lnTo>
                  <a:pt x="1758823" y="48260"/>
                </a:lnTo>
                <a:lnTo>
                  <a:pt x="1648333" y="48260"/>
                </a:lnTo>
                <a:lnTo>
                  <a:pt x="1648333" y="14986"/>
                </a:lnTo>
                <a:lnTo>
                  <a:pt x="1652016" y="9486"/>
                </a:lnTo>
                <a:lnTo>
                  <a:pt x="1652219" y="5168"/>
                </a:lnTo>
                <a:lnTo>
                  <a:pt x="1648917" y="2006"/>
                </a:lnTo>
                <a:lnTo>
                  <a:pt x="1642110" y="0"/>
                </a:lnTo>
                <a:lnTo>
                  <a:pt x="1605534" y="0"/>
                </a:lnTo>
                <a:lnTo>
                  <a:pt x="1605534" y="48260"/>
                </a:lnTo>
                <a:lnTo>
                  <a:pt x="1504873" y="48260"/>
                </a:lnTo>
                <a:lnTo>
                  <a:pt x="1509141" y="30099"/>
                </a:lnTo>
                <a:lnTo>
                  <a:pt x="1515846" y="25590"/>
                </a:lnTo>
                <a:lnTo>
                  <a:pt x="1518246" y="21183"/>
                </a:lnTo>
                <a:lnTo>
                  <a:pt x="1516316" y="16929"/>
                </a:lnTo>
                <a:lnTo>
                  <a:pt x="1510030" y="12827"/>
                </a:lnTo>
                <a:lnTo>
                  <a:pt x="1469771" y="1524"/>
                </a:lnTo>
                <a:lnTo>
                  <a:pt x="1457934" y="56515"/>
                </a:lnTo>
                <a:lnTo>
                  <a:pt x="1441678" y="103924"/>
                </a:lnTo>
                <a:lnTo>
                  <a:pt x="1421028" y="143764"/>
                </a:lnTo>
                <a:lnTo>
                  <a:pt x="1395984" y="176022"/>
                </a:lnTo>
                <a:lnTo>
                  <a:pt x="1420368" y="213360"/>
                </a:lnTo>
                <a:lnTo>
                  <a:pt x="1429626" y="202653"/>
                </a:lnTo>
                <a:lnTo>
                  <a:pt x="1436839" y="191300"/>
                </a:lnTo>
                <a:lnTo>
                  <a:pt x="1442008" y="179324"/>
                </a:lnTo>
                <a:lnTo>
                  <a:pt x="1445133" y="166751"/>
                </a:lnTo>
                <a:lnTo>
                  <a:pt x="1445133" y="365887"/>
                </a:lnTo>
                <a:lnTo>
                  <a:pt x="1488059" y="365887"/>
                </a:lnTo>
                <a:lnTo>
                  <a:pt x="1488059" y="166751"/>
                </a:lnTo>
                <a:lnTo>
                  <a:pt x="1488059" y="121158"/>
                </a:lnTo>
                <a:lnTo>
                  <a:pt x="1497330" y="112903"/>
                </a:lnTo>
                <a:lnTo>
                  <a:pt x="1496822" y="107950"/>
                </a:lnTo>
                <a:lnTo>
                  <a:pt x="1486408" y="106426"/>
                </a:lnTo>
                <a:lnTo>
                  <a:pt x="1493024" y="88595"/>
                </a:lnTo>
                <a:lnTo>
                  <a:pt x="1499006" y="69938"/>
                </a:lnTo>
                <a:lnTo>
                  <a:pt x="1501775" y="59893"/>
                </a:lnTo>
                <a:lnTo>
                  <a:pt x="1501775" y="87884"/>
                </a:lnTo>
                <a:lnTo>
                  <a:pt x="1605534" y="87884"/>
                </a:lnTo>
                <a:lnTo>
                  <a:pt x="1605534" y="112141"/>
                </a:lnTo>
                <a:lnTo>
                  <a:pt x="1605534" y="146939"/>
                </a:lnTo>
                <a:lnTo>
                  <a:pt x="1605534" y="193040"/>
                </a:lnTo>
                <a:lnTo>
                  <a:pt x="1605534" y="227965"/>
                </a:lnTo>
                <a:lnTo>
                  <a:pt x="1605445" y="232664"/>
                </a:lnTo>
                <a:lnTo>
                  <a:pt x="1603248" y="258318"/>
                </a:lnTo>
                <a:lnTo>
                  <a:pt x="1578229" y="227965"/>
                </a:lnTo>
                <a:lnTo>
                  <a:pt x="1605534" y="227965"/>
                </a:lnTo>
                <a:lnTo>
                  <a:pt x="1605534" y="193040"/>
                </a:lnTo>
                <a:lnTo>
                  <a:pt x="1559560" y="193040"/>
                </a:lnTo>
                <a:lnTo>
                  <a:pt x="1559560" y="146939"/>
                </a:lnTo>
                <a:lnTo>
                  <a:pt x="1605534" y="146939"/>
                </a:lnTo>
                <a:lnTo>
                  <a:pt x="1605534" y="112141"/>
                </a:lnTo>
                <a:lnTo>
                  <a:pt x="1516761" y="112141"/>
                </a:lnTo>
                <a:lnTo>
                  <a:pt x="1516761" y="227965"/>
                </a:lnTo>
                <a:lnTo>
                  <a:pt x="1562481" y="227965"/>
                </a:lnTo>
                <a:lnTo>
                  <a:pt x="1543812" y="232664"/>
                </a:lnTo>
                <a:lnTo>
                  <a:pt x="1551520" y="248145"/>
                </a:lnTo>
                <a:lnTo>
                  <a:pt x="1561350" y="262928"/>
                </a:lnTo>
                <a:lnTo>
                  <a:pt x="1573288" y="276999"/>
                </a:lnTo>
                <a:lnTo>
                  <a:pt x="1587373" y="290322"/>
                </a:lnTo>
                <a:lnTo>
                  <a:pt x="1569720" y="303809"/>
                </a:lnTo>
                <a:lnTo>
                  <a:pt x="1547495" y="315074"/>
                </a:lnTo>
                <a:lnTo>
                  <a:pt x="1520685" y="324142"/>
                </a:lnTo>
                <a:lnTo>
                  <a:pt x="1489329" y="330962"/>
                </a:lnTo>
                <a:lnTo>
                  <a:pt x="1501902" y="367538"/>
                </a:lnTo>
                <a:lnTo>
                  <a:pt x="1537970" y="358711"/>
                </a:lnTo>
                <a:lnTo>
                  <a:pt x="1569034" y="346684"/>
                </a:lnTo>
                <a:lnTo>
                  <a:pt x="1595069" y="331470"/>
                </a:lnTo>
                <a:lnTo>
                  <a:pt x="1616075" y="313055"/>
                </a:lnTo>
                <a:lnTo>
                  <a:pt x="1643646" y="330682"/>
                </a:lnTo>
                <a:lnTo>
                  <a:pt x="1675866" y="344855"/>
                </a:lnTo>
                <a:lnTo>
                  <a:pt x="1712747" y="355587"/>
                </a:lnTo>
                <a:lnTo>
                  <a:pt x="1754251" y="362839"/>
                </a:lnTo>
                <a:lnTo>
                  <a:pt x="1766570" y="321564"/>
                </a:lnTo>
                <a:close/>
              </a:path>
              <a:path w="2466975" h="367664">
                <a:moveTo>
                  <a:pt x="2088388" y="214884"/>
                </a:moveTo>
                <a:lnTo>
                  <a:pt x="2072678" y="161925"/>
                </a:lnTo>
                <a:lnTo>
                  <a:pt x="2030374" y="127876"/>
                </a:lnTo>
                <a:lnTo>
                  <a:pt x="1991741" y="121412"/>
                </a:lnTo>
                <a:lnTo>
                  <a:pt x="1970786" y="122301"/>
                </a:lnTo>
                <a:lnTo>
                  <a:pt x="1949284" y="124955"/>
                </a:lnTo>
                <a:lnTo>
                  <a:pt x="1927263" y="129400"/>
                </a:lnTo>
                <a:lnTo>
                  <a:pt x="1904746" y="135636"/>
                </a:lnTo>
                <a:lnTo>
                  <a:pt x="1811147" y="164973"/>
                </a:lnTo>
                <a:lnTo>
                  <a:pt x="1829054" y="204089"/>
                </a:lnTo>
                <a:lnTo>
                  <a:pt x="1855216" y="194208"/>
                </a:lnTo>
                <a:lnTo>
                  <a:pt x="1879434" y="185331"/>
                </a:lnTo>
                <a:lnTo>
                  <a:pt x="1901698" y="177444"/>
                </a:lnTo>
                <a:lnTo>
                  <a:pt x="1922018" y="170561"/>
                </a:lnTo>
                <a:lnTo>
                  <a:pt x="1939658" y="165468"/>
                </a:lnTo>
                <a:lnTo>
                  <a:pt x="1955939" y="161925"/>
                </a:lnTo>
                <a:lnTo>
                  <a:pt x="1955685" y="161925"/>
                </a:lnTo>
                <a:lnTo>
                  <a:pt x="1972233" y="159613"/>
                </a:lnTo>
                <a:lnTo>
                  <a:pt x="1987169" y="158877"/>
                </a:lnTo>
                <a:lnTo>
                  <a:pt x="2001367" y="159613"/>
                </a:lnTo>
                <a:lnTo>
                  <a:pt x="2000758" y="159613"/>
                </a:lnTo>
                <a:lnTo>
                  <a:pt x="2011654" y="161658"/>
                </a:lnTo>
                <a:lnTo>
                  <a:pt x="2042617" y="191477"/>
                </a:lnTo>
                <a:lnTo>
                  <a:pt x="2047748" y="214884"/>
                </a:lnTo>
                <a:lnTo>
                  <a:pt x="2046757" y="229793"/>
                </a:lnTo>
                <a:lnTo>
                  <a:pt x="2012467" y="275805"/>
                </a:lnTo>
                <a:lnTo>
                  <a:pt x="1947176" y="291757"/>
                </a:lnTo>
                <a:lnTo>
                  <a:pt x="1901444" y="294386"/>
                </a:lnTo>
                <a:lnTo>
                  <a:pt x="1915414" y="334772"/>
                </a:lnTo>
                <a:lnTo>
                  <a:pt x="1964029" y="330733"/>
                </a:lnTo>
                <a:lnTo>
                  <a:pt x="2004949" y="321627"/>
                </a:lnTo>
                <a:lnTo>
                  <a:pt x="2063623" y="288290"/>
                </a:lnTo>
                <a:lnTo>
                  <a:pt x="2086838" y="237756"/>
                </a:lnTo>
                <a:lnTo>
                  <a:pt x="2088388" y="214884"/>
                </a:lnTo>
                <a:close/>
              </a:path>
              <a:path w="2466975" h="367664">
                <a:moveTo>
                  <a:pt x="2466848" y="85725"/>
                </a:moveTo>
                <a:lnTo>
                  <a:pt x="2459977" y="40386"/>
                </a:lnTo>
                <a:lnTo>
                  <a:pt x="2406980" y="49326"/>
                </a:lnTo>
                <a:lnTo>
                  <a:pt x="2354148" y="57315"/>
                </a:lnTo>
                <a:lnTo>
                  <a:pt x="2301468" y="64363"/>
                </a:lnTo>
                <a:lnTo>
                  <a:pt x="2248954" y="70459"/>
                </a:lnTo>
                <a:lnTo>
                  <a:pt x="2196592" y="75590"/>
                </a:lnTo>
                <a:lnTo>
                  <a:pt x="2144395" y="79756"/>
                </a:lnTo>
                <a:lnTo>
                  <a:pt x="2155063" y="123063"/>
                </a:lnTo>
                <a:lnTo>
                  <a:pt x="2268575" y="106781"/>
                </a:lnTo>
                <a:lnTo>
                  <a:pt x="2303272" y="101346"/>
                </a:lnTo>
                <a:lnTo>
                  <a:pt x="2278024" y="121805"/>
                </a:lnTo>
                <a:lnTo>
                  <a:pt x="2260003" y="147002"/>
                </a:lnTo>
                <a:lnTo>
                  <a:pt x="2249208" y="176974"/>
                </a:lnTo>
                <a:lnTo>
                  <a:pt x="2245614" y="211709"/>
                </a:lnTo>
                <a:lnTo>
                  <a:pt x="2247938" y="237451"/>
                </a:lnTo>
                <a:lnTo>
                  <a:pt x="2266505" y="282790"/>
                </a:lnTo>
                <a:lnTo>
                  <a:pt x="2305024" y="318871"/>
                </a:lnTo>
                <a:lnTo>
                  <a:pt x="2372220" y="339775"/>
                </a:lnTo>
                <a:lnTo>
                  <a:pt x="2417051" y="344170"/>
                </a:lnTo>
                <a:lnTo>
                  <a:pt x="2430983" y="302387"/>
                </a:lnTo>
                <a:lnTo>
                  <a:pt x="2432621" y="302387"/>
                </a:lnTo>
                <a:lnTo>
                  <a:pt x="2389365" y="298958"/>
                </a:lnTo>
                <a:lnTo>
                  <a:pt x="2328697" y="282194"/>
                </a:lnTo>
                <a:lnTo>
                  <a:pt x="2300173" y="256806"/>
                </a:lnTo>
                <a:lnTo>
                  <a:pt x="2288019" y="211709"/>
                </a:lnTo>
                <a:lnTo>
                  <a:pt x="2287905" y="210185"/>
                </a:lnTo>
                <a:lnTo>
                  <a:pt x="2289645" y="188849"/>
                </a:lnTo>
                <a:lnTo>
                  <a:pt x="2303653" y="152463"/>
                </a:lnTo>
                <a:lnTo>
                  <a:pt x="2330691" y="124015"/>
                </a:lnTo>
                <a:lnTo>
                  <a:pt x="2366695" y="101346"/>
                </a:lnTo>
                <a:lnTo>
                  <a:pt x="2378075" y="96393"/>
                </a:lnTo>
                <a:lnTo>
                  <a:pt x="2395042" y="91732"/>
                </a:lnTo>
                <a:lnTo>
                  <a:pt x="2415502" y="88392"/>
                </a:lnTo>
                <a:lnTo>
                  <a:pt x="2439428" y="86398"/>
                </a:lnTo>
                <a:lnTo>
                  <a:pt x="2466848" y="85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968" y="2864739"/>
            <a:ext cx="2810382" cy="369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3895" y="109220"/>
            <a:ext cx="9579504" cy="13684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632" y="378714"/>
            <a:ext cx="1695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072" y="1645920"/>
            <a:ext cx="4675505" cy="357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56909" y="7128986"/>
            <a:ext cx="2413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spberrypi.com/documentation/microcontrollers/micropython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thonny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9420" y="2254250"/>
            <a:ext cx="780034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35" dirty="0">
                <a:latin typeface="MS PGothic"/>
                <a:cs typeface="MS PGothic"/>
              </a:rPr>
              <a:t>ハンズオン</a:t>
            </a:r>
            <a:endParaRPr sz="320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MS PGothic"/>
                <a:cs typeface="MS PGothic"/>
              </a:rPr>
              <a:t>Raspberry</a:t>
            </a:r>
            <a:r>
              <a:rPr sz="3200" b="1" spc="10" dirty="0">
                <a:latin typeface="MS PGothic"/>
                <a:cs typeface="MS PGothic"/>
              </a:rPr>
              <a:t> </a:t>
            </a:r>
            <a:r>
              <a:rPr sz="3200" b="1" dirty="0">
                <a:latin typeface="MS PGothic"/>
                <a:cs typeface="MS PGothic"/>
              </a:rPr>
              <a:t>Pi</a:t>
            </a:r>
            <a:r>
              <a:rPr sz="3200" b="1" spc="55" dirty="0">
                <a:latin typeface="MS PGothic"/>
                <a:cs typeface="MS PGothic"/>
              </a:rPr>
              <a:t> </a:t>
            </a:r>
            <a:r>
              <a:rPr sz="3200" b="1" spc="-10" dirty="0">
                <a:latin typeface="MS PGothic"/>
                <a:cs typeface="MS PGothic"/>
              </a:rPr>
              <a:t>PicoW</a:t>
            </a:r>
            <a:r>
              <a:rPr sz="3200" b="1" spc="-25" dirty="0">
                <a:latin typeface="MS PGothic"/>
                <a:cs typeface="MS PGothic"/>
              </a:rPr>
              <a:t>を使って</a:t>
            </a:r>
            <a:r>
              <a:rPr sz="3200" b="1" spc="-20" dirty="0">
                <a:latin typeface="MS PGothic"/>
                <a:cs typeface="MS PGothic"/>
              </a:rPr>
              <a:t>IoT</a:t>
            </a:r>
            <a:r>
              <a:rPr sz="3200" b="1" spc="-40" dirty="0">
                <a:latin typeface="MS PGothic"/>
                <a:cs typeface="MS PGothic"/>
              </a:rPr>
              <a:t>を体感しよう。</a:t>
            </a:r>
            <a:endParaRPr sz="3200">
              <a:latin typeface="MS PGothic"/>
              <a:cs typeface="MS P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583307" y="5426202"/>
            <a:ext cx="5498465" cy="874394"/>
            <a:chOff x="2583307" y="5426202"/>
            <a:chExt cx="5498465" cy="87439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307" y="5426202"/>
              <a:ext cx="4663567" cy="3799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43497" y="5934214"/>
              <a:ext cx="1438275" cy="366395"/>
            </a:xfrm>
            <a:custGeom>
              <a:avLst/>
              <a:gdLst/>
              <a:ahLst/>
              <a:cxnLst/>
              <a:rect l="l" t="t" r="r" b="b"/>
              <a:pathLst>
                <a:path w="1438275" h="366395">
                  <a:moveTo>
                    <a:pt x="302768" y="228714"/>
                  </a:moveTo>
                  <a:lnTo>
                    <a:pt x="259842" y="228714"/>
                  </a:lnTo>
                  <a:lnTo>
                    <a:pt x="259842" y="263639"/>
                  </a:lnTo>
                  <a:lnTo>
                    <a:pt x="259842" y="311264"/>
                  </a:lnTo>
                  <a:lnTo>
                    <a:pt x="78613" y="311264"/>
                  </a:lnTo>
                  <a:lnTo>
                    <a:pt x="78613" y="263639"/>
                  </a:lnTo>
                  <a:lnTo>
                    <a:pt x="259842" y="263639"/>
                  </a:lnTo>
                  <a:lnTo>
                    <a:pt x="259842" y="228714"/>
                  </a:lnTo>
                  <a:lnTo>
                    <a:pt x="181356" y="228714"/>
                  </a:lnTo>
                  <a:lnTo>
                    <a:pt x="192405" y="198361"/>
                  </a:lnTo>
                  <a:lnTo>
                    <a:pt x="230251" y="198361"/>
                  </a:lnTo>
                  <a:lnTo>
                    <a:pt x="230251" y="205600"/>
                  </a:lnTo>
                  <a:lnTo>
                    <a:pt x="273177" y="205600"/>
                  </a:lnTo>
                  <a:lnTo>
                    <a:pt x="273177" y="198361"/>
                  </a:lnTo>
                  <a:lnTo>
                    <a:pt x="273177" y="163436"/>
                  </a:lnTo>
                  <a:lnTo>
                    <a:pt x="273177" y="131432"/>
                  </a:lnTo>
                  <a:lnTo>
                    <a:pt x="273177" y="96507"/>
                  </a:lnTo>
                  <a:lnTo>
                    <a:pt x="230251" y="96507"/>
                  </a:lnTo>
                  <a:lnTo>
                    <a:pt x="230251" y="131432"/>
                  </a:lnTo>
                  <a:lnTo>
                    <a:pt x="230251" y="163436"/>
                  </a:lnTo>
                  <a:lnTo>
                    <a:pt x="106553" y="163436"/>
                  </a:lnTo>
                  <a:lnTo>
                    <a:pt x="106553" y="131432"/>
                  </a:lnTo>
                  <a:lnTo>
                    <a:pt x="230251" y="131432"/>
                  </a:lnTo>
                  <a:lnTo>
                    <a:pt x="230251" y="96507"/>
                  </a:lnTo>
                  <a:lnTo>
                    <a:pt x="63754" y="96507"/>
                  </a:lnTo>
                  <a:lnTo>
                    <a:pt x="63754" y="210299"/>
                  </a:lnTo>
                  <a:lnTo>
                    <a:pt x="106553" y="210299"/>
                  </a:lnTo>
                  <a:lnTo>
                    <a:pt x="106553" y="198361"/>
                  </a:lnTo>
                  <a:lnTo>
                    <a:pt x="148463" y="198361"/>
                  </a:lnTo>
                  <a:lnTo>
                    <a:pt x="138430" y="228714"/>
                  </a:lnTo>
                  <a:lnTo>
                    <a:pt x="35814" y="228714"/>
                  </a:lnTo>
                  <a:lnTo>
                    <a:pt x="35814" y="361213"/>
                  </a:lnTo>
                  <a:lnTo>
                    <a:pt x="78613" y="361213"/>
                  </a:lnTo>
                  <a:lnTo>
                    <a:pt x="78613" y="346189"/>
                  </a:lnTo>
                  <a:lnTo>
                    <a:pt x="259842" y="346189"/>
                  </a:lnTo>
                  <a:lnTo>
                    <a:pt x="259842" y="356603"/>
                  </a:lnTo>
                  <a:lnTo>
                    <a:pt x="302768" y="356603"/>
                  </a:lnTo>
                  <a:lnTo>
                    <a:pt x="302768" y="346189"/>
                  </a:lnTo>
                  <a:lnTo>
                    <a:pt x="302768" y="311264"/>
                  </a:lnTo>
                  <a:lnTo>
                    <a:pt x="302768" y="263639"/>
                  </a:lnTo>
                  <a:lnTo>
                    <a:pt x="302768" y="228714"/>
                  </a:lnTo>
                  <a:close/>
                </a:path>
                <a:path w="1438275" h="366395">
                  <a:moveTo>
                    <a:pt x="338582" y="37325"/>
                  </a:moveTo>
                  <a:lnTo>
                    <a:pt x="190627" y="37325"/>
                  </a:lnTo>
                  <a:lnTo>
                    <a:pt x="190627" y="18148"/>
                  </a:lnTo>
                  <a:lnTo>
                    <a:pt x="195529" y="12153"/>
                  </a:lnTo>
                  <a:lnTo>
                    <a:pt x="196176" y="7124"/>
                  </a:lnTo>
                  <a:lnTo>
                    <a:pt x="192582" y="3060"/>
                  </a:lnTo>
                  <a:lnTo>
                    <a:pt x="184785" y="0"/>
                  </a:lnTo>
                  <a:lnTo>
                    <a:pt x="143002" y="0"/>
                  </a:lnTo>
                  <a:lnTo>
                    <a:pt x="143002" y="37325"/>
                  </a:lnTo>
                  <a:lnTo>
                    <a:pt x="0" y="37325"/>
                  </a:lnTo>
                  <a:lnTo>
                    <a:pt x="0" y="124574"/>
                  </a:lnTo>
                  <a:lnTo>
                    <a:pt x="42799" y="124574"/>
                  </a:lnTo>
                  <a:lnTo>
                    <a:pt x="42799" y="76949"/>
                  </a:lnTo>
                  <a:lnTo>
                    <a:pt x="295656" y="76949"/>
                  </a:lnTo>
                  <a:lnTo>
                    <a:pt x="295656" y="124574"/>
                  </a:lnTo>
                  <a:lnTo>
                    <a:pt x="338582" y="124574"/>
                  </a:lnTo>
                  <a:lnTo>
                    <a:pt x="338582" y="76949"/>
                  </a:lnTo>
                  <a:lnTo>
                    <a:pt x="338582" y="37325"/>
                  </a:lnTo>
                  <a:close/>
                </a:path>
                <a:path w="1438275" h="366395">
                  <a:moveTo>
                    <a:pt x="763016" y="259194"/>
                  </a:moveTo>
                  <a:lnTo>
                    <a:pt x="715149" y="226428"/>
                  </a:lnTo>
                  <a:lnTo>
                    <a:pt x="673506" y="190601"/>
                  </a:lnTo>
                  <a:lnTo>
                    <a:pt x="638098" y="151701"/>
                  </a:lnTo>
                  <a:lnTo>
                    <a:pt x="636638" y="149593"/>
                  </a:lnTo>
                  <a:lnTo>
                    <a:pt x="608965" y="109715"/>
                  </a:lnTo>
                  <a:lnTo>
                    <a:pt x="747522" y="109715"/>
                  </a:lnTo>
                  <a:lnTo>
                    <a:pt x="747522" y="69964"/>
                  </a:lnTo>
                  <a:lnTo>
                    <a:pt x="598043" y="69964"/>
                  </a:lnTo>
                  <a:lnTo>
                    <a:pt x="598043" y="14973"/>
                  </a:lnTo>
                  <a:lnTo>
                    <a:pt x="601726" y="9474"/>
                  </a:lnTo>
                  <a:lnTo>
                    <a:pt x="601929" y="5156"/>
                  </a:lnTo>
                  <a:lnTo>
                    <a:pt x="598627" y="1993"/>
                  </a:lnTo>
                  <a:lnTo>
                    <a:pt x="591820" y="0"/>
                  </a:lnTo>
                  <a:lnTo>
                    <a:pt x="555244" y="0"/>
                  </a:lnTo>
                  <a:lnTo>
                    <a:pt x="555244" y="69964"/>
                  </a:lnTo>
                  <a:lnTo>
                    <a:pt x="555244" y="149593"/>
                  </a:lnTo>
                  <a:lnTo>
                    <a:pt x="555244" y="239636"/>
                  </a:lnTo>
                  <a:lnTo>
                    <a:pt x="500532" y="239636"/>
                  </a:lnTo>
                  <a:lnTo>
                    <a:pt x="501904" y="238353"/>
                  </a:lnTo>
                  <a:lnTo>
                    <a:pt x="532904" y="196316"/>
                  </a:lnTo>
                  <a:lnTo>
                    <a:pt x="555244" y="149593"/>
                  </a:lnTo>
                  <a:lnTo>
                    <a:pt x="555244" y="69964"/>
                  </a:lnTo>
                  <a:lnTo>
                    <a:pt x="409575" y="69964"/>
                  </a:lnTo>
                  <a:lnTo>
                    <a:pt x="409575" y="109715"/>
                  </a:lnTo>
                  <a:lnTo>
                    <a:pt x="544957" y="109715"/>
                  </a:lnTo>
                  <a:lnTo>
                    <a:pt x="524637" y="148932"/>
                  </a:lnTo>
                  <a:lnTo>
                    <a:pt x="499364" y="184569"/>
                  </a:lnTo>
                  <a:lnTo>
                    <a:pt x="469150" y="216636"/>
                  </a:lnTo>
                  <a:lnTo>
                    <a:pt x="434009" y="245110"/>
                  </a:lnTo>
                  <a:lnTo>
                    <a:pt x="393954" y="269989"/>
                  </a:lnTo>
                  <a:lnTo>
                    <a:pt x="413893" y="308343"/>
                  </a:lnTo>
                  <a:lnTo>
                    <a:pt x="462229" y="275704"/>
                  </a:lnTo>
                  <a:lnTo>
                    <a:pt x="496697" y="243255"/>
                  </a:lnTo>
                  <a:lnTo>
                    <a:pt x="496697" y="279387"/>
                  </a:lnTo>
                  <a:lnTo>
                    <a:pt x="555244" y="279387"/>
                  </a:lnTo>
                  <a:lnTo>
                    <a:pt x="555244" y="361213"/>
                  </a:lnTo>
                  <a:lnTo>
                    <a:pt x="598043" y="361213"/>
                  </a:lnTo>
                  <a:lnTo>
                    <a:pt x="598043" y="279387"/>
                  </a:lnTo>
                  <a:lnTo>
                    <a:pt x="661924" y="279387"/>
                  </a:lnTo>
                  <a:lnTo>
                    <a:pt x="661924" y="239636"/>
                  </a:lnTo>
                  <a:lnTo>
                    <a:pt x="598043" y="239636"/>
                  </a:lnTo>
                  <a:lnTo>
                    <a:pt x="598043" y="149593"/>
                  </a:lnTo>
                  <a:lnTo>
                    <a:pt x="623824" y="192963"/>
                  </a:lnTo>
                  <a:lnTo>
                    <a:pt x="656602" y="232562"/>
                  </a:lnTo>
                  <a:lnTo>
                    <a:pt x="696353" y="268401"/>
                  </a:lnTo>
                  <a:lnTo>
                    <a:pt x="743077" y="300469"/>
                  </a:lnTo>
                  <a:lnTo>
                    <a:pt x="763016" y="259194"/>
                  </a:lnTo>
                  <a:close/>
                </a:path>
                <a:path w="1438275" h="366395">
                  <a:moveTo>
                    <a:pt x="1438148" y="127368"/>
                  </a:moveTo>
                  <a:lnTo>
                    <a:pt x="1434096" y="126225"/>
                  </a:lnTo>
                  <a:lnTo>
                    <a:pt x="1416596" y="121272"/>
                  </a:lnTo>
                  <a:lnTo>
                    <a:pt x="1415326" y="120916"/>
                  </a:lnTo>
                  <a:lnTo>
                    <a:pt x="1396047" y="114896"/>
                  </a:lnTo>
                  <a:lnTo>
                    <a:pt x="1380274" y="109296"/>
                  </a:lnTo>
                  <a:lnTo>
                    <a:pt x="1368044" y="104127"/>
                  </a:lnTo>
                  <a:lnTo>
                    <a:pt x="1383563" y="89065"/>
                  </a:lnTo>
                  <a:lnTo>
                    <a:pt x="1390446" y="80886"/>
                  </a:lnTo>
                  <a:lnTo>
                    <a:pt x="1396784" y="73380"/>
                  </a:lnTo>
                  <a:lnTo>
                    <a:pt x="1407706" y="57111"/>
                  </a:lnTo>
                  <a:lnTo>
                    <a:pt x="1416304" y="40246"/>
                  </a:lnTo>
                  <a:lnTo>
                    <a:pt x="1425702" y="38849"/>
                  </a:lnTo>
                  <a:lnTo>
                    <a:pt x="1427988" y="33642"/>
                  </a:lnTo>
                  <a:lnTo>
                    <a:pt x="1423162" y="24752"/>
                  </a:lnTo>
                  <a:lnTo>
                    <a:pt x="1394841" y="3035"/>
                  </a:lnTo>
                  <a:lnTo>
                    <a:pt x="1388364" y="10909"/>
                  </a:lnTo>
                  <a:lnTo>
                    <a:pt x="1374140" y="10909"/>
                  </a:lnTo>
                  <a:lnTo>
                    <a:pt x="1374140" y="45707"/>
                  </a:lnTo>
                  <a:lnTo>
                    <a:pt x="1369974" y="51777"/>
                  </a:lnTo>
                  <a:lnTo>
                    <a:pt x="1363383" y="59677"/>
                  </a:lnTo>
                  <a:lnTo>
                    <a:pt x="1354404" y="69392"/>
                  </a:lnTo>
                  <a:lnTo>
                    <a:pt x="1343025" y="80886"/>
                  </a:lnTo>
                  <a:lnTo>
                    <a:pt x="1336167" y="73380"/>
                  </a:lnTo>
                  <a:lnTo>
                    <a:pt x="1329690" y="64922"/>
                  </a:lnTo>
                  <a:lnTo>
                    <a:pt x="1323733" y="55714"/>
                  </a:lnTo>
                  <a:lnTo>
                    <a:pt x="1318260" y="45707"/>
                  </a:lnTo>
                  <a:lnTo>
                    <a:pt x="1374140" y="45707"/>
                  </a:lnTo>
                  <a:lnTo>
                    <a:pt x="1374140" y="10909"/>
                  </a:lnTo>
                  <a:lnTo>
                    <a:pt x="1268222" y="10909"/>
                  </a:lnTo>
                  <a:lnTo>
                    <a:pt x="1268222" y="45707"/>
                  </a:lnTo>
                  <a:lnTo>
                    <a:pt x="1283589" y="45707"/>
                  </a:lnTo>
                  <a:lnTo>
                    <a:pt x="1290002" y="61899"/>
                  </a:lnTo>
                  <a:lnTo>
                    <a:pt x="1297647" y="76555"/>
                  </a:lnTo>
                  <a:lnTo>
                    <a:pt x="1306474" y="89662"/>
                  </a:lnTo>
                  <a:lnTo>
                    <a:pt x="1316482" y="101206"/>
                  </a:lnTo>
                  <a:lnTo>
                    <a:pt x="1304163" y="108407"/>
                  </a:lnTo>
                  <a:lnTo>
                    <a:pt x="1291272" y="114147"/>
                  </a:lnTo>
                  <a:lnTo>
                    <a:pt x="1277797" y="118452"/>
                  </a:lnTo>
                  <a:lnTo>
                    <a:pt x="1263777" y="121272"/>
                  </a:lnTo>
                  <a:lnTo>
                    <a:pt x="1263777" y="118224"/>
                  </a:lnTo>
                  <a:lnTo>
                    <a:pt x="1210818" y="118224"/>
                  </a:lnTo>
                  <a:lnTo>
                    <a:pt x="1210818" y="107937"/>
                  </a:lnTo>
                  <a:lnTo>
                    <a:pt x="1260602" y="107937"/>
                  </a:lnTo>
                  <a:lnTo>
                    <a:pt x="1260602" y="79362"/>
                  </a:lnTo>
                  <a:lnTo>
                    <a:pt x="1260602" y="72123"/>
                  </a:lnTo>
                  <a:lnTo>
                    <a:pt x="1260602" y="43548"/>
                  </a:lnTo>
                  <a:lnTo>
                    <a:pt x="1227328" y="43548"/>
                  </a:lnTo>
                  <a:lnTo>
                    <a:pt x="1227328" y="72123"/>
                  </a:lnTo>
                  <a:lnTo>
                    <a:pt x="1227328" y="79362"/>
                  </a:lnTo>
                  <a:lnTo>
                    <a:pt x="1172718" y="79362"/>
                  </a:lnTo>
                  <a:lnTo>
                    <a:pt x="1172718" y="107937"/>
                  </a:lnTo>
                  <a:lnTo>
                    <a:pt x="1172718" y="118224"/>
                  </a:lnTo>
                  <a:lnTo>
                    <a:pt x="1134618" y="118224"/>
                  </a:lnTo>
                  <a:lnTo>
                    <a:pt x="1134618" y="107937"/>
                  </a:lnTo>
                  <a:lnTo>
                    <a:pt x="1172718" y="107937"/>
                  </a:lnTo>
                  <a:lnTo>
                    <a:pt x="1172718" y="79362"/>
                  </a:lnTo>
                  <a:lnTo>
                    <a:pt x="1134618" y="79362"/>
                  </a:lnTo>
                  <a:lnTo>
                    <a:pt x="1134618" y="72123"/>
                  </a:lnTo>
                  <a:lnTo>
                    <a:pt x="1227328" y="72123"/>
                  </a:lnTo>
                  <a:lnTo>
                    <a:pt x="1227328" y="43548"/>
                  </a:lnTo>
                  <a:lnTo>
                    <a:pt x="1210818" y="43548"/>
                  </a:lnTo>
                  <a:lnTo>
                    <a:pt x="1210818" y="34785"/>
                  </a:lnTo>
                  <a:lnTo>
                    <a:pt x="1262253" y="34785"/>
                  </a:lnTo>
                  <a:lnTo>
                    <a:pt x="1262253" y="6210"/>
                  </a:lnTo>
                  <a:lnTo>
                    <a:pt x="1172718" y="6210"/>
                  </a:lnTo>
                  <a:lnTo>
                    <a:pt x="1172718" y="34785"/>
                  </a:lnTo>
                  <a:lnTo>
                    <a:pt x="1172718" y="43548"/>
                  </a:lnTo>
                  <a:lnTo>
                    <a:pt x="1134618" y="43548"/>
                  </a:lnTo>
                  <a:lnTo>
                    <a:pt x="1134618" y="34785"/>
                  </a:lnTo>
                  <a:lnTo>
                    <a:pt x="1172718" y="34785"/>
                  </a:lnTo>
                  <a:lnTo>
                    <a:pt x="1172718" y="6210"/>
                  </a:lnTo>
                  <a:lnTo>
                    <a:pt x="1096518" y="6210"/>
                  </a:lnTo>
                  <a:lnTo>
                    <a:pt x="1096518" y="158864"/>
                  </a:lnTo>
                  <a:lnTo>
                    <a:pt x="1134618" y="158864"/>
                  </a:lnTo>
                  <a:lnTo>
                    <a:pt x="1134618" y="146799"/>
                  </a:lnTo>
                  <a:lnTo>
                    <a:pt x="1256030" y="146799"/>
                  </a:lnTo>
                  <a:lnTo>
                    <a:pt x="1262494" y="158737"/>
                  </a:lnTo>
                  <a:lnTo>
                    <a:pt x="1141603" y="158737"/>
                  </a:lnTo>
                  <a:lnTo>
                    <a:pt x="1141603" y="307073"/>
                  </a:lnTo>
                  <a:lnTo>
                    <a:pt x="1180096" y="307073"/>
                  </a:lnTo>
                  <a:lnTo>
                    <a:pt x="1206119" y="297167"/>
                  </a:lnTo>
                  <a:lnTo>
                    <a:pt x="1179652" y="307251"/>
                  </a:lnTo>
                  <a:lnTo>
                    <a:pt x="1151890" y="315379"/>
                  </a:lnTo>
                  <a:lnTo>
                    <a:pt x="1122781" y="321589"/>
                  </a:lnTo>
                  <a:lnTo>
                    <a:pt x="1092327" y="325869"/>
                  </a:lnTo>
                  <a:lnTo>
                    <a:pt x="1104646" y="365899"/>
                  </a:lnTo>
                  <a:lnTo>
                    <a:pt x="1135049" y="361683"/>
                  </a:lnTo>
                  <a:lnTo>
                    <a:pt x="1163967" y="355320"/>
                  </a:lnTo>
                  <a:lnTo>
                    <a:pt x="1191387" y="346862"/>
                  </a:lnTo>
                  <a:lnTo>
                    <a:pt x="1217295" y="336283"/>
                  </a:lnTo>
                  <a:lnTo>
                    <a:pt x="1227569" y="338455"/>
                  </a:lnTo>
                  <a:lnTo>
                    <a:pt x="1230274" y="336283"/>
                  </a:lnTo>
                  <a:lnTo>
                    <a:pt x="1232027" y="334886"/>
                  </a:lnTo>
                  <a:lnTo>
                    <a:pt x="1230896" y="325996"/>
                  </a:lnTo>
                  <a:lnTo>
                    <a:pt x="1230884" y="325869"/>
                  </a:lnTo>
                  <a:lnTo>
                    <a:pt x="1214666" y="307073"/>
                  </a:lnTo>
                  <a:lnTo>
                    <a:pt x="1307211" y="307073"/>
                  </a:lnTo>
                  <a:lnTo>
                    <a:pt x="1346911" y="350240"/>
                  </a:lnTo>
                  <a:lnTo>
                    <a:pt x="1414907" y="364337"/>
                  </a:lnTo>
                  <a:lnTo>
                    <a:pt x="1425702" y="325996"/>
                  </a:lnTo>
                  <a:lnTo>
                    <a:pt x="1395539" y="321386"/>
                  </a:lnTo>
                  <a:lnTo>
                    <a:pt x="1368894" y="316687"/>
                  </a:lnTo>
                  <a:lnTo>
                    <a:pt x="1345717" y="311912"/>
                  </a:lnTo>
                  <a:lnTo>
                    <a:pt x="1326007" y="307073"/>
                  </a:lnTo>
                  <a:lnTo>
                    <a:pt x="1372743" y="307073"/>
                  </a:lnTo>
                  <a:lnTo>
                    <a:pt x="1372743" y="297167"/>
                  </a:lnTo>
                  <a:lnTo>
                    <a:pt x="1372743" y="158737"/>
                  </a:lnTo>
                  <a:lnTo>
                    <a:pt x="1334643" y="158737"/>
                  </a:lnTo>
                  <a:lnTo>
                    <a:pt x="1334643" y="278625"/>
                  </a:lnTo>
                  <a:lnTo>
                    <a:pt x="1179703" y="278625"/>
                  </a:lnTo>
                  <a:lnTo>
                    <a:pt x="1179703" y="266687"/>
                  </a:lnTo>
                  <a:lnTo>
                    <a:pt x="1334643" y="266687"/>
                  </a:lnTo>
                  <a:lnTo>
                    <a:pt x="1334643" y="238112"/>
                  </a:lnTo>
                  <a:lnTo>
                    <a:pt x="1179703" y="238112"/>
                  </a:lnTo>
                  <a:lnTo>
                    <a:pt x="1179703" y="226174"/>
                  </a:lnTo>
                  <a:lnTo>
                    <a:pt x="1334643" y="226174"/>
                  </a:lnTo>
                  <a:lnTo>
                    <a:pt x="1334643" y="197599"/>
                  </a:lnTo>
                  <a:lnTo>
                    <a:pt x="1179703" y="197599"/>
                  </a:lnTo>
                  <a:lnTo>
                    <a:pt x="1179703" y="187312"/>
                  </a:lnTo>
                  <a:lnTo>
                    <a:pt x="1334643" y="187312"/>
                  </a:lnTo>
                  <a:lnTo>
                    <a:pt x="1334643" y="158737"/>
                  </a:lnTo>
                  <a:lnTo>
                    <a:pt x="1275283" y="158737"/>
                  </a:lnTo>
                  <a:lnTo>
                    <a:pt x="1285963" y="155536"/>
                  </a:lnTo>
                  <a:lnTo>
                    <a:pt x="1306068" y="147421"/>
                  </a:lnTo>
                  <a:lnTo>
                    <a:pt x="1307236" y="146799"/>
                  </a:lnTo>
                  <a:lnTo>
                    <a:pt x="1324533" y="137668"/>
                  </a:lnTo>
                  <a:lnTo>
                    <a:pt x="1341374" y="126225"/>
                  </a:lnTo>
                  <a:lnTo>
                    <a:pt x="1359369" y="138252"/>
                  </a:lnTo>
                  <a:lnTo>
                    <a:pt x="1379664" y="148234"/>
                  </a:lnTo>
                  <a:lnTo>
                    <a:pt x="1402232" y="156159"/>
                  </a:lnTo>
                  <a:lnTo>
                    <a:pt x="1427099" y="162039"/>
                  </a:lnTo>
                  <a:lnTo>
                    <a:pt x="1438148" y="127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87929" y="5318379"/>
            <a:ext cx="559244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0" dirty="0">
                <a:latin typeface="MS PGothic"/>
                <a:cs typeface="MS PGothic"/>
              </a:rPr>
              <a:t>はんなりプログラミングの会</a:t>
            </a:r>
            <a:endParaRPr sz="3200">
              <a:latin typeface="MS PGothic"/>
              <a:cs typeface="MS PGothic"/>
            </a:endParaRPr>
          </a:p>
          <a:p>
            <a:pPr marL="4084954">
              <a:lnSpc>
                <a:spcPct val="100000"/>
              </a:lnSpc>
              <a:tabLst>
                <a:tab pos="5172075" algn="l"/>
              </a:tabLst>
            </a:pPr>
            <a:r>
              <a:rPr sz="3200" b="1" spc="-20" dirty="0">
                <a:latin typeface="MS PGothic"/>
                <a:cs typeface="MS PGothic"/>
              </a:rPr>
              <a:t>宮</a:t>
            </a:r>
            <a:r>
              <a:rPr sz="3200" b="1" spc="-50" dirty="0">
                <a:latin typeface="MS PGothic"/>
                <a:cs typeface="MS PGothic"/>
              </a:rPr>
              <a:t>本</a:t>
            </a:r>
            <a:r>
              <a:rPr sz="3200" b="1" dirty="0">
                <a:latin typeface="MS PGothic"/>
                <a:cs typeface="MS PGothic"/>
              </a:rPr>
              <a:t>	</a:t>
            </a:r>
            <a:r>
              <a:rPr sz="3200" b="1" spc="-50" dirty="0">
                <a:latin typeface="MS PGothic"/>
                <a:cs typeface="MS PGothic"/>
              </a:rPr>
              <a:t>賢</a:t>
            </a:r>
            <a:endParaRPr sz="32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17754"/>
            <a:ext cx="2752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800" spc="-30" dirty="0"/>
              <a:t>講座</a:t>
            </a:r>
            <a:r>
              <a:rPr sz="2800" spc="-30" dirty="0" err="1"/>
              <a:t>概要</a:t>
            </a:r>
            <a:endParaRPr sz="28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88072" y="1645920"/>
            <a:ext cx="5231765" cy="13292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  <a:tab pos="1527175" algn="l"/>
              </a:tabLst>
            </a:pPr>
            <a:r>
              <a:rPr sz="2000" dirty="0">
                <a:latin typeface="MS PGothic"/>
                <a:cs typeface="MS PGothic"/>
              </a:rPr>
              <a:t>使用教</a:t>
            </a:r>
            <a:r>
              <a:rPr sz="2000" spc="-50" dirty="0">
                <a:latin typeface="MS PGothic"/>
                <a:cs typeface="MS PGothic"/>
              </a:rPr>
              <a:t>材</a:t>
            </a:r>
            <a:r>
              <a:rPr sz="2000" dirty="0">
                <a:latin typeface="MS PGothic"/>
                <a:cs typeface="MS PGothic"/>
              </a:rPr>
              <a:t>	「Raspberry</a:t>
            </a:r>
            <a:r>
              <a:rPr sz="2000" spc="-6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-1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</a:t>
            </a:r>
            <a:r>
              <a:rPr sz="2000" spc="-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W</a:t>
            </a:r>
            <a:r>
              <a:rPr sz="2000" spc="-50" dirty="0">
                <a:latin typeface="MS PGothic"/>
                <a:cs typeface="MS PGothic"/>
              </a:rPr>
              <a:t>」</a:t>
            </a:r>
            <a:endParaRPr sz="2000" dirty="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dirty="0">
                <a:latin typeface="MS PGothic"/>
                <a:cs typeface="MS PGothic"/>
              </a:rPr>
              <a:t>「Raspberry</a:t>
            </a:r>
            <a:r>
              <a:rPr sz="1600" spc="-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</a:t>
            </a:r>
            <a:r>
              <a:rPr sz="1600" spc="-10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Pico</a:t>
            </a:r>
            <a:r>
              <a:rPr sz="1600" spc="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W</a:t>
            </a:r>
            <a:r>
              <a:rPr sz="1600" spc="-10" dirty="0">
                <a:latin typeface="MS PGothic"/>
                <a:cs typeface="MS PGothic"/>
              </a:rPr>
              <a:t>」 ＋</a:t>
            </a:r>
            <a:r>
              <a:rPr lang="ja-JP" altLang="en-US" sz="1600" spc="-10" dirty="0">
                <a:latin typeface="MS PGothic"/>
                <a:cs typeface="MS PGothic"/>
              </a:rPr>
              <a:t>ブレッドボード＋</a:t>
            </a:r>
            <a:r>
              <a:rPr sz="1600" spc="-10" dirty="0" err="1">
                <a:latin typeface="MS PGothic"/>
                <a:cs typeface="MS PGothic"/>
              </a:rPr>
              <a:t>USBケーブル＋PC（Mac</a:t>
            </a:r>
            <a:r>
              <a:rPr sz="1600" spc="-5" dirty="0" err="1">
                <a:latin typeface="MS PGothic"/>
                <a:cs typeface="MS PGothic"/>
              </a:rPr>
              <a:t>も可</a:t>
            </a:r>
            <a:r>
              <a:rPr sz="1600" spc="-50" dirty="0">
                <a:latin typeface="MS PGothic"/>
                <a:cs typeface="MS PGothic"/>
              </a:rPr>
              <a:t>）</a:t>
            </a:r>
            <a:endParaRPr sz="1600" dirty="0">
              <a:latin typeface="MS PGothic"/>
              <a:cs typeface="MS PGothic"/>
            </a:endParaRPr>
          </a:p>
          <a:p>
            <a:pPr marL="342900" indent="-330200">
              <a:lnSpc>
                <a:spcPct val="100000"/>
              </a:lnSpc>
              <a:spcBef>
                <a:spcPts val="500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dirty="0">
                <a:latin typeface="MS PGothic"/>
                <a:cs typeface="MS PGothic"/>
              </a:rPr>
              <a:t>「Raspberry</a:t>
            </a:r>
            <a:r>
              <a:rPr sz="2000" spc="-4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</a:t>
            </a:r>
            <a:r>
              <a:rPr sz="2000" spc="-1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W</a:t>
            </a:r>
            <a:r>
              <a:rPr sz="2000" spc="-5" dirty="0">
                <a:latin typeface="MS PGothic"/>
                <a:cs typeface="MS PGothic"/>
              </a:rPr>
              <a:t>」基板上の</a:t>
            </a:r>
            <a:r>
              <a:rPr sz="2000" spc="-20" dirty="0">
                <a:latin typeface="MS PGothic"/>
                <a:cs typeface="MS PGothic"/>
              </a:rPr>
              <a:t>LED</a:t>
            </a:r>
            <a:r>
              <a:rPr sz="2000" spc="-25" dirty="0">
                <a:latin typeface="MS PGothic"/>
                <a:cs typeface="MS PGothic"/>
              </a:rPr>
              <a:t>を点滅</a:t>
            </a:r>
            <a:endParaRPr sz="20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8289" y="3012948"/>
            <a:ext cx="857885" cy="156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6099"/>
              </a:lnSpc>
              <a:spcBef>
                <a:spcPts val="100"/>
              </a:spcBef>
            </a:pPr>
            <a:r>
              <a:rPr sz="1600" spc="-30" dirty="0">
                <a:latin typeface="MS PGothic"/>
                <a:cs typeface="MS PGothic"/>
              </a:rPr>
              <a:t>ステップ１ステップ２ステップ３ステップ４ステップ５</a:t>
            </a:r>
            <a:endParaRPr sz="1600" dirty="0">
              <a:latin typeface="MS PGothic"/>
              <a:cs typeface="MS P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029" y="3012948"/>
            <a:ext cx="4226560" cy="156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59560" indent="63500">
              <a:lnSpc>
                <a:spcPct val="126200"/>
              </a:lnSpc>
              <a:spcBef>
                <a:spcPts val="100"/>
              </a:spcBef>
            </a:pPr>
            <a:r>
              <a:rPr sz="1600" dirty="0">
                <a:latin typeface="MS PGothic"/>
                <a:cs typeface="MS PGothic"/>
              </a:rPr>
              <a:t>「Raspberry</a:t>
            </a:r>
            <a:r>
              <a:rPr sz="1600" spc="-40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</a:t>
            </a:r>
            <a:r>
              <a:rPr sz="1600" spc="-2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Pico</a:t>
            </a:r>
            <a:r>
              <a:rPr sz="1600" spc="-3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W</a:t>
            </a:r>
            <a:r>
              <a:rPr sz="1600" spc="-15" dirty="0">
                <a:latin typeface="MS PGothic"/>
                <a:cs typeface="MS PGothic"/>
              </a:rPr>
              <a:t>」の解説</a:t>
            </a:r>
            <a:r>
              <a:rPr sz="1600" spc="-35" dirty="0">
                <a:latin typeface="MS PGothic"/>
                <a:cs typeface="MS PGothic"/>
              </a:rPr>
              <a:t>ファームウエアを基板に書込む</a:t>
            </a:r>
            <a:endParaRPr sz="1600" dirty="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MS PGothic"/>
                <a:cs typeface="MS PGothic"/>
              </a:rPr>
              <a:t>Thonny</a:t>
            </a:r>
            <a:r>
              <a:rPr sz="1600" spc="-30" dirty="0">
                <a:latin typeface="MS PGothic"/>
                <a:cs typeface="MS PGothic"/>
              </a:rPr>
              <a:t>を</a:t>
            </a:r>
            <a:r>
              <a:rPr sz="1600" spc="-10" dirty="0">
                <a:latin typeface="MS PGothic"/>
                <a:cs typeface="MS PGothic"/>
              </a:rPr>
              <a:t>PC</a:t>
            </a:r>
            <a:r>
              <a:rPr sz="1600" spc="-35" dirty="0">
                <a:latin typeface="MS PGothic"/>
                <a:cs typeface="MS PGothic"/>
              </a:rPr>
              <a:t>にインストールし、設定する。</a:t>
            </a:r>
            <a:endParaRPr sz="1600" dirty="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spc="-20" dirty="0">
                <a:latin typeface="MS PGothic"/>
                <a:cs typeface="MS PGothic"/>
              </a:rPr>
              <a:t>LED点滅ソフトを「</a:t>
            </a:r>
            <a:r>
              <a:rPr sz="1600" dirty="0">
                <a:latin typeface="MS PGothic"/>
                <a:cs typeface="MS PGothic"/>
              </a:rPr>
              <a:t>Raspberry</a:t>
            </a:r>
            <a:r>
              <a:rPr sz="1600" spc="3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 Pico</a:t>
            </a:r>
            <a:r>
              <a:rPr sz="1600" spc="-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W</a:t>
            </a:r>
            <a:r>
              <a:rPr sz="1600" spc="-30" dirty="0">
                <a:latin typeface="MS PGothic"/>
                <a:cs typeface="MS PGothic"/>
              </a:rPr>
              <a:t>」 に書込む</a:t>
            </a:r>
            <a:endParaRPr sz="1600" dirty="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spc="-20" dirty="0">
                <a:latin typeface="MS PGothic"/>
                <a:cs typeface="MS PGothic"/>
              </a:rPr>
              <a:t>LED</a:t>
            </a:r>
            <a:r>
              <a:rPr sz="1600" spc="-35" dirty="0">
                <a:latin typeface="MS PGothic"/>
                <a:cs typeface="MS PGothic"/>
              </a:rPr>
              <a:t>点滅ソフトを実行する。</a:t>
            </a:r>
            <a:endParaRPr sz="1600" dirty="0"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8072" y="4535309"/>
            <a:ext cx="7716520" cy="17780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0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dirty="0">
                <a:latin typeface="MS PGothic"/>
                <a:cs typeface="MS PGothic"/>
              </a:rPr>
              <a:t>「Raspberry</a:t>
            </a:r>
            <a:r>
              <a:rPr sz="2000" spc="-5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 Pico</a:t>
            </a:r>
            <a:r>
              <a:rPr sz="2000" spc="-1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W</a:t>
            </a:r>
            <a:r>
              <a:rPr sz="2000" spc="-25" dirty="0">
                <a:latin typeface="MS PGothic"/>
                <a:cs typeface="MS PGothic"/>
              </a:rPr>
              <a:t>」基板上の機能を利用した温度測定</a:t>
            </a:r>
            <a:endParaRPr sz="20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spc="-20" dirty="0">
                <a:latin typeface="MS PGothic"/>
                <a:cs typeface="MS PGothic"/>
              </a:rPr>
              <a:t>温度測定ソフトを</a:t>
            </a:r>
            <a:r>
              <a:rPr sz="1600" spc="-10" dirty="0">
                <a:latin typeface="MS PGothic"/>
                <a:cs typeface="MS PGothic"/>
              </a:rPr>
              <a:t>Thonny</a:t>
            </a:r>
            <a:r>
              <a:rPr sz="1600" spc="-25" dirty="0">
                <a:latin typeface="MS PGothic"/>
                <a:cs typeface="MS PGothic"/>
              </a:rPr>
              <a:t>に書込む。</a:t>
            </a:r>
            <a:r>
              <a:rPr sz="1600" spc="-10" dirty="0">
                <a:latin typeface="MS PGothic"/>
                <a:cs typeface="MS PGothic"/>
              </a:rPr>
              <a:t>Thonny</a:t>
            </a:r>
            <a:r>
              <a:rPr sz="1600" spc="-20" dirty="0">
                <a:latin typeface="MS PGothic"/>
                <a:cs typeface="MS PGothic"/>
              </a:rPr>
              <a:t>上で実行する。</a:t>
            </a:r>
            <a:endParaRPr sz="16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spc="-15" dirty="0">
                <a:latin typeface="MS PGothic"/>
                <a:cs typeface="MS PGothic"/>
              </a:rPr>
              <a:t>温度測定ソフトの解説</a:t>
            </a:r>
            <a:endParaRPr sz="1600">
              <a:latin typeface="MS PGothic"/>
              <a:cs typeface="MS PGothic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600">
              <a:latin typeface="MS PGothic"/>
              <a:cs typeface="MS PGothic"/>
            </a:endParaRPr>
          </a:p>
          <a:p>
            <a:pPr marL="5171440">
              <a:lnSpc>
                <a:spcPts val="1650"/>
              </a:lnSpc>
            </a:pPr>
            <a:r>
              <a:rPr sz="1400" spc="-20" dirty="0">
                <a:solidFill>
                  <a:srgbClr val="FF0000"/>
                </a:solidFill>
                <a:latin typeface="MS PGothic"/>
                <a:cs typeface="MS PGothic"/>
              </a:rPr>
              <a:t>途中、旨くいかなかったり、疑問点</a:t>
            </a:r>
            <a:endParaRPr sz="1400">
              <a:latin typeface="MS PGothic"/>
              <a:cs typeface="MS PGothic"/>
            </a:endParaRPr>
          </a:p>
          <a:p>
            <a:pPr marL="5171440">
              <a:lnSpc>
                <a:spcPts val="1650"/>
              </a:lnSpc>
            </a:pPr>
            <a:r>
              <a:rPr sz="1400" spc="-15" dirty="0">
                <a:solidFill>
                  <a:srgbClr val="FF0000"/>
                </a:solidFill>
                <a:latin typeface="MS PGothic"/>
                <a:cs typeface="MS PGothic"/>
              </a:rPr>
              <a:t>があればお知らせください。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9342" y="1490662"/>
            <a:ext cx="8613775" cy="15125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265" algn="l"/>
              </a:tabLst>
            </a:pPr>
            <a:r>
              <a:rPr sz="2000" dirty="0">
                <a:latin typeface="MS PGothic"/>
                <a:cs typeface="MS PGothic"/>
              </a:rPr>
              <a:t>Raspberry</a:t>
            </a:r>
            <a:r>
              <a:rPr sz="2000" spc="-6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-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</a:t>
            </a:r>
            <a:r>
              <a:rPr sz="2000" spc="-5" dirty="0">
                <a:latin typeface="MS PGothic"/>
                <a:cs typeface="MS PGothic"/>
              </a:rPr>
              <a:t> </a:t>
            </a:r>
            <a:r>
              <a:rPr sz="2000" spc="-25" dirty="0">
                <a:latin typeface="MS PGothic"/>
                <a:cs typeface="MS PGothic"/>
              </a:rPr>
              <a:t>W</a:t>
            </a:r>
            <a:r>
              <a:rPr sz="2000" spc="-20" dirty="0">
                <a:latin typeface="MS PGothic"/>
                <a:cs typeface="MS PGothic"/>
              </a:rPr>
              <a:t>の紹介</a:t>
            </a:r>
            <a:endParaRPr sz="2000">
              <a:latin typeface="MS PGothic"/>
              <a:cs typeface="MS PGothic"/>
            </a:endParaRPr>
          </a:p>
          <a:p>
            <a:pPr marL="481965" marR="5080" indent="134620">
              <a:lnSpc>
                <a:spcPct val="100000"/>
              </a:lnSpc>
              <a:spcBef>
                <a:spcPts val="505"/>
              </a:spcBef>
            </a:pPr>
            <a:r>
              <a:rPr sz="1600" dirty="0">
                <a:latin typeface="MS PGothic"/>
                <a:cs typeface="MS PGothic"/>
              </a:rPr>
              <a:t>Raspberry Pi</a:t>
            </a:r>
            <a:r>
              <a:rPr sz="1600" spc="-5" dirty="0">
                <a:latin typeface="MS PGothic"/>
                <a:cs typeface="MS PGothic"/>
              </a:rPr>
              <a:t>財団が開発した</a:t>
            </a:r>
            <a:r>
              <a:rPr sz="1600" spc="-10" dirty="0">
                <a:latin typeface="MS PGothic"/>
                <a:cs typeface="MS PGothic"/>
              </a:rPr>
              <a:t>CPU</a:t>
            </a:r>
            <a:r>
              <a:rPr sz="1600" spc="-5" dirty="0">
                <a:latin typeface="MS PGothic"/>
                <a:cs typeface="MS PGothic"/>
              </a:rPr>
              <a:t>モジュール</a:t>
            </a:r>
            <a:r>
              <a:rPr sz="1600" spc="-10" dirty="0">
                <a:latin typeface="MS PGothic"/>
                <a:cs typeface="MS PGothic"/>
              </a:rPr>
              <a:t>RP2040(ArmCortex-M0+デュアルコア@133Mhz</a:t>
            </a:r>
            <a:r>
              <a:rPr sz="1600" spc="-30" dirty="0">
                <a:latin typeface="MS PGothic"/>
                <a:cs typeface="MS PGothic"/>
              </a:rPr>
              <a:t>)を</a:t>
            </a:r>
            <a:r>
              <a:rPr sz="1600" spc="-25" dirty="0">
                <a:latin typeface="MS PGothic"/>
                <a:cs typeface="MS PGothic"/>
              </a:rPr>
              <a:t>搭載、２</a:t>
            </a:r>
            <a:r>
              <a:rPr sz="1600" spc="-20" dirty="0">
                <a:latin typeface="MS PGothic"/>
                <a:cs typeface="MS PGothic"/>
              </a:rPr>
              <a:t>MB</a:t>
            </a:r>
            <a:r>
              <a:rPr sz="1600" dirty="0">
                <a:latin typeface="MS PGothic"/>
                <a:cs typeface="MS PGothic"/>
              </a:rPr>
              <a:t>の高速</a:t>
            </a:r>
            <a:r>
              <a:rPr sz="1600" spc="-10" dirty="0">
                <a:latin typeface="MS PGothic"/>
                <a:cs typeface="MS PGothic"/>
              </a:rPr>
              <a:t>Flash</a:t>
            </a:r>
            <a:r>
              <a:rPr sz="1600" spc="-15" dirty="0">
                <a:latin typeface="MS PGothic"/>
                <a:cs typeface="MS PGothic"/>
              </a:rPr>
              <a:t>メモリ、無線モジュールを搭載した</a:t>
            </a:r>
            <a:r>
              <a:rPr sz="1600" spc="-35" dirty="0">
                <a:solidFill>
                  <a:srgbClr val="1F2023"/>
                </a:solidFill>
                <a:latin typeface="MS PGothic"/>
                <a:cs typeface="MS PGothic"/>
              </a:rPr>
              <a:t>シンプルなマイコンボードです。</a:t>
            </a:r>
            <a:endParaRPr sz="1600">
              <a:latin typeface="MS PGothic"/>
              <a:cs typeface="MS PGothic"/>
            </a:endParaRPr>
          </a:p>
          <a:p>
            <a:pPr marL="481965">
              <a:lnSpc>
                <a:spcPct val="100000"/>
              </a:lnSpc>
              <a:spcBef>
                <a:spcPts val="500"/>
              </a:spcBef>
            </a:pPr>
            <a:r>
              <a:rPr sz="1600" spc="-40" dirty="0">
                <a:solidFill>
                  <a:srgbClr val="1F2023"/>
                </a:solidFill>
                <a:latin typeface="MS PGothic"/>
                <a:cs typeface="MS PGothic"/>
              </a:rPr>
              <a:t>サイズとピン配置図を載せます。基板のピン数は４０ピンです。各ピンには固有の役割がありま</a:t>
            </a:r>
            <a:endParaRPr sz="1600">
              <a:latin typeface="MS PGothic"/>
              <a:cs typeface="MS PGothic"/>
            </a:endParaRPr>
          </a:p>
          <a:p>
            <a:pPr marL="481965">
              <a:lnSpc>
                <a:spcPct val="100000"/>
              </a:lnSpc>
            </a:pPr>
            <a:r>
              <a:rPr sz="1600" spc="-40" dirty="0">
                <a:solidFill>
                  <a:srgbClr val="1F2023"/>
                </a:solidFill>
                <a:latin typeface="MS PGothic"/>
                <a:cs typeface="MS PGothic"/>
              </a:rPr>
              <a:t>す。１種類しかないピンもあれば４種類のものもあります。必要に応じて説明します。</a:t>
            </a:r>
            <a:endParaRPr sz="1600">
              <a:latin typeface="MS PGothic"/>
              <a:cs typeface="MS P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11985" y="3667760"/>
            <a:ext cx="2045335" cy="3003550"/>
            <a:chOff x="1911985" y="3667760"/>
            <a:chExt cx="2045335" cy="3003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4760" y="3667760"/>
              <a:ext cx="1325880" cy="3002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81120" y="3840480"/>
              <a:ext cx="76200" cy="2830830"/>
            </a:xfrm>
            <a:custGeom>
              <a:avLst/>
              <a:gdLst/>
              <a:ahLst/>
              <a:cxnLst/>
              <a:rect l="l" t="t" r="r" b="b"/>
              <a:pathLst>
                <a:path w="76200" h="2830829">
                  <a:moveTo>
                    <a:pt x="31750" y="2754071"/>
                  </a:moveTo>
                  <a:lnTo>
                    <a:pt x="0" y="2754071"/>
                  </a:lnTo>
                  <a:lnTo>
                    <a:pt x="38100" y="2830271"/>
                  </a:lnTo>
                  <a:lnTo>
                    <a:pt x="69850" y="2766771"/>
                  </a:lnTo>
                  <a:lnTo>
                    <a:pt x="31750" y="2766771"/>
                  </a:lnTo>
                  <a:lnTo>
                    <a:pt x="31750" y="2754071"/>
                  </a:lnTo>
                  <a:close/>
                </a:path>
                <a:path w="76200" h="283082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766771"/>
                  </a:lnTo>
                  <a:lnTo>
                    <a:pt x="44450" y="2766771"/>
                  </a:lnTo>
                  <a:lnTo>
                    <a:pt x="44450" y="63500"/>
                  </a:lnTo>
                  <a:close/>
                </a:path>
                <a:path w="76200" h="2830829">
                  <a:moveTo>
                    <a:pt x="76200" y="2754071"/>
                  </a:moveTo>
                  <a:lnTo>
                    <a:pt x="44450" y="2754071"/>
                  </a:lnTo>
                  <a:lnTo>
                    <a:pt x="44450" y="2766771"/>
                  </a:lnTo>
                  <a:lnTo>
                    <a:pt x="69850" y="2766771"/>
                  </a:lnTo>
                  <a:lnTo>
                    <a:pt x="76200" y="2754071"/>
                  </a:lnTo>
                  <a:close/>
                </a:path>
                <a:path w="76200" h="283082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83082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1985" y="4056380"/>
              <a:ext cx="973455" cy="1845945"/>
            </a:xfrm>
            <a:custGeom>
              <a:avLst/>
              <a:gdLst/>
              <a:ahLst/>
              <a:cxnLst/>
              <a:rect l="l" t="t" r="r" b="b"/>
              <a:pathLst>
                <a:path w="973455" h="1845945">
                  <a:moveTo>
                    <a:pt x="844677" y="38100"/>
                  </a:moveTo>
                  <a:lnTo>
                    <a:pt x="831977" y="31750"/>
                  </a:lnTo>
                  <a:lnTo>
                    <a:pt x="768477" y="0"/>
                  </a:lnTo>
                  <a:lnTo>
                    <a:pt x="768477" y="31750"/>
                  </a:lnTo>
                  <a:lnTo>
                    <a:pt x="460375" y="31750"/>
                  </a:lnTo>
                  <a:lnTo>
                    <a:pt x="460375" y="44450"/>
                  </a:lnTo>
                  <a:lnTo>
                    <a:pt x="768477" y="44450"/>
                  </a:lnTo>
                  <a:lnTo>
                    <a:pt x="768477" y="76200"/>
                  </a:lnTo>
                  <a:lnTo>
                    <a:pt x="831977" y="44450"/>
                  </a:lnTo>
                  <a:lnTo>
                    <a:pt x="844677" y="38100"/>
                  </a:lnTo>
                  <a:close/>
                </a:path>
                <a:path w="973455" h="1845945">
                  <a:moveTo>
                    <a:pt x="915797" y="457200"/>
                  </a:moveTo>
                  <a:lnTo>
                    <a:pt x="903097" y="450850"/>
                  </a:lnTo>
                  <a:lnTo>
                    <a:pt x="839597" y="419100"/>
                  </a:lnTo>
                  <a:lnTo>
                    <a:pt x="839597" y="450850"/>
                  </a:lnTo>
                  <a:lnTo>
                    <a:pt x="180975" y="450850"/>
                  </a:lnTo>
                  <a:lnTo>
                    <a:pt x="180975" y="463550"/>
                  </a:lnTo>
                  <a:lnTo>
                    <a:pt x="839597" y="463550"/>
                  </a:lnTo>
                  <a:lnTo>
                    <a:pt x="839597" y="495300"/>
                  </a:lnTo>
                  <a:lnTo>
                    <a:pt x="903097" y="463550"/>
                  </a:lnTo>
                  <a:lnTo>
                    <a:pt x="915797" y="457200"/>
                  </a:lnTo>
                  <a:close/>
                </a:path>
                <a:path w="973455" h="1845945">
                  <a:moveTo>
                    <a:pt x="917321" y="726440"/>
                  </a:moveTo>
                  <a:lnTo>
                    <a:pt x="837565" y="696341"/>
                  </a:lnTo>
                  <a:lnTo>
                    <a:pt x="840778" y="727875"/>
                  </a:lnTo>
                  <a:lnTo>
                    <a:pt x="0" y="814578"/>
                  </a:lnTo>
                  <a:lnTo>
                    <a:pt x="1270" y="827151"/>
                  </a:lnTo>
                  <a:lnTo>
                    <a:pt x="842073" y="740575"/>
                  </a:lnTo>
                  <a:lnTo>
                    <a:pt x="845312" y="772160"/>
                  </a:lnTo>
                  <a:lnTo>
                    <a:pt x="917117" y="726567"/>
                  </a:lnTo>
                  <a:lnTo>
                    <a:pt x="917321" y="726440"/>
                  </a:lnTo>
                  <a:close/>
                </a:path>
                <a:path w="973455" h="1845945">
                  <a:moveTo>
                    <a:pt x="973201" y="1744980"/>
                  </a:moveTo>
                  <a:lnTo>
                    <a:pt x="893445" y="1714881"/>
                  </a:lnTo>
                  <a:lnTo>
                    <a:pt x="896670" y="1746542"/>
                  </a:lnTo>
                  <a:lnTo>
                    <a:pt x="55880" y="1833118"/>
                  </a:lnTo>
                  <a:lnTo>
                    <a:pt x="57150" y="1845703"/>
                  </a:lnTo>
                  <a:lnTo>
                    <a:pt x="897953" y="1759115"/>
                  </a:lnTo>
                  <a:lnTo>
                    <a:pt x="901192" y="1790700"/>
                  </a:lnTo>
                  <a:lnTo>
                    <a:pt x="972794" y="1745234"/>
                  </a:lnTo>
                  <a:lnTo>
                    <a:pt x="973201" y="17449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69632" y="317754"/>
            <a:ext cx="610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「</a:t>
            </a:r>
            <a:r>
              <a:rPr sz="2800" dirty="0"/>
              <a:t>Raspberry</a:t>
            </a:r>
            <a:r>
              <a:rPr sz="2800" spc="-50" dirty="0"/>
              <a:t> </a:t>
            </a:r>
            <a:r>
              <a:rPr sz="2800" dirty="0"/>
              <a:t>Pi</a:t>
            </a:r>
            <a:r>
              <a:rPr sz="2800" spc="-10" dirty="0"/>
              <a:t> </a:t>
            </a:r>
            <a:r>
              <a:rPr sz="2800" dirty="0"/>
              <a:t>Pico</a:t>
            </a:r>
            <a:r>
              <a:rPr sz="2800" spc="-20" dirty="0"/>
              <a:t> </a:t>
            </a:r>
            <a:r>
              <a:rPr sz="2800" dirty="0"/>
              <a:t>W</a:t>
            </a:r>
            <a:r>
              <a:rPr sz="2800" spc="-20" dirty="0"/>
              <a:t>」の解説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2907410" y="6825298"/>
            <a:ext cx="4940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1F2023"/>
                </a:solidFill>
                <a:latin typeface="Calibri"/>
                <a:cs typeface="Calibri"/>
              </a:rPr>
              <a:t>21mm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6859" y="4793056"/>
            <a:ext cx="203200" cy="6292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spc="-10" dirty="0">
                <a:solidFill>
                  <a:srgbClr val="1F2023"/>
                </a:solidFill>
                <a:latin typeface="Calibri"/>
                <a:cs typeface="Calibri"/>
              </a:rPr>
              <a:t>51.3mm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75560" y="6761480"/>
            <a:ext cx="1181735" cy="76200"/>
          </a:xfrm>
          <a:custGeom>
            <a:avLst/>
            <a:gdLst/>
            <a:ahLst/>
            <a:cxnLst/>
            <a:rect l="l" t="t" r="r" b="b"/>
            <a:pathLst>
              <a:path w="118173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181735" h="76200">
                <a:moveTo>
                  <a:pt x="1105153" y="0"/>
                </a:moveTo>
                <a:lnTo>
                  <a:pt x="1105153" y="76200"/>
                </a:lnTo>
                <a:lnTo>
                  <a:pt x="1168653" y="44450"/>
                </a:lnTo>
                <a:lnTo>
                  <a:pt x="1117853" y="44450"/>
                </a:lnTo>
                <a:lnTo>
                  <a:pt x="1117853" y="31750"/>
                </a:lnTo>
                <a:lnTo>
                  <a:pt x="1168653" y="31750"/>
                </a:lnTo>
                <a:lnTo>
                  <a:pt x="1105153" y="0"/>
                </a:lnTo>
                <a:close/>
              </a:path>
              <a:path w="118173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181735" h="76200">
                <a:moveTo>
                  <a:pt x="110515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105153" y="44450"/>
                </a:lnTo>
                <a:lnTo>
                  <a:pt x="1105153" y="31750"/>
                </a:lnTo>
                <a:close/>
              </a:path>
              <a:path w="1181735" h="76200">
                <a:moveTo>
                  <a:pt x="1168653" y="31750"/>
                </a:moveTo>
                <a:lnTo>
                  <a:pt x="1117853" y="31750"/>
                </a:lnTo>
                <a:lnTo>
                  <a:pt x="1117853" y="44450"/>
                </a:lnTo>
                <a:lnTo>
                  <a:pt x="1168653" y="44450"/>
                </a:lnTo>
                <a:lnTo>
                  <a:pt x="1181353" y="38100"/>
                </a:lnTo>
                <a:lnTo>
                  <a:pt x="1168653" y="317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079" y="3017520"/>
            <a:ext cx="5514339" cy="37211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120894" y="6832917"/>
            <a:ext cx="737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MS Gothic"/>
                <a:cs typeface="MS Gothic"/>
              </a:rPr>
              <a:t>ピン配置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3064" y="6770687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MS Gothic"/>
                <a:cs typeface="MS Gothic"/>
              </a:rPr>
              <a:t>サイズ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594" y="3216275"/>
            <a:ext cx="3180080" cy="2847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73935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Arial"/>
                <a:cs typeface="Arial"/>
              </a:rPr>
              <a:t>USB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MICRO-</a:t>
            </a:r>
            <a:r>
              <a:rPr sz="1050" spc="-50" dirty="0">
                <a:latin typeface="Arial"/>
                <a:cs typeface="Arial"/>
              </a:rPr>
              <a:t>B</a:t>
            </a:r>
            <a:endParaRPr sz="1050">
              <a:latin typeface="Arial"/>
              <a:cs typeface="Arial"/>
            </a:endParaRPr>
          </a:p>
          <a:p>
            <a:pPr marL="2273935">
              <a:lnSpc>
                <a:spcPct val="100000"/>
              </a:lnSpc>
              <a:spcBef>
                <a:spcPts val="20"/>
              </a:spcBef>
            </a:pPr>
            <a:r>
              <a:rPr sz="1050" spc="-20" dirty="0">
                <a:latin typeface="MS Gothic"/>
                <a:cs typeface="MS Gothic"/>
              </a:rPr>
              <a:t>コネクタ</a:t>
            </a:r>
            <a:endParaRPr sz="105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105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050">
              <a:latin typeface="MS Gothic"/>
              <a:cs typeface="MS Gothic"/>
            </a:endParaRPr>
          </a:p>
          <a:p>
            <a:pPr marL="974090">
              <a:lnSpc>
                <a:spcPts val="1230"/>
              </a:lnSpc>
            </a:pPr>
            <a:r>
              <a:rPr sz="1050" spc="-20" dirty="0">
                <a:latin typeface="MS Gothic"/>
                <a:cs typeface="MS Gothic"/>
              </a:rPr>
              <a:t>オンボード</a:t>
            </a:r>
            <a:endParaRPr sz="1050">
              <a:latin typeface="MS Gothic"/>
              <a:cs typeface="MS Gothic"/>
            </a:endParaRPr>
          </a:p>
          <a:p>
            <a:pPr marL="974090">
              <a:lnSpc>
                <a:spcPts val="1230"/>
              </a:lnSpc>
            </a:pPr>
            <a:r>
              <a:rPr sz="1050" spc="-25" dirty="0">
                <a:latin typeface="Arial"/>
                <a:cs typeface="Arial"/>
              </a:rPr>
              <a:t>LED</a:t>
            </a:r>
            <a:endParaRPr sz="1050">
              <a:latin typeface="Arial"/>
              <a:cs typeface="Arial"/>
            </a:endParaRPr>
          </a:p>
          <a:p>
            <a:pPr marL="671195" marR="1525905" indent="-57785">
              <a:lnSpc>
                <a:spcPts val="2590"/>
              </a:lnSpc>
              <a:spcBef>
                <a:spcPts val="275"/>
              </a:spcBef>
            </a:pPr>
            <a:r>
              <a:rPr sz="1050" spc="-10" dirty="0">
                <a:latin typeface="Arial"/>
                <a:cs typeface="Arial"/>
              </a:rPr>
              <a:t>BOOTSEL</a:t>
            </a:r>
            <a:r>
              <a:rPr sz="1050" spc="-20" dirty="0">
                <a:latin typeface="MS Gothic"/>
                <a:cs typeface="MS Gothic"/>
              </a:rPr>
              <a:t>ボタン</a:t>
            </a:r>
            <a:r>
              <a:rPr sz="1050" spc="-50" dirty="0">
                <a:latin typeface="MS Gothic"/>
                <a:cs typeface="MS Gothic"/>
              </a:rPr>
              <a:t> </a:t>
            </a:r>
            <a:r>
              <a:rPr sz="1050" spc="-20" dirty="0">
                <a:latin typeface="Arial"/>
                <a:cs typeface="Arial"/>
              </a:rPr>
              <a:t>Flash</a:t>
            </a:r>
            <a:r>
              <a:rPr sz="1050" spc="-20" dirty="0">
                <a:latin typeface="MS Gothic"/>
                <a:cs typeface="MS Gothic"/>
              </a:rPr>
              <a:t>メモリ</a:t>
            </a:r>
            <a:endParaRPr sz="1050">
              <a:latin typeface="MS Gothic"/>
              <a:cs typeface="MS Gothic"/>
            </a:endParaRPr>
          </a:p>
          <a:p>
            <a:pPr marL="671195">
              <a:lnSpc>
                <a:spcPts val="955"/>
              </a:lnSpc>
            </a:pPr>
            <a:r>
              <a:rPr sz="1050" dirty="0">
                <a:latin typeface="MS Gothic"/>
                <a:cs typeface="MS Gothic"/>
              </a:rPr>
              <a:t>２</a:t>
            </a:r>
            <a:r>
              <a:rPr sz="1050" dirty="0">
                <a:latin typeface="Arial"/>
                <a:cs typeface="Arial"/>
              </a:rPr>
              <a:t>M</a:t>
            </a:r>
            <a:r>
              <a:rPr sz="1050" spc="-20" dirty="0">
                <a:latin typeface="MS Gothic"/>
                <a:cs typeface="MS Gothic"/>
              </a:rPr>
              <a:t>バイト</a:t>
            </a:r>
            <a:endParaRPr sz="10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050" spc="-15" dirty="0">
                <a:latin typeface="MS Gothic"/>
                <a:cs typeface="MS Gothic"/>
              </a:rPr>
              <a:t>メインマイコン</a:t>
            </a:r>
            <a:r>
              <a:rPr sz="1050" spc="-10" dirty="0">
                <a:latin typeface="Arial"/>
                <a:cs typeface="Arial"/>
              </a:rPr>
              <a:t>RP2040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50">
              <a:latin typeface="Arial"/>
              <a:cs typeface="Arial"/>
            </a:endParaRPr>
          </a:p>
          <a:p>
            <a:pPr marL="704215">
              <a:lnSpc>
                <a:spcPts val="1230"/>
              </a:lnSpc>
            </a:pPr>
            <a:r>
              <a:rPr sz="1050" spc="-20" dirty="0">
                <a:latin typeface="MS Gothic"/>
                <a:cs typeface="MS Gothic"/>
              </a:rPr>
              <a:t>無線チップ</a:t>
            </a:r>
            <a:endParaRPr sz="1050">
              <a:latin typeface="MS Gothic"/>
              <a:cs typeface="MS Gothic"/>
            </a:endParaRPr>
          </a:p>
          <a:p>
            <a:pPr marL="704215">
              <a:lnSpc>
                <a:spcPts val="1230"/>
              </a:lnSpc>
            </a:pPr>
            <a:r>
              <a:rPr sz="1050" spc="-10" dirty="0">
                <a:latin typeface="Arial"/>
                <a:cs typeface="Arial"/>
              </a:rPr>
              <a:t>CYW43439</a:t>
            </a:r>
            <a:endParaRPr sz="1050">
              <a:latin typeface="Arial"/>
              <a:cs typeface="Arial"/>
            </a:endParaRPr>
          </a:p>
          <a:p>
            <a:pPr marL="704215">
              <a:lnSpc>
                <a:spcPct val="100000"/>
              </a:lnSpc>
              <a:spcBef>
                <a:spcPts val="20"/>
              </a:spcBef>
            </a:pPr>
            <a:r>
              <a:rPr sz="1050" spc="-25" dirty="0">
                <a:latin typeface="MS Gothic"/>
                <a:cs typeface="MS Gothic"/>
              </a:rPr>
              <a:t>金属ケース内</a:t>
            </a:r>
            <a:endParaRPr sz="1050">
              <a:latin typeface="MS Gothic"/>
              <a:cs typeface="MS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79625" y="5108321"/>
            <a:ext cx="917575" cy="130810"/>
          </a:xfrm>
          <a:custGeom>
            <a:avLst/>
            <a:gdLst/>
            <a:ahLst/>
            <a:cxnLst/>
            <a:rect l="l" t="t" r="r" b="b"/>
            <a:pathLst>
              <a:path w="917575" h="130810">
                <a:moveTo>
                  <a:pt x="840786" y="31530"/>
                </a:moveTo>
                <a:lnTo>
                  <a:pt x="0" y="118236"/>
                </a:lnTo>
                <a:lnTo>
                  <a:pt x="1269" y="130809"/>
                </a:lnTo>
                <a:lnTo>
                  <a:pt x="842083" y="44226"/>
                </a:lnTo>
                <a:lnTo>
                  <a:pt x="840786" y="31530"/>
                </a:lnTo>
                <a:close/>
              </a:path>
              <a:path w="917575" h="130810">
                <a:moveTo>
                  <a:pt x="917120" y="30225"/>
                </a:moveTo>
                <a:lnTo>
                  <a:pt x="853439" y="30225"/>
                </a:lnTo>
                <a:lnTo>
                  <a:pt x="854710" y="42925"/>
                </a:lnTo>
                <a:lnTo>
                  <a:pt x="842083" y="44226"/>
                </a:lnTo>
                <a:lnTo>
                  <a:pt x="845312" y="75818"/>
                </a:lnTo>
                <a:lnTo>
                  <a:pt x="917120" y="30225"/>
                </a:lnTo>
                <a:close/>
              </a:path>
              <a:path w="917575" h="130810">
                <a:moveTo>
                  <a:pt x="853439" y="30225"/>
                </a:moveTo>
                <a:lnTo>
                  <a:pt x="840786" y="31530"/>
                </a:lnTo>
                <a:lnTo>
                  <a:pt x="842083" y="44226"/>
                </a:lnTo>
                <a:lnTo>
                  <a:pt x="854710" y="42925"/>
                </a:lnTo>
                <a:lnTo>
                  <a:pt x="853439" y="30225"/>
                </a:lnTo>
                <a:close/>
              </a:path>
              <a:path w="917575" h="130810">
                <a:moveTo>
                  <a:pt x="837564" y="0"/>
                </a:moveTo>
                <a:lnTo>
                  <a:pt x="840786" y="31530"/>
                </a:lnTo>
                <a:lnTo>
                  <a:pt x="853439" y="30225"/>
                </a:lnTo>
                <a:lnTo>
                  <a:pt x="917120" y="30225"/>
                </a:lnTo>
                <a:lnTo>
                  <a:pt x="917320" y="30098"/>
                </a:lnTo>
                <a:lnTo>
                  <a:pt x="83756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3932" y="207962"/>
            <a:ext cx="60991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/>
              <a:t>「</a:t>
            </a:r>
            <a:r>
              <a:rPr sz="2800" dirty="0"/>
              <a:t>Raspberry</a:t>
            </a:r>
            <a:r>
              <a:rPr sz="2800" spc="-55" dirty="0"/>
              <a:t> </a:t>
            </a:r>
            <a:r>
              <a:rPr sz="2800" dirty="0"/>
              <a:t>Pi</a:t>
            </a:r>
            <a:r>
              <a:rPr sz="2800" spc="-10" dirty="0"/>
              <a:t> </a:t>
            </a:r>
            <a:r>
              <a:rPr sz="2800" dirty="0"/>
              <a:t>Pico</a:t>
            </a:r>
            <a:r>
              <a:rPr sz="2800" spc="-20" dirty="0"/>
              <a:t> </a:t>
            </a:r>
            <a:r>
              <a:rPr sz="2800" dirty="0"/>
              <a:t>W</a:t>
            </a:r>
            <a:r>
              <a:rPr sz="2800" spc="-30" dirty="0"/>
              <a:t>」の解説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089342" y="1293575"/>
            <a:ext cx="8753158" cy="144783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550"/>
              </a:spcBef>
              <a:buClr>
                <a:srgbClr val="375F92"/>
              </a:buClr>
              <a:buSzPct val="66666"/>
              <a:buFont typeface="Wingdings"/>
              <a:buChar char=""/>
              <a:tabLst>
                <a:tab pos="342265" algn="l"/>
              </a:tabLst>
            </a:pPr>
            <a:r>
              <a:rPr sz="2400" dirty="0">
                <a:latin typeface="MS PGothic"/>
                <a:cs typeface="MS PGothic"/>
              </a:rPr>
              <a:t>Raspberry</a:t>
            </a:r>
            <a:r>
              <a:rPr sz="2400" spc="-40" dirty="0">
                <a:latin typeface="MS PGothic"/>
                <a:cs typeface="MS PGothic"/>
              </a:rPr>
              <a:t> </a:t>
            </a:r>
            <a:r>
              <a:rPr sz="2400" dirty="0">
                <a:latin typeface="MS PGothic"/>
                <a:cs typeface="MS PGothic"/>
              </a:rPr>
              <a:t>Pi</a:t>
            </a:r>
            <a:r>
              <a:rPr sz="2400" spc="-20" dirty="0">
                <a:latin typeface="MS PGothic"/>
                <a:cs typeface="MS PGothic"/>
              </a:rPr>
              <a:t> </a:t>
            </a:r>
            <a:r>
              <a:rPr sz="2400" dirty="0">
                <a:latin typeface="MS PGothic"/>
                <a:cs typeface="MS PGothic"/>
              </a:rPr>
              <a:t>Pico</a:t>
            </a:r>
            <a:r>
              <a:rPr sz="2400" spc="-5" dirty="0">
                <a:latin typeface="MS PGothic"/>
                <a:cs typeface="MS PGothic"/>
              </a:rPr>
              <a:t> </a:t>
            </a:r>
            <a:r>
              <a:rPr sz="2400" spc="-30" dirty="0">
                <a:latin typeface="MS PGothic"/>
                <a:cs typeface="MS PGothic"/>
              </a:rPr>
              <a:t>W</a:t>
            </a:r>
            <a:r>
              <a:rPr sz="2400" b="1" spc="-15" dirty="0">
                <a:latin typeface="MS PGothic"/>
                <a:cs typeface="MS PGothic"/>
              </a:rPr>
              <a:t>を教材にした理由</a:t>
            </a:r>
            <a:endParaRPr sz="2400" dirty="0">
              <a:latin typeface="MS PGothic"/>
              <a:cs typeface="MS PGothic"/>
            </a:endParaRPr>
          </a:p>
          <a:p>
            <a:pPr marL="481965">
              <a:lnSpc>
                <a:spcPct val="100000"/>
              </a:lnSpc>
              <a:spcBef>
                <a:spcPts val="340"/>
              </a:spcBef>
              <a:tabLst>
                <a:tab pos="866140" algn="l"/>
              </a:tabLst>
            </a:pPr>
            <a:r>
              <a:rPr sz="1800" b="1" spc="-50" dirty="0">
                <a:solidFill>
                  <a:srgbClr val="1F2023"/>
                </a:solidFill>
                <a:latin typeface="MS PGothic"/>
                <a:cs typeface="MS PGothic"/>
              </a:rPr>
              <a:t>①</a:t>
            </a:r>
            <a:r>
              <a:rPr sz="1800" b="1" dirty="0">
                <a:solidFill>
                  <a:srgbClr val="1F2023"/>
                </a:solidFill>
                <a:latin typeface="MS PGothic"/>
                <a:cs typeface="MS PGothic"/>
              </a:rPr>
              <a:t>	</a:t>
            </a:r>
            <a:r>
              <a:rPr lang="en-US" sz="1800" b="1" dirty="0">
                <a:solidFill>
                  <a:srgbClr val="1F2023"/>
                </a:solidFill>
                <a:latin typeface="MS PGothic"/>
                <a:cs typeface="MS PGothic"/>
              </a:rPr>
              <a:t>Raspberry Pi Pico </a:t>
            </a:r>
            <a:r>
              <a:rPr lang="en-US" sz="1800" b="1" dirty="0" err="1">
                <a:solidFill>
                  <a:srgbClr val="1F2023"/>
                </a:solidFill>
                <a:latin typeface="MS PGothic"/>
                <a:cs typeface="MS PGothic"/>
              </a:rPr>
              <a:t>W</a:t>
            </a:r>
            <a:r>
              <a:rPr sz="1800" b="1" spc="-30" dirty="0" err="1">
                <a:solidFill>
                  <a:srgbClr val="1F2023"/>
                </a:solidFill>
                <a:latin typeface="MS PGothic"/>
                <a:cs typeface="MS PGothic"/>
              </a:rPr>
              <a:t>基板</a:t>
            </a:r>
            <a:r>
              <a:rPr lang="ja-JP" altLang="en-US" sz="1800" b="1" spc="-30" dirty="0">
                <a:solidFill>
                  <a:srgbClr val="1F2023"/>
                </a:solidFill>
                <a:latin typeface="MS PGothic"/>
                <a:cs typeface="MS PGothic"/>
              </a:rPr>
              <a:t>の</a:t>
            </a:r>
            <a:r>
              <a:rPr sz="1800" b="1" spc="-30" dirty="0" err="1">
                <a:solidFill>
                  <a:srgbClr val="1F2023"/>
                </a:solidFill>
                <a:latin typeface="MS PGothic"/>
                <a:cs typeface="MS PGothic"/>
              </a:rPr>
              <a:t>無線通信機能</a:t>
            </a:r>
            <a:r>
              <a:rPr lang="ja-JP" altLang="en-US" sz="1800" b="1" spc="-30" dirty="0">
                <a:solidFill>
                  <a:srgbClr val="1F2023"/>
                </a:solidFill>
                <a:latin typeface="MS PGothic"/>
                <a:cs typeface="MS PGothic"/>
              </a:rPr>
              <a:t>で</a:t>
            </a:r>
            <a:r>
              <a:rPr sz="1800" b="1" spc="-10" dirty="0" err="1">
                <a:solidFill>
                  <a:srgbClr val="1F2023"/>
                </a:solidFill>
                <a:latin typeface="Calibri"/>
                <a:cs typeface="Calibri"/>
              </a:rPr>
              <a:t>WiFi</a:t>
            </a:r>
            <a:r>
              <a:rPr sz="1800" b="1" spc="-15" dirty="0">
                <a:solidFill>
                  <a:srgbClr val="1F2023"/>
                </a:solidFill>
                <a:latin typeface="MS PGothic"/>
                <a:cs typeface="MS PGothic"/>
              </a:rPr>
              <a:t>、 </a:t>
            </a:r>
            <a:r>
              <a:rPr sz="1800" b="1" spc="-10" dirty="0" err="1">
                <a:solidFill>
                  <a:srgbClr val="1F2023"/>
                </a:solidFill>
                <a:latin typeface="Calibri"/>
                <a:cs typeface="Calibri"/>
              </a:rPr>
              <a:t>Blue</a:t>
            </a:r>
            <a:r>
              <a:rPr sz="1800" b="1" spc="-10" dirty="0" err="1">
                <a:solidFill>
                  <a:srgbClr val="1F2023"/>
                </a:solidFill>
                <a:latin typeface="MS PGothic"/>
                <a:cs typeface="MS PGothic"/>
              </a:rPr>
              <a:t>ｔ</a:t>
            </a:r>
            <a:r>
              <a:rPr sz="1800" b="1" spc="-10" dirty="0" err="1">
                <a:solidFill>
                  <a:srgbClr val="1F2023"/>
                </a:solidFill>
                <a:latin typeface="Calibri"/>
                <a:cs typeface="Calibri"/>
              </a:rPr>
              <a:t>ooth</a:t>
            </a:r>
            <a:r>
              <a:rPr sz="1800" b="1" spc="-20" dirty="0" err="1">
                <a:solidFill>
                  <a:srgbClr val="1F2023"/>
                </a:solidFill>
                <a:latin typeface="MS PGothic"/>
                <a:cs typeface="MS PGothic"/>
              </a:rPr>
              <a:t>を使</a:t>
            </a:r>
            <a:r>
              <a:rPr lang="ja-JP" altLang="en-US" sz="1800" b="1" spc="-20" dirty="0">
                <a:solidFill>
                  <a:srgbClr val="1F2023"/>
                </a:solidFill>
                <a:latin typeface="MS PGothic"/>
                <a:cs typeface="MS PGothic"/>
              </a:rPr>
              <a:t>う</a:t>
            </a:r>
            <a:r>
              <a:rPr sz="1800" b="1" spc="-20" dirty="0">
                <a:solidFill>
                  <a:srgbClr val="1F2023"/>
                </a:solidFill>
                <a:latin typeface="MS PGothic"/>
                <a:cs typeface="MS PGothic"/>
              </a:rPr>
              <a:t>。</a:t>
            </a:r>
            <a:endParaRPr sz="1800" dirty="0">
              <a:latin typeface="MS PGothic"/>
              <a:cs typeface="MS PGothic"/>
            </a:endParaRPr>
          </a:p>
          <a:p>
            <a:pPr marL="634365">
              <a:lnSpc>
                <a:spcPts val="1870"/>
              </a:lnSpc>
              <a:spcBef>
                <a:spcPts val="840"/>
              </a:spcBef>
            </a:pPr>
            <a:r>
              <a:rPr sz="1600" b="1" spc="-10" dirty="0" err="1">
                <a:solidFill>
                  <a:srgbClr val="1F2023"/>
                </a:solidFill>
                <a:latin typeface="MS PGothic"/>
                <a:cs typeface="MS PGothic"/>
              </a:rPr>
              <a:t>Ｗｉｆｉ</a:t>
            </a:r>
            <a:r>
              <a:rPr sz="1600" b="1" spc="-35" dirty="0" err="1">
                <a:solidFill>
                  <a:srgbClr val="1F2023"/>
                </a:solidFill>
                <a:latin typeface="MS PGothic"/>
                <a:cs typeface="MS PGothic"/>
              </a:rPr>
              <a:t>ではルータを介してインターネットに接続</a:t>
            </a:r>
            <a:r>
              <a:rPr lang="ja-JP" altLang="en-US" sz="1600" b="1" spc="-35" dirty="0">
                <a:solidFill>
                  <a:srgbClr val="1F2023"/>
                </a:solidFill>
                <a:latin typeface="MS PGothic"/>
                <a:cs typeface="MS PGothic"/>
              </a:rPr>
              <a:t>して、</a:t>
            </a:r>
            <a:r>
              <a:rPr sz="1600" b="1" spc="-35" dirty="0" err="1">
                <a:solidFill>
                  <a:srgbClr val="1F2023"/>
                </a:solidFill>
                <a:latin typeface="MS PGothic"/>
                <a:cs typeface="MS PGothic"/>
              </a:rPr>
              <a:t>計測データをクラウドに保存</a:t>
            </a:r>
            <a:r>
              <a:rPr lang="ja-JP" altLang="en-US" sz="1600" b="1" spc="-35" dirty="0">
                <a:solidFill>
                  <a:srgbClr val="1F2023"/>
                </a:solidFill>
                <a:latin typeface="MS PGothic"/>
                <a:cs typeface="MS PGothic"/>
              </a:rPr>
              <a:t>しま</a:t>
            </a:r>
            <a:endParaRPr lang="en-US" altLang="ja-JP" sz="1600" b="1" spc="-35" dirty="0">
              <a:solidFill>
                <a:srgbClr val="1F2023"/>
              </a:solidFill>
              <a:latin typeface="MS PGothic"/>
              <a:cs typeface="MS PGothic"/>
            </a:endParaRPr>
          </a:p>
          <a:p>
            <a:pPr marL="634365">
              <a:lnSpc>
                <a:spcPts val="1870"/>
              </a:lnSpc>
              <a:spcBef>
                <a:spcPts val="840"/>
              </a:spcBef>
            </a:pPr>
            <a:r>
              <a:rPr lang="ja-JP" altLang="en-US" sz="1600" b="1" spc="-35" dirty="0">
                <a:solidFill>
                  <a:srgbClr val="1F2023"/>
                </a:solidFill>
                <a:latin typeface="MS PGothic"/>
                <a:cs typeface="MS PGothic"/>
              </a:rPr>
              <a:t>す。</a:t>
            </a:r>
            <a:r>
              <a:rPr lang="ja-JP" altLang="en-US" sz="1600" b="1" dirty="0">
                <a:solidFill>
                  <a:srgbClr val="1F2023"/>
                </a:solidFill>
                <a:latin typeface="Calibri"/>
                <a:cs typeface="Calibri"/>
              </a:rPr>
              <a:t>つまり、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IoT(Internet</a:t>
            </a:r>
            <a:r>
              <a:rPr sz="1600" b="1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1600" b="1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F2023"/>
                </a:solidFill>
                <a:latin typeface="Calibri"/>
                <a:cs typeface="Calibri"/>
              </a:rPr>
              <a:t>Things)</a:t>
            </a:r>
            <a:r>
              <a:rPr sz="1600" b="1" spc="-20" dirty="0" err="1">
                <a:solidFill>
                  <a:srgbClr val="1F2023"/>
                </a:solidFill>
                <a:latin typeface="MS PGothic"/>
                <a:cs typeface="MS PGothic"/>
              </a:rPr>
              <a:t>ができ</a:t>
            </a:r>
            <a:r>
              <a:rPr lang="ja-JP" altLang="en-US" sz="1600" b="1" spc="-20" dirty="0">
                <a:solidFill>
                  <a:srgbClr val="1F2023"/>
                </a:solidFill>
                <a:latin typeface="MS PGothic"/>
                <a:cs typeface="MS PGothic"/>
              </a:rPr>
              <a:t>ます</a:t>
            </a:r>
            <a:r>
              <a:rPr sz="1600" b="1" spc="-20" dirty="0">
                <a:solidFill>
                  <a:srgbClr val="1F2023"/>
                </a:solidFill>
                <a:latin typeface="MS PGothic"/>
                <a:cs typeface="MS PGothic"/>
              </a:rPr>
              <a:t>。</a:t>
            </a:r>
            <a:endParaRPr sz="1600" dirty="0">
              <a:latin typeface="MS PGothic"/>
              <a:cs typeface="MS P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5976" y="3418283"/>
            <a:ext cx="1536700" cy="1023619"/>
            <a:chOff x="4678679" y="2776220"/>
            <a:chExt cx="1536700" cy="102361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8679" y="2776220"/>
              <a:ext cx="848360" cy="1023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72759" y="3182620"/>
              <a:ext cx="629920" cy="210820"/>
            </a:xfrm>
            <a:custGeom>
              <a:avLst/>
              <a:gdLst/>
              <a:ahLst/>
              <a:cxnLst/>
              <a:rect l="l" t="t" r="r" b="b"/>
              <a:pathLst>
                <a:path w="629920" h="210820">
                  <a:moveTo>
                    <a:pt x="105410" y="0"/>
                  </a:moveTo>
                  <a:lnTo>
                    <a:pt x="0" y="105410"/>
                  </a:lnTo>
                  <a:lnTo>
                    <a:pt x="105410" y="210820"/>
                  </a:lnTo>
                  <a:lnTo>
                    <a:pt x="105410" y="158114"/>
                  </a:lnTo>
                  <a:lnTo>
                    <a:pt x="629919" y="158114"/>
                  </a:lnTo>
                  <a:lnTo>
                    <a:pt x="629919" y="52705"/>
                  </a:lnTo>
                  <a:lnTo>
                    <a:pt x="105410" y="52705"/>
                  </a:lnTo>
                  <a:lnTo>
                    <a:pt x="10541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72759" y="3182620"/>
              <a:ext cx="629920" cy="210820"/>
            </a:xfrm>
            <a:custGeom>
              <a:avLst/>
              <a:gdLst/>
              <a:ahLst/>
              <a:cxnLst/>
              <a:rect l="l" t="t" r="r" b="b"/>
              <a:pathLst>
                <a:path w="629920" h="210820">
                  <a:moveTo>
                    <a:pt x="0" y="105410"/>
                  </a:moveTo>
                  <a:lnTo>
                    <a:pt x="105410" y="0"/>
                  </a:lnTo>
                  <a:lnTo>
                    <a:pt x="105410" y="52705"/>
                  </a:lnTo>
                  <a:lnTo>
                    <a:pt x="629919" y="52705"/>
                  </a:lnTo>
                  <a:lnTo>
                    <a:pt x="629919" y="158114"/>
                  </a:lnTo>
                  <a:lnTo>
                    <a:pt x="105410" y="158114"/>
                  </a:lnTo>
                  <a:lnTo>
                    <a:pt x="105410" y="210820"/>
                  </a:lnTo>
                  <a:lnTo>
                    <a:pt x="0" y="10541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3700" y="3490061"/>
            <a:ext cx="1441450" cy="95775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778568" y="3863528"/>
            <a:ext cx="632460" cy="210820"/>
          </a:xfrm>
          <a:custGeom>
            <a:avLst/>
            <a:gdLst/>
            <a:ahLst/>
            <a:cxnLst/>
            <a:rect l="l" t="t" r="r" b="b"/>
            <a:pathLst>
              <a:path w="632460" h="210820">
                <a:moveTo>
                  <a:pt x="0" y="105410"/>
                </a:moveTo>
                <a:lnTo>
                  <a:pt x="105409" y="0"/>
                </a:lnTo>
                <a:lnTo>
                  <a:pt x="105409" y="52705"/>
                </a:lnTo>
                <a:lnTo>
                  <a:pt x="632459" y="52705"/>
                </a:lnTo>
                <a:lnTo>
                  <a:pt x="632459" y="158114"/>
                </a:lnTo>
                <a:lnTo>
                  <a:pt x="105409" y="158114"/>
                </a:lnTo>
                <a:lnTo>
                  <a:pt x="105409" y="210820"/>
                </a:lnTo>
                <a:lnTo>
                  <a:pt x="0" y="105410"/>
                </a:lnTo>
                <a:close/>
              </a:path>
            </a:pathLst>
          </a:custGeom>
          <a:ln w="25400">
            <a:solidFill>
              <a:srgbClr val="1C334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3768" y="3566348"/>
            <a:ext cx="1529080" cy="80517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6964" y="3366943"/>
            <a:ext cx="623293" cy="1430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5680" y="4267200"/>
            <a:ext cx="2827020" cy="200151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62025" y="6444932"/>
            <a:ext cx="4116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MS Gothic"/>
                <a:cs typeface="MS Gothic"/>
              </a:rPr>
              <a:t>クラウドにデータを送ってグラフ化できる</a:t>
            </a:r>
            <a:r>
              <a:rPr sz="1800" spc="-50" dirty="0">
                <a:latin typeface="MS Gothic"/>
                <a:cs typeface="MS Gothic"/>
              </a:rPr>
              <a:t>。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193B450-E47C-0C85-1047-E8F197D7623A}"/>
              </a:ext>
            </a:extLst>
          </p:cNvPr>
          <p:cNvSpPr txBox="1"/>
          <p:nvPr/>
        </p:nvSpPr>
        <p:spPr>
          <a:xfrm>
            <a:off x="4496858" y="4630077"/>
            <a:ext cx="103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ルータ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61B01A0-D33D-2910-FFBC-08784AAB170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925944" y="3968938"/>
            <a:ext cx="1087756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E7689FF-2F05-A93A-705D-167A40028BB9}"/>
              </a:ext>
            </a:extLst>
          </p:cNvPr>
          <p:cNvSpPr txBox="1"/>
          <p:nvPr/>
        </p:nvSpPr>
        <p:spPr>
          <a:xfrm>
            <a:off x="6954202" y="4614158"/>
            <a:ext cx="157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デバッグ通信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9178" y="1380419"/>
            <a:ext cx="7597522" cy="732893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spcBef>
                <a:spcPts val="655"/>
              </a:spcBef>
              <a:tabLst>
                <a:tab pos="396240" algn="l"/>
              </a:tabLst>
            </a:pPr>
            <a:r>
              <a:rPr sz="1800" b="1" spc="-50" dirty="0">
                <a:solidFill>
                  <a:srgbClr val="1F2023"/>
                </a:solidFill>
                <a:latin typeface="MS PGothic"/>
                <a:cs typeface="MS PGothic"/>
              </a:rPr>
              <a:t>②</a:t>
            </a:r>
            <a:r>
              <a:rPr sz="1800" b="1" dirty="0">
                <a:solidFill>
                  <a:srgbClr val="1F2023"/>
                </a:solidFill>
                <a:latin typeface="MS PGothic"/>
                <a:cs typeface="MS PGothic"/>
              </a:rPr>
              <a:t>	</a:t>
            </a:r>
            <a:r>
              <a:rPr lang="ja-JP" altLang="en-US" sz="2000" b="1" spc="-25" dirty="0">
                <a:solidFill>
                  <a:srgbClr val="1F2023"/>
                </a:solidFill>
                <a:latin typeface="MS PGothic"/>
                <a:cs typeface="MS PGothic"/>
              </a:rPr>
              <a:t>スマホにスイッチ画面を配置して基板の</a:t>
            </a:r>
            <a:r>
              <a:rPr lang="en-US" altLang="ja-JP" sz="2000" b="1" spc="-20" dirty="0">
                <a:solidFill>
                  <a:srgbClr val="1F2023"/>
                </a:solidFill>
                <a:latin typeface="Calibri"/>
                <a:cs typeface="Calibri"/>
              </a:rPr>
              <a:t>LED</a:t>
            </a:r>
            <a:r>
              <a:rPr lang="ja-JP" altLang="en-US" sz="2000" b="1" spc="-30" dirty="0">
                <a:solidFill>
                  <a:srgbClr val="1F2023"/>
                </a:solidFill>
                <a:latin typeface="MS PGothic"/>
                <a:cs typeface="MS PGothic"/>
              </a:rPr>
              <a:t>を点滅させるなど。</a:t>
            </a:r>
            <a:endParaRPr sz="2000" dirty="0">
              <a:latin typeface="MS PGothic"/>
              <a:cs typeface="MS PGothic"/>
            </a:endParaRPr>
          </a:p>
          <a:p>
            <a:pPr marL="370840">
              <a:lnSpc>
                <a:spcPct val="100000"/>
              </a:lnSpc>
              <a:spcBef>
                <a:spcPts val="500"/>
              </a:spcBef>
            </a:pPr>
            <a:r>
              <a:rPr sz="1800" b="1" spc="-25" dirty="0" err="1">
                <a:solidFill>
                  <a:srgbClr val="1F2023"/>
                </a:solidFill>
                <a:latin typeface="MS PGothic"/>
                <a:cs typeface="MS PGothic"/>
              </a:rPr>
              <a:t>スマホ</a:t>
            </a:r>
            <a:r>
              <a:rPr lang="ja-JP" altLang="en-US" sz="1800" b="1" spc="-25" dirty="0">
                <a:solidFill>
                  <a:srgbClr val="1F2023"/>
                </a:solidFill>
                <a:latin typeface="MS PGothic"/>
                <a:cs typeface="MS PGothic"/>
              </a:rPr>
              <a:t>を操作</a:t>
            </a:r>
            <a:r>
              <a:rPr sz="1800" b="1" spc="-25" dirty="0" err="1">
                <a:solidFill>
                  <a:srgbClr val="1F2023"/>
                </a:solidFill>
                <a:latin typeface="MS PGothic"/>
                <a:cs typeface="MS PGothic"/>
              </a:rPr>
              <a:t>スイッチ</a:t>
            </a:r>
            <a:r>
              <a:rPr lang="ja-JP" altLang="en-US" sz="1800" b="1" spc="-25" dirty="0">
                <a:solidFill>
                  <a:srgbClr val="1F2023"/>
                </a:solidFill>
                <a:latin typeface="MS PGothic"/>
                <a:cs typeface="MS PGothic"/>
              </a:rPr>
              <a:t>にできます。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9178" y="4512705"/>
            <a:ext cx="8288020" cy="16921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396240" algn="l"/>
              </a:tabLst>
            </a:pPr>
            <a:r>
              <a:rPr sz="1800" b="1" spc="-50" dirty="0">
                <a:solidFill>
                  <a:srgbClr val="1F2023"/>
                </a:solidFill>
                <a:latin typeface="MS PGothic"/>
                <a:cs typeface="MS PGothic"/>
              </a:rPr>
              <a:t>③</a:t>
            </a:r>
            <a:r>
              <a:rPr sz="1800" b="1" dirty="0">
                <a:solidFill>
                  <a:srgbClr val="1F2023"/>
                </a:solidFill>
                <a:latin typeface="MS PGothic"/>
                <a:cs typeface="MS PGothic"/>
              </a:rPr>
              <a:t>	「</a:t>
            </a:r>
            <a:r>
              <a:rPr sz="2000" b="1" dirty="0">
                <a:solidFill>
                  <a:srgbClr val="1F2023"/>
                </a:solidFill>
                <a:latin typeface="Calibri"/>
                <a:cs typeface="Calibri"/>
              </a:rPr>
              <a:t>Raspberry Pi</a:t>
            </a:r>
            <a:r>
              <a:rPr sz="2000" b="1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2023"/>
                </a:solidFill>
                <a:latin typeface="Calibri"/>
                <a:cs typeface="Calibri"/>
              </a:rPr>
              <a:t>Pico</a:t>
            </a:r>
            <a:r>
              <a:rPr sz="2000" b="1" spc="1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b="1" dirty="0" err="1">
                <a:solidFill>
                  <a:srgbClr val="1F2023"/>
                </a:solidFill>
                <a:latin typeface="Calibri"/>
                <a:cs typeface="Calibri"/>
              </a:rPr>
              <a:t>W</a:t>
            </a:r>
            <a:r>
              <a:rPr sz="2000" b="1" spc="-35" dirty="0" err="1">
                <a:solidFill>
                  <a:srgbClr val="1F2023"/>
                </a:solidFill>
                <a:latin typeface="MS PGothic"/>
                <a:cs typeface="MS PGothic"/>
              </a:rPr>
              <a:t>」は乾電池でも</a:t>
            </a:r>
            <a:r>
              <a:rPr lang="ja-JP" altLang="en-US" sz="2000" b="1" spc="-35" dirty="0">
                <a:solidFill>
                  <a:srgbClr val="1F2023"/>
                </a:solidFill>
                <a:latin typeface="MS PGothic"/>
                <a:cs typeface="MS PGothic"/>
              </a:rPr>
              <a:t>動作。</a:t>
            </a:r>
            <a:endParaRPr sz="2000" dirty="0">
              <a:latin typeface="MS PGothic"/>
              <a:cs typeface="MS PGothic"/>
            </a:endParaRPr>
          </a:p>
          <a:p>
            <a:pPr marL="622300">
              <a:lnSpc>
                <a:spcPct val="100000"/>
              </a:lnSpc>
              <a:spcBef>
                <a:spcPts val="505"/>
              </a:spcBef>
            </a:pP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Raspberry</a:t>
            </a:r>
            <a:r>
              <a:rPr sz="1800" b="1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Pi</a:t>
            </a:r>
            <a:r>
              <a:rPr sz="1800" b="1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Pico</a:t>
            </a:r>
            <a:r>
              <a:rPr sz="1800" b="1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1800" b="1" spc="-10" dirty="0" err="1">
                <a:solidFill>
                  <a:srgbClr val="1F2023"/>
                </a:solidFill>
                <a:latin typeface="Calibri"/>
                <a:cs typeface="Calibri"/>
              </a:rPr>
              <a:t>W</a:t>
            </a:r>
            <a:r>
              <a:rPr sz="1800" b="1" spc="-35" dirty="0" err="1">
                <a:solidFill>
                  <a:srgbClr val="1F2023"/>
                </a:solidFill>
                <a:latin typeface="MS PGothic"/>
                <a:cs typeface="MS PGothic"/>
              </a:rPr>
              <a:t>基板の消費電力が小さいので乾電池で駆動</a:t>
            </a:r>
            <a:r>
              <a:rPr lang="ja-JP" altLang="en-US" sz="1800" b="1" spc="-35" dirty="0">
                <a:solidFill>
                  <a:srgbClr val="1F2023"/>
                </a:solidFill>
                <a:latin typeface="MS PGothic"/>
                <a:cs typeface="MS PGothic"/>
              </a:rPr>
              <a:t>できます。</a:t>
            </a:r>
            <a:endParaRPr sz="1800" dirty="0">
              <a:latin typeface="MS PGothic"/>
              <a:cs typeface="MS PGothic"/>
            </a:endParaRPr>
          </a:p>
          <a:p>
            <a:pPr marL="469900" marR="5080">
              <a:lnSpc>
                <a:spcPct val="100000"/>
              </a:lnSpc>
              <a:spcBef>
                <a:spcPts val="500"/>
              </a:spcBef>
            </a:pPr>
            <a:r>
              <a:rPr sz="1800" b="1" dirty="0">
                <a:solidFill>
                  <a:srgbClr val="1F2023"/>
                </a:solidFill>
                <a:latin typeface="MS PGothic"/>
                <a:cs typeface="MS PGothic"/>
              </a:rPr>
              <a:t>数個の</a:t>
            </a:r>
            <a:r>
              <a:rPr sz="1800" b="1" dirty="0">
                <a:solidFill>
                  <a:srgbClr val="1F2023"/>
                </a:solidFill>
                <a:latin typeface="Calibri"/>
                <a:cs typeface="Calibri"/>
              </a:rPr>
              <a:t>Raspberry Pi Pico 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W</a:t>
            </a:r>
            <a:r>
              <a:rPr sz="1800" b="1" spc="-40" dirty="0">
                <a:solidFill>
                  <a:srgbClr val="1F2023"/>
                </a:solidFill>
                <a:latin typeface="MS PGothic"/>
                <a:cs typeface="MS PGothic"/>
              </a:rPr>
              <a:t>基板を部屋の色々な場所に置いて気温を計測します。</a:t>
            </a:r>
            <a:r>
              <a:rPr sz="1800" b="1" spc="-20" dirty="0">
                <a:solidFill>
                  <a:srgbClr val="1F2023"/>
                </a:solidFill>
                <a:latin typeface="MS PGothic"/>
                <a:cs typeface="MS PGothic"/>
              </a:rPr>
              <a:t>無線機能で気温データを</a:t>
            </a:r>
            <a:r>
              <a:rPr sz="1800" b="1" spc="-10" dirty="0">
                <a:solidFill>
                  <a:srgbClr val="1F2023"/>
                </a:solidFill>
                <a:latin typeface="Calibri"/>
                <a:cs typeface="Calibri"/>
              </a:rPr>
              <a:t>PC</a:t>
            </a:r>
            <a:r>
              <a:rPr sz="1800" b="1" spc="-30" dirty="0">
                <a:solidFill>
                  <a:srgbClr val="1F2023"/>
                </a:solidFill>
                <a:latin typeface="MS PGothic"/>
                <a:cs typeface="MS PGothic"/>
              </a:rPr>
              <a:t>に送ることができます。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1800" b="1" spc="-35" dirty="0">
                <a:solidFill>
                  <a:srgbClr val="1F2023"/>
                </a:solidFill>
                <a:latin typeface="MS PGothic"/>
                <a:cs typeface="MS PGothic"/>
              </a:rPr>
              <a:t>部屋にあるクーラーの冷房機能も知ることができます。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5227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「</a:t>
            </a:r>
            <a:r>
              <a:rPr dirty="0"/>
              <a:t>Raspberry</a:t>
            </a:r>
            <a:r>
              <a:rPr spc="-65" dirty="0"/>
              <a:t> </a:t>
            </a:r>
            <a:r>
              <a:rPr dirty="0"/>
              <a:t>Pi</a:t>
            </a:r>
            <a:r>
              <a:rPr spc="-20" dirty="0"/>
              <a:t> </a:t>
            </a:r>
            <a:r>
              <a:rPr dirty="0"/>
              <a:t>Pico</a:t>
            </a:r>
            <a:r>
              <a:rPr spc="-30" dirty="0"/>
              <a:t> </a:t>
            </a:r>
            <a:r>
              <a:rPr dirty="0"/>
              <a:t>W</a:t>
            </a:r>
            <a:r>
              <a:rPr spc="-20" dirty="0"/>
              <a:t>」の解説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0300" y="5707380"/>
            <a:ext cx="1752600" cy="138684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70604" y="2209730"/>
            <a:ext cx="1155065" cy="2098675"/>
            <a:chOff x="2270604" y="2209730"/>
            <a:chExt cx="1155065" cy="20986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0604" y="2209730"/>
              <a:ext cx="1154663" cy="20981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3319" y="2611120"/>
              <a:ext cx="899159" cy="87376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6559" y="2296160"/>
            <a:ext cx="873760" cy="19761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4459" y="3366770"/>
            <a:ext cx="864586" cy="62230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005579" y="2750820"/>
            <a:ext cx="838200" cy="350520"/>
            <a:chOff x="4005579" y="2750820"/>
            <a:chExt cx="838200" cy="350520"/>
          </a:xfrm>
        </p:grpSpPr>
        <p:sp>
          <p:nvSpPr>
            <p:cNvPr id="12" name="object 12"/>
            <p:cNvSpPr/>
            <p:nvPr/>
          </p:nvSpPr>
          <p:spPr>
            <a:xfrm>
              <a:off x="4018279" y="2763520"/>
              <a:ext cx="812800" cy="325120"/>
            </a:xfrm>
            <a:custGeom>
              <a:avLst/>
              <a:gdLst/>
              <a:ahLst/>
              <a:cxnLst/>
              <a:rect l="l" t="t" r="r" b="b"/>
              <a:pathLst>
                <a:path w="812800" h="325119">
                  <a:moveTo>
                    <a:pt x="650240" y="0"/>
                  </a:moveTo>
                  <a:lnTo>
                    <a:pt x="650240" y="81280"/>
                  </a:lnTo>
                  <a:lnTo>
                    <a:pt x="0" y="81280"/>
                  </a:lnTo>
                  <a:lnTo>
                    <a:pt x="0" y="243839"/>
                  </a:lnTo>
                  <a:lnTo>
                    <a:pt x="650240" y="243839"/>
                  </a:lnTo>
                  <a:lnTo>
                    <a:pt x="650240" y="325120"/>
                  </a:lnTo>
                  <a:lnTo>
                    <a:pt x="812800" y="162560"/>
                  </a:lnTo>
                  <a:lnTo>
                    <a:pt x="6502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18279" y="2763520"/>
              <a:ext cx="812800" cy="325120"/>
            </a:xfrm>
            <a:custGeom>
              <a:avLst/>
              <a:gdLst/>
              <a:ahLst/>
              <a:cxnLst/>
              <a:rect l="l" t="t" r="r" b="b"/>
              <a:pathLst>
                <a:path w="812800" h="325119">
                  <a:moveTo>
                    <a:pt x="812800" y="162560"/>
                  </a:moveTo>
                  <a:lnTo>
                    <a:pt x="650240" y="0"/>
                  </a:lnTo>
                  <a:lnTo>
                    <a:pt x="650240" y="81280"/>
                  </a:lnTo>
                  <a:lnTo>
                    <a:pt x="0" y="81280"/>
                  </a:lnTo>
                  <a:lnTo>
                    <a:pt x="0" y="243839"/>
                  </a:lnTo>
                  <a:lnTo>
                    <a:pt x="650240" y="243839"/>
                  </a:lnTo>
                  <a:lnTo>
                    <a:pt x="650240" y="325120"/>
                  </a:lnTo>
                  <a:lnTo>
                    <a:pt x="812800" y="162560"/>
                  </a:lnTo>
                  <a:close/>
                </a:path>
              </a:pathLst>
            </a:custGeom>
            <a:ln w="25399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1260" y="1359154"/>
            <a:ext cx="8450580" cy="861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sz="2000" dirty="0">
                <a:latin typeface="MS PGothic"/>
                <a:cs typeface="MS PGothic"/>
              </a:rPr>
              <a:t>Raspberry</a:t>
            </a:r>
            <a:r>
              <a:rPr sz="2000" spc="-6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-1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 </a:t>
            </a:r>
            <a:r>
              <a:rPr sz="2000" spc="-50" dirty="0">
                <a:latin typeface="MS PGothic"/>
                <a:cs typeface="MS PGothic"/>
              </a:rPr>
              <a:t>W</a:t>
            </a:r>
            <a:endParaRPr sz="2000" dirty="0">
              <a:latin typeface="MS PGothic"/>
              <a:cs typeface="MS PGothic"/>
            </a:endParaRPr>
          </a:p>
          <a:p>
            <a:pPr marL="622300"/>
            <a:r>
              <a:rPr lang="ja-JP" altLang="en-US" sz="1800" spc="-20" dirty="0">
                <a:solidFill>
                  <a:srgbClr val="374151"/>
                </a:solidFill>
                <a:latin typeface="MS PGothic"/>
                <a:cs typeface="MS PGothic"/>
              </a:rPr>
              <a:t>ブレッドボードに</a:t>
            </a:r>
            <a:r>
              <a:rPr lang="en-US" altLang="ja-JP" sz="1800" dirty="0">
                <a:latin typeface="MS PGothic"/>
                <a:cs typeface="MS PGothic"/>
              </a:rPr>
              <a:t>Raspberry</a:t>
            </a:r>
            <a:r>
              <a:rPr lang="en-US" altLang="ja-JP" sz="1800" spc="-60" dirty="0">
                <a:latin typeface="MS PGothic"/>
                <a:cs typeface="MS PGothic"/>
              </a:rPr>
              <a:t> </a:t>
            </a:r>
            <a:r>
              <a:rPr lang="en-US" altLang="ja-JP" sz="1800" dirty="0">
                <a:latin typeface="MS PGothic"/>
                <a:cs typeface="MS PGothic"/>
              </a:rPr>
              <a:t>Pi</a:t>
            </a:r>
            <a:r>
              <a:rPr lang="en-US" altLang="ja-JP" sz="1800" spc="-10" dirty="0">
                <a:latin typeface="MS PGothic"/>
                <a:cs typeface="MS PGothic"/>
              </a:rPr>
              <a:t> </a:t>
            </a:r>
            <a:r>
              <a:rPr lang="en-US" altLang="ja-JP" sz="1800" dirty="0">
                <a:latin typeface="MS PGothic"/>
                <a:cs typeface="MS PGothic"/>
              </a:rPr>
              <a:t>Pico </a:t>
            </a:r>
            <a:r>
              <a:rPr lang="en-US" altLang="ja-JP" sz="1800" spc="-50" dirty="0">
                <a:latin typeface="MS PGothic"/>
                <a:cs typeface="MS PGothic"/>
              </a:rPr>
              <a:t>W</a:t>
            </a:r>
            <a:r>
              <a:rPr lang="ja-JP" altLang="en-US" spc="-20" dirty="0">
                <a:solidFill>
                  <a:srgbClr val="374151"/>
                </a:solidFill>
                <a:latin typeface="MS PGothic"/>
                <a:cs typeface="MS PGothic"/>
              </a:rPr>
              <a:t>を載せます。載せ方を間違えるとﾋﾟﾝが折れます。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1260" y="3981450"/>
            <a:ext cx="7959090" cy="879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20" dirty="0">
                <a:latin typeface="MS PGothic"/>
                <a:cs typeface="MS PGothic"/>
              </a:rPr>
              <a:t>USB</a:t>
            </a:r>
            <a:r>
              <a:rPr sz="2000" spc="-35" dirty="0">
                <a:latin typeface="MS PGothic"/>
                <a:cs typeface="MS PGothic"/>
              </a:rPr>
              <a:t>ケーブル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sz="1800" spc="-30" dirty="0">
                <a:latin typeface="MS PGothic"/>
                <a:cs typeface="MS PGothic"/>
              </a:rPr>
              <a:t>片方のコネクタが</a:t>
            </a:r>
            <a:r>
              <a:rPr sz="1800" dirty="0">
                <a:latin typeface="MS PGothic"/>
                <a:cs typeface="MS PGothic"/>
              </a:rPr>
              <a:t>Micro</a:t>
            </a:r>
            <a:r>
              <a:rPr sz="1800" spc="20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USB</a:t>
            </a:r>
            <a:r>
              <a:rPr sz="1800" spc="35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Type-</a:t>
            </a:r>
            <a:r>
              <a:rPr sz="1800" spc="-30" dirty="0">
                <a:latin typeface="MS PGothic"/>
                <a:cs typeface="MS PGothic"/>
              </a:rPr>
              <a:t>B、反対側のコネクタが</a:t>
            </a:r>
            <a:r>
              <a:rPr sz="1800" dirty="0">
                <a:latin typeface="MS PGothic"/>
                <a:cs typeface="MS PGothic"/>
              </a:rPr>
              <a:t>Type</a:t>
            </a:r>
            <a:r>
              <a:rPr sz="1800" spc="25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A</a:t>
            </a:r>
            <a:r>
              <a:rPr sz="1800" spc="-30" dirty="0">
                <a:latin typeface="MS PGothic"/>
                <a:cs typeface="MS PGothic"/>
              </a:rPr>
              <a:t>のケーブル。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sz="1800" spc="-40" dirty="0">
                <a:latin typeface="MS PGothic"/>
                <a:cs typeface="MS PGothic"/>
              </a:rPr>
              <a:t>充電用で信号線のない</a:t>
            </a:r>
            <a:r>
              <a:rPr lang="ja-JP" altLang="en-US" sz="1800" dirty="0">
                <a:latin typeface="MS PGothic"/>
                <a:cs typeface="MS PGothic"/>
              </a:rPr>
              <a:t>ものもあるので要注意です。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260" y="5172964"/>
            <a:ext cx="5803900" cy="872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30" dirty="0" err="1">
                <a:latin typeface="MS PGothic"/>
                <a:cs typeface="MS PGothic"/>
              </a:rPr>
              <a:t>ブレッドボード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sz="1800" spc="-25" dirty="0" err="1">
                <a:latin typeface="MS PGothic"/>
                <a:cs typeface="MS PGothic"/>
              </a:rPr>
              <a:t>部品を載せたり配線をするためのボード</a:t>
            </a:r>
            <a:r>
              <a:rPr sz="1800" spc="-25" dirty="0">
                <a:latin typeface="MS PGothic"/>
                <a:cs typeface="MS PGothic"/>
              </a:rPr>
              <a:t>。</a:t>
            </a:r>
            <a:endParaRPr lang="en-US" sz="1800" spc="-2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ja-JP" altLang="en-US" dirty="0">
                <a:latin typeface="MS PGothic"/>
                <a:cs typeface="MS PGothic"/>
              </a:rPr>
              <a:t>第２回目以降で使用します。</a:t>
            </a:r>
            <a:endParaRPr sz="1800" dirty="0">
              <a:latin typeface="MS PGothic"/>
              <a:cs typeface="MS P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4059" y="5661660"/>
            <a:ext cx="1953260" cy="13639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34671" y="271025"/>
            <a:ext cx="3882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MS PGothic"/>
                <a:cs typeface="MS PGothic"/>
              </a:rPr>
              <a:t>「</a:t>
            </a:r>
            <a:r>
              <a:rPr sz="2400" b="1" dirty="0">
                <a:latin typeface="MS PGothic"/>
                <a:cs typeface="MS PGothic"/>
              </a:rPr>
              <a:t>Raspberry</a:t>
            </a:r>
            <a:r>
              <a:rPr sz="2400" b="1" spc="-80" dirty="0">
                <a:latin typeface="MS PGothic"/>
                <a:cs typeface="MS PGothic"/>
              </a:rPr>
              <a:t> </a:t>
            </a:r>
            <a:r>
              <a:rPr sz="2400" b="1" dirty="0">
                <a:latin typeface="MS PGothic"/>
                <a:cs typeface="MS PGothic"/>
              </a:rPr>
              <a:t>Pi</a:t>
            </a:r>
            <a:r>
              <a:rPr sz="2400" b="1" spc="-20" dirty="0">
                <a:latin typeface="MS PGothic"/>
                <a:cs typeface="MS PGothic"/>
              </a:rPr>
              <a:t> </a:t>
            </a:r>
            <a:r>
              <a:rPr sz="2400" b="1" dirty="0">
                <a:latin typeface="MS PGothic"/>
                <a:cs typeface="MS PGothic"/>
              </a:rPr>
              <a:t>Pico</a:t>
            </a:r>
            <a:r>
              <a:rPr sz="2400" b="1" spc="-40" dirty="0">
                <a:latin typeface="MS PGothic"/>
                <a:cs typeface="MS PGothic"/>
              </a:rPr>
              <a:t> </a:t>
            </a:r>
            <a:r>
              <a:rPr sz="2400" b="1" dirty="0">
                <a:latin typeface="MS PGothic"/>
                <a:cs typeface="MS PGothic"/>
              </a:rPr>
              <a:t>W</a:t>
            </a:r>
            <a:r>
              <a:rPr sz="2400" b="1" spc="-20" dirty="0">
                <a:latin typeface="MS PGothic"/>
                <a:cs typeface="MS PGothic"/>
              </a:rPr>
              <a:t>」の解説</a:t>
            </a:r>
            <a:endParaRPr sz="2400" dirty="0">
              <a:latin typeface="MS PGothic"/>
              <a:cs typeface="MS P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9100" y="2655332"/>
            <a:ext cx="1295400" cy="8763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89100" y="3614866"/>
            <a:ext cx="1981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S Gothic"/>
                <a:cs typeface="MS Gothic"/>
              </a:rPr>
              <a:t>実装（はんだ付け）</a:t>
            </a:r>
            <a:r>
              <a:rPr sz="1400" spc="-25" dirty="0">
                <a:latin typeface="MS Gothic"/>
                <a:cs typeface="MS Gothic"/>
              </a:rPr>
              <a:t>済み</a:t>
            </a:r>
            <a:endParaRPr sz="1400" dirty="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7700" y="5409882"/>
            <a:ext cx="2514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MS Gothic"/>
                <a:cs typeface="MS Gothic"/>
              </a:rPr>
              <a:t>ブレッドボードに部品を搭載例</a:t>
            </a:r>
            <a:endParaRPr sz="1400">
              <a:latin typeface="MS Gothic"/>
              <a:cs typeface="MS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9019" y="4648200"/>
            <a:ext cx="2410460" cy="57403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58522" y="6061887"/>
            <a:ext cx="1634688" cy="1121615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03BC4161-51B8-75C4-818B-0574686E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559" y="3906488"/>
            <a:ext cx="6128309" cy="270348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419478" y="1343596"/>
            <a:ext cx="8263255" cy="246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2000" spc="-50" dirty="0">
                <a:latin typeface="MS PGothic"/>
                <a:cs typeface="MS PGothic"/>
              </a:rPr>
              <a:t>①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20" dirty="0">
                <a:latin typeface="MS PGothic"/>
                <a:cs typeface="MS PGothic"/>
              </a:rPr>
              <a:t>UF2</a:t>
            </a:r>
            <a:r>
              <a:rPr sz="2000" spc="-30" dirty="0">
                <a:latin typeface="MS PGothic"/>
                <a:cs typeface="MS PGothic"/>
              </a:rPr>
              <a:t>ファイル (ファームウエア)とは</a:t>
            </a:r>
            <a:endParaRPr sz="2000" dirty="0">
              <a:latin typeface="MS PGothic"/>
              <a:cs typeface="MS PGothic"/>
            </a:endParaRPr>
          </a:p>
          <a:p>
            <a:pPr marL="180340" marR="1731645" indent="246379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S PGothic"/>
                <a:cs typeface="MS PGothic"/>
              </a:rPr>
              <a:t>Raspberry</a:t>
            </a:r>
            <a:r>
              <a:rPr sz="2000" spc="-4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 Pico W</a:t>
            </a:r>
            <a:r>
              <a:rPr sz="2000" spc="-10" dirty="0">
                <a:latin typeface="MS PGothic"/>
                <a:cs typeface="MS PGothic"/>
              </a:rPr>
              <a:t> 上でMicroPython</a:t>
            </a:r>
            <a:r>
              <a:rPr sz="2000" spc="-25" dirty="0">
                <a:latin typeface="MS PGothic"/>
                <a:cs typeface="MS PGothic"/>
              </a:rPr>
              <a:t>を実行できるように</a:t>
            </a:r>
            <a:r>
              <a:rPr sz="2000" spc="-40" dirty="0">
                <a:latin typeface="MS PGothic"/>
                <a:cs typeface="MS PGothic"/>
              </a:rPr>
              <a:t>手助けをするソフトです。</a:t>
            </a:r>
            <a:endParaRPr sz="2000" dirty="0">
              <a:latin typeface="MS PGothic"/>
              <a:cs typeface="MS PGothic"/>
            </a:endParaRPr>
          </a:p>
          <a:p>
            <a:pPr marL="12700">
              <a:lnSpc>
                <a:spcPct val="100000"/>
              </a:lnSpc>
              <a:tabLst>
                <a:tab pos="512445" algn="l"/>
              </a:tabLst>
            </a:pPr>
            <a:r>
              <a:rPr sz="2000" spc="-50" dirty="0">
                <a:latin typeface="MS PGothic"/>
                <a:cs typeface="MS PGothic"/>
              </a:rPr>
              <a:t>②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20" dirty="0">
                <a:latin typeface="MS PGothic"/>
                <a:cs typeface="MS PGothic"/>
              </a:rPr>
              <a:t>UF2</a:t>
            </a:r>
            <a:r>
              <a:rPr sz="2000" dirty="0">
                <a:latin typeface="MS PGothic"/>
                <a:cs typeface="MS PGothic"/>
              </a:rPr>
              <a:t>ファイル を</a:t>
            </a:r>
            <a:r>
              <a:rPr sz="2000" spc="-10" dirty="0">
                <a:latin typeface="MS PGothic"/>
                <a:cs typeface="MS PGothic"/>
              </a:rPr>
              <a:t>PC</a:t>
            </a:r>
            <a:r>
              <a:rPr sz="2000" spc="-35" dirty="0">
                <a:latin typeface="MS PGothic"/>
                <a:cs typeface="MS PGothic"/>
              </a:rPr>
              <a:t>に保存します。</a:t>
            </a:r>
            <a:endParaRPr sz="2000" dirty="0">
              <a:latin typeface="MS PGothic"/>
              <a:cs typeface="MS PGothic"/>
            </a:endParaRPr>
          </a:p>
          <a:p>
            <a:pPr marL="469900" marR="5080" indent="-289560">
              <a:lnSpc>
                <a:spcPct val="100899"/>
              </a:lnSpc>
              <a:spcBef>
                <a:spcPts val="180"/>
              </a:spcBef>
            </a:pPr>
            <a:r>
              <a:rPr sz="1800" dirty="0">
                <a:latin typeface="MS PGothic"/>
                <a:cs typeface="MS PGothic"/>
              </a:rPr>
              <a:t>下記の</a:t>
            </a:r>
            <a:r>
              <a:rPr sz="1800" spc="-10" dirty="0">
                <a:latin typeface="MS PGothic"/>
                <a:cs typeface="MS PGothic"/>
              </a:rPr>
              <a:t>URL</a:t>
            </a:r>
            <a:r>
              <a:rPr sz="1800" spc="-20" dirty="0">
                <a:latin typeface="MS PGothic"/>
                <a:cs typeface="MS PGothic"/>
              </a:rPr>
              <a:t>をクリックします。</a:t>
            </a:r>
            <a:r>
              <a:rPr sz="1800" spc="-50" dirty="0">
                <a:latin typeface="MS PGothic"/>
                <a:cs typeface="MS PGothic"/>
              </a:rPr>
              <a:t>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S PGothic"/>
                <a:cs typeface="MS PGothic"/>
                <a:hlinkClick r:id="rId3"/>
              </a:rPr>
              <a:t>https://www.raspberrypi.com/documentation/microcontrollers/micropyth</a:t>
            </a:r>
            <a:r>
              <a:rPr sz="2000" u="none" spc="-10" dirty="0">
                <a:solidFill>
                  <a:srgbClr val="0000FF"/>
                </a:solidFill>
                <a:latin typeface="MS PGothic"/>
                <a:cs typeface="MS PGothic"/>
              </a:rPr>
              <a:t>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S PGothic"/>
                <a:cs typeface="MS PGothic"/>
                <a:hlinkClick r:id="rId3"/>
              </a:rPr>
              <a:t>on.html</a:t>
            </a:r>
            <a:endParaRPr sz="2000" dirty="0">
              <a:latin typeface="MS PGothic"/>
              <a:cs typeface="MS PGothic"/>
            </a:endParaRPr>
          </a:p>
          <a:p>
            <a:pPr marL="637540">
              <a:lnSpc>
                <a:spcPct val="100000"/>
              </a:lnSpc>
              <a:spcBef>
                <a:spcPts val="204"/>
              </a:spcBef>
            </a:pPr>
            <a:r>
              <a:rPr lang="ja-JP" altLang="en-US" sz="1800" spc="-15" dirty="0">
                <a:latin typeface="MS PGothic"/>
                <a:cs typeface="MS PGothic"/>
              </a:rPr>
              <a:t>画面をスクロールすると</a:t>
            </a:r>
            <a:r>
              <a:rPr sz="1800" spc="-15" dirty="0" err="1">
                <a:latin typeface="MS PGothic"/>
                <a:cs typeface="MS PGothic"/>
              </a:rPr>
              <a:t>下記のような画面が表示されます</a:t>
            </a:r>
            <a:r>
              <a:rPr sz="1800" spc="-15" dirty="0">
                <a:latin typeface="MS PGothic"/>
                <a:cs typeface="MS PGothic"/>
              </a:rPr>
              <a:t>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56054" y="233695"/>
            <a:ext cx="9084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4640" algn="l"/>
              </a:tabLst>
            </a:pPr>
            <a:r>
              <a:rPr spc="-25" dirty="0"/>
              <a:t>「</a:t>
            </a:r>
            <a:r>
              <a:rPr dirty="0"/>
              <a:t>Raspberry</a:t>
            </a:r>
            <a:r>
              <a:rPr spc="5" dirty="0"/>
              <a:t> </a:t>
            </a:r>
            <a:r>
              <a:rPr dirty="0"/>
              <a:t>Pi</a:t>
            </a:r>
            <a:r>
              <a:rPr spc="-5" dirty="0"/>
              <a:t> </a:t>
            </a:r>
            <a:r>
              <a:rPr dirty="0"/>
              <a:t>Pico</a:t>
            </a:r>
            <a:r>
              <a:rPr spc="-5" dirty="0"/>
              <a:t> </a:t>
            </a:r>
            <a:r>
              <a:rPr dirty="0"/>
              <a:t>W</a:t>
            </a:r>
            <a:r>
              <a:rPr spc="20" dirty="0"/>
              <a:t> </a:t>
            </a:r>
            <a:r>
              <a:rPr spc="-20" dirty="0"/>
              <a:t>」</a:t>
            </a:r>
            <a:r>
              <a:rPr spc="-10" dirty="0"/>
              <a:t>に</a:t>
            </a:r>
            <a:r>
              <a:rPr spc="-20" dirty="0"/>
              <a:t>UF2</a:t>
            </a:r>
            <a:r>
              <a:rPr dirty="0"/>
              <a:t>フ</a:t>
            </a:r>
            <a:r>
              <a:rPr spc="-30" dirty="0"/>
              <a:t>ァ</a:t>
            </a:r>
            <a:r>
              <a:rPr spc="-10" dirty="0"/>
              <a:t>イ</a:t>
            </a:r>
            <a:r>
              <a:rPr spc="-30" dirty="0"/>
              <a:t>ルを</a:t>
            </a:r>
            <a:r>
              <a:rPr dirty="0"/>
              <a:t>ダ</a:t>
            </a:r>
            <a:r>
              <a:rPr spc="-35" dirty="0"/>
              <a:t>ウン</a:t>
            </a:r>
            <a:r>
              <a:rPr dirty="0"/>
              <a:t>ロ</a:t>
            </a:r>
            <a:r>
              <a:rPr spc="-25" dirty="0"/>
              <a:t>ードす</a:t>
            </a:r>
            <a:r>
              <a:rPr spc="-35" dirty="0"/>
              <a:t>る</a:t>
            </a:r>
            <a:r>
              <a:rPr spc="-50" dirty="0"/>
              <a:t>。</a:t>
            </a:r>
          </a:p>
        </p:txBody>
      </p:sp>
      <p:sp>
        <p:nvSpPr>
          <p:cNvPr id="6" name="object 6"/>
          <p:cNvSpPr/>
          <p:nvPr/>
        </p:nvSpPr>
        <p:spPr>
          <a:xfrm>
            <a:off x="5484707" y="6326029"/>
            <a:ext cx="852593" cy="239395"/>
          </a:xfrm>
          <a:custGeom>
            <a:avLst/>
            <a:gdLst/>
            <a:ahLst/>
            <a:cxnLst/>
            <a:rect l="l" t="t" r="r" b="b"/>
            <a:pathLst>
              <a:path w="2882900" h="259079">
                <a:moveTo>
                  <a:pt x="0" y="259080"/>
                </a:moveTo>
                <a:lnTo>
                  <a:pt x="2882900" y="259080"/>
                </a:lnTo>
                <a:lnTo>
                  <a:pt x="2882900" y="0"/>
                </a:lnTo>
                <a:lnTo>
                  <a:pt x="0" y="0"/>
                </a:lnTo>
                <a:lnTo>
                  <a:pt x="0" y="259080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52322" y="6643100"/>
            <a:ext cx="37649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latin typeface="MS Gothic"/>
                <a:cs typeface="MS Gothic"/>
              </a:rPr>
              <a:t>赤枠</a:t>
            </a:r>
            <a:r>
              <a:rPr lang="ja-JP" altLang="en-US" sz="1400" dirty="0">
                <a:latin typeface="MS Gothic"/>
                <a:cs typeface="MS Gothic"/>
              </a:rPr>
              <a:t>の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Pico</a:t>
            </a:r>
            <a:r>
              <a:rPr lang="ja-JP" altLang="en-US" sz="1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ja-JP" sz="1400" dirty="0">
                <a:solidFill>
                  <a:srgbClr val="FF0000"/>
                </a:solidFill>
                <a:latin typeface="Arial"/>
                <a:cs typeface="Arial"/>
              </a:rPr>
              <a:t>W,</a:t>
            </a:r>
            <a:r>
              <a:rPr lang="ja-JP" altLang="en-US" sz="1400" dirty="0">
                <a:solidFill>
                  <a:srgbClr val="FF0000"/>
                </a:solidFill>
                <a:latin typeface="Arial"/>
                <a:cs typeface="Arial"/>
              </a:rPr>
              <a:t>又は</a:t>
            </a:r>
            <a:r>
              <a:rPr lang="en-US" altLang="ja-JP" sz="1400" dirty="0">
                <a:solidFill>
                  <a:srgbClr val="FF0000"/>
                </a:solidFill>
                <a:latin typeface="Arial"/>
                <a:cs typeface="Arial"/>
              </a:rPr>
              <a:t>Pico</a:t>
            </a:r>
            <a:r>
              <a:rPr lang="ja-JP" altLang="en-US" sz="1400" dirty="0">
                <a:solidFill>
                  <a:srgbClr val="FF0000"/>
                </a:solidFill>
                <a:latin typeface="Arial"/>
                <a:cs typeface="Arial"/>
              </a:rPr>
              <a:t>２</a:t>
            </a:r>
            <a:r>
              <a:rPr sz="1400" dirty="0" err="1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sz="1400" spc="-10" dirty="0" err="1">
                <a:latin typeface="MS Gothic"/>
                <a:cs typeface="MS Gothic"/>
              </a:rPr>
              <a:t>をクリックして</a:t>
            </a:r>
            <a:r>
              <a:rPr sz="1400" spc="-50" dirty="0">
                <a:latin typeface="MS Gothic"/>
                <a:cs typeface="MS Gothic"/>
              </a:rPr>
              <a:t> </a:t>
            </a:r>
            <a:r>
              <a:rPr sz="1400" spc="-10" dirty="0">
                <a:latin typeface="Arial"/>
                <a:cs typeface="Arial"/>
              </a:rPr>
              <a:t>PC</a:t>
            </a:r>
            <a:r>
              <a:rPr sz="1400" spc="-5" dirty="0">
                <a:latin typeface="MS Gothic"/>
                <a:cs typeface="MS Gothic"/>
              </a:rPr>
              <a:t>適当なディレクトリに保存します。</a:t>
            </a:r>
            <a:endParaRPr sz="1400" dirty="0">
              <a:latin typeface="MS Gothic"/>
              <a:cs typeface="MS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488940" y="4650422"/>
            <a:ext cx="2911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RPI_PICO_W-</a:t>
            </a:r>
            <a:r>
              <a:rPr sz="1400" spc="-10" dirty="0">
                <a:latin typeface="Arial"/>
                <a:cs typeface="Arial"/>
              </a:rPr>
              <a:t>20240222-v1.22.2.uf2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6040" y="3652520"/>
            <a:ext cx="2100580" cy="278638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627619" y="3937000"/>
            <a:ext cx="2326640" cy="2473960"/>
            <a:chOff x="7627619" y="3937000"/>
            <a:chExt cx="2326640" cy="24739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7619" y="3937000"/>
              <a:ext cx="2326639" cy="24739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40039" y="5130800"/>
              <a:ext cx="1701800" cy="292100"/>
            </a:xfrm>
            <a:custGeom>
              <a:avLst/>
              <a:gdLst/>
              <a:ahLst/>
              <a:cxnLst/>
              <a:rect l="l" t="t" r="r" b="b"/>
              <a:pathLst>
                <a:path w="1701800" h="292100">
                  <a:moveTo>
                    <a:pt x="0" y="292099"/>
                  </a:moveTo>
                  <a:lnTo>
                    <a:pt x="1701800" y="292099"/>
                  </a:lnTo>
                  <a:lnTo>
                    <a:pt x="1701800" y="0"/>
                  </a:lnTo>
                  <a:lnTo>
                    <a:pt x="0" y="0"/>
                  </a:lnTo>
                  <a:lnTo>
                    <a:pt x="0" y="29209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28640" y="3713353"/>
            <a:ext cx="1224280" cy="917575"/>
            <a:chOff x="5628640" y="3713353"/>
            <a:chExt cx="1224280" cy="917575"/>
          </a:xfrm>
        </p:grpSpPr>
        <p:sp>
          <p:nvSpPr>
            <p:cNvPr id="7" name="object 7"/>
            <p:cNvSpPr/>
            <p:nvPr/>
          </p:nvSpPr>
          <p:spPr>
            <a:xfrm>
              <a:off x="5756910" y="3713353"/>
              <a:ext cx="1096010" cy="795020"/>
            </a:xfrm>
            <a:custGeom>
              <a:avLst/>
              <a:gdLst/>
              <a:ahLst/>
              <a:cxnLst/>
              <a:rect l="l" t="t" r="r" b="b"/>
              <a:pathLst>
                <a:path w="1096009" h="795020">
                  <a:moveTo>
                    <a:pt x="44576" y="709929"/>
                  </a:moveTo>
                  <a:lnTo>
                    <a:pt x="0" y="794765"/>
                  </a:lnTo>
                  <a:lnTo>
                    <a:pt x="94614" y="779399"/>
                  </a:lnTo>
                  <a:lnTo>
                    <a:pt x="83912" y="764539"/>
                  </a:lnTo>
                  <a:lnTo>
                    <a:pt x="66293" y="764539"/>
                  </a:lnTo>
                  <a:lnTo>
                    <a:pt x="49656" y="741426"/>
                  </a:lnTo>
                  <a:lnTo>
                    <a:pt x="61250" y="733077"/>
                  </a:lnTo>
                  <a:lnTo>
                    <a:pt x="44576" y="709929"/>
                  </a:lnTo>
                  <a:close/>
                </a:path>
                <a:path w="1096009" h="795020">
                  <a:moveTo>
                    <a:pt x="61250" y="733077"/>
                  </a:moveTo>
                  <a:lnTo>
                    <a:pt x="49656" y="741426"/>
                  </a:lnTo>
                  <a:lnTo>
                    <a:pt x="66293" y="764539"/>
                  </a:lnTo>
                  <a:lnTo>
                    <a:pt x="77894" y="756186"/>
                  </a:lnTo>
                  <a:lnTo>
                    <a:pt x="61250" y="733077"/>
                  </a:lnTo>
                  <a:close/>
                </a:path>
                <a:path w="1096009" h="795020">
                  <a:moveTo>
                    <a:pt x="77894" y="756186"/>
                  </a:moveTo>
                  <a:lnTo>
                    <a:pt x="66293" y="764539"/>
                  </a:lnTo>
                  <a:lnTo>
                    <a:pt x="83912" y="764539"/>
                  </a:lnTo>
                  <a:lnTo>
                    <a:pt x="77894" y="756186"/>
                  </a:lnTo>
                  <a:close/>
                </a:path>
                <a:path w="1096009" h="795020">
                  <a:moveTo>
                    <a:pt x="1079245" y="0"/>
                  </a:moveTo>
                  <a:lnTo>
                    <a:pt x="61250" y="733077"/>
                  </a:lnTo>
                  <a:lnTo>
                    <a:pt x="77894" y="756186"/>
                  </a:lnTo>
                  <a:lnTo>
                    <a:pt x="1095883" y="23113"/>
                  </a:lnTo>
                  <a:lnTo>
                    <a:pt x="10792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41340" y="4445000"/>
              <a:ext cx="114300" cy="172720"/>
            </a:xfrm>
            <a:custGeom>
              <a:avLst/>
              <a:gdLst/>
              <a:ahLst/>
              <a:cxnLst/>
              <a:rect l="l" t="t" r="r" b="b"/>
              <a:pathLst>
                <a:path w="114300" h="172720">
                  <a:moveTo>
                    <a:pt x="0" y="172719"/>
                  </a:moveTo>
                  <a:lnTo>
                    <a:pt x="114300" y="172719"/>
                  </a:lnTo>
                  <a:lnTo>
                    <a:pt x="114300" y="0"/>
                  </a:lnTo>
                  <a:lnTo>
                    <a:pt x="0" y="0"/>
                  </a:lnTo>
                  <a:lnTo>
                    <a:pt x="0" y="17271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876040" y="6296660"/>
            <a:ext cx="836930" cy="228600"/>
          </a:xfrm>
          <a:custGeom>
            <a:avLst/>
            <a:gdLst/>
            <a:ahLst/>
            <a:cxnLst/>
            <a:rect l="l" t="t" r="r" b="b"/>
            <a:pathLst>
              <a:path w="836929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836929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836929" h="228600">
                <a:moveTo>
                  <a:pt x="83693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836930" y="152400"/>
                </a:lnTo>
                <a:lnTo>
                  <a:pt x="83693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94705" y="6745923"/>
            <a:ext cx="47199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PC</a:t>
            </a:r>
            <a:r>
              <a:rPr sz="1400" spc="-5" dirty="0">
                <a:latin typeface="MS Gothic"/>
                <a:cs typeface="MS Gothic"/>
              </a:rPr>
              <a:t>からアクセス可能なドライブとしてマウントされます。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2365" y="231140"/>
            <a:ext cx="58781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MS PGothic"/>
                <a:cs typeface="MS PGothic"/>
              </a:rPr>
              <a:t>UF2</a:t>
            </a:r>
            <a:r>
              <a:rPr sz="2400" b="1" spc="-20" dirty="0">
                <a:latin typeface="MS PGothic"/>
                <a:cs typeface="MS PGothic"/>
              </a:rPr>
              <a:t>ファイル</a:t>
            </a:r>
            <a:r>
              <a:rPr sz="2400" b="1" dirty="0">
                <a:latin typeface="MS PGothic"/>
                <a:cs typeface="MS PGothic"/>
              </a:rPr>
              <a:t>（</a:t>
            </a:r>
            <a:r>
              <a:rPr sz="2400" b="1" spc="-30" dirty="0">
                <a:latin typeface="MS PGothic"/>
                <a:cs typeface="MS PGothic"/>
              </a:rPr>
              <a:t>ファームウエア</a:t>
            </a:r>
            <a:r>
              <a:rPr sz="2400" b="1" dirty="0">
                <a:latin typeface="MS PGothic"/>
                <a:cs typeface="MS PGothic"/>
              </a:rPr>
              <a:t>）</a:t>
            </a:r>
            <a:r>
              <a:rPr sz="2400" b="1" spc="-35" dirty="0">
                <a:latin typeface="MS PGothic"/>
                <a:cs typeface="MS PGothic"/>
              </a:rPr>
              <a:t>を基板に書込む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7894" y="1459865"/>
            <a:ext cx="858774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2000" spc="-50" dirty="0">
                <a:latin typeface="MS PGothic"/>
                <a:cs typeface="MS PGothic"/>
              </a:rPr>
              <a:t>③</a:t>
            </a:r>
            <a:r>
              <a:rPr sz="2000" dirty="0">
                <a:latin typeface="MS PGothic"/>
                <a:cs typeface="MS PGothic"/>
              </a:rPr>
              <a:t>	Raspberry</a:t>
            </a:r>
            <a:r>
              <a:rPr sz="2000" spc="-3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1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</a:t>
            </a:r>
            <a:r>
              <a:rPr sz="2000" spc="50" dirty="0">
                <a:latin typeface="MS PGothic"/>
                <a:cs typeface="MS PGothic"/>
              </a:rPr>
              <a:t> </a:t>
            </a:r>
            <a:r>
              <a:rPr sz="2000" spc="-30" dirty="0">
                <a:latin typeface="MS PGothic"/>
                <a:cs typeface="MS PGothic"/>
              </a:rPr>
              <a:t>W</a:t>
            </a:r>
            <a:r>
              <a:rPr sz="2000" spc="-25" dirty="0">
                <a:latin typeface="MS PGothic"/>
                <a:cs typeface="MS PGothic"/>
              </a:rPr>
              <a:t>とノート</a:t>
            </a:r>
            <a:r>
              <a:rPr sz="2000" dirty="0">
                <a:latin typeface="MS PGothic"/>
                <a:cs typeface="MS PGothic"/>
              </a:rPr>
              <a:t>PC</a:t>
            </a:r>
            <a:r>
              <a:rPr sz="2000" spc="-15" dirty="0">
                <a:latin typeface="MS PGothic"/>
                <a:cs typeface="MS PGothic"/>
              </a:rPr>
              <a:t> </a:t>
            </a:r>
            <a:r>
              <a:rPr sz="2000" spc="-15" dirty="0" err="1">
                <a:latin typeface="MS PGothic"/>
                <a:cs typeface="MS PGothic"/>
              </a:rPr>
              <a:t>を</a:t>
            </a:r>
            <a:r>
              <a:rPr sz="2000" spc="-20" dirty="0" err="1">
                <a:latin typeface="MS PGothic"/>
                <a:cs typeface="MS PGothic"/>
              </a:rPr>
              <a:t>USB</a:t>
            </a:r>
            <a:r>
              <a:rPr sz="2000" spc="-30" dirty="0" err="1">
                <a:latin typeface="MS PGothic"/>
                <a:cs typeface="MS PGothic"/>
              </a:rPr>
              <a:t>ケーブルで接続</a:t>
            </a:r>
            <a:r>
              <a:rPr lang="ja-JP" altLang="en-US" sz="2000" spc="-30" dirty="0">
                <a:latin typeface="MS PGothic"/>
                <a:cs typeface="MS PGothic"/>
              </a:rPr>
              <a:t>します。</a:t>
            </a:r>
            <a:endParaRPr sz="2000" dirty="0">
              <a:latin typeface="MS PGothic"/>
              <a:cs typeface="MS PGothic"/>
            </a:endParaRPr>
          </a:p>
          <a:p>
            <a:pPr marL="718185" indent="-248285">
              <a:lnSpc>
                <a:spcPct val="100000"/>
              </a:lnSpc>
              <a:buAutoNum type="alphaLcParenR"/>
              <a:tabLst>
                <a:tab pos="718185" algn="l"/>
              </a:tabLst>
            </a:pPr>
            <a:r>
              <a:rPr sz="1800" spc="-20" dirty="0">
                <a:latin typeface="MS PGothic"/>
                <a:cs typeface="MS PGothic"/>
              </a:rPr>
              <a:t>USBケーブルと基板を接続します。</a:t>
            </a:r>
            <a:endParaRPr sz="1800" dirty="0">
              <a:latin typeface="MS PGothic"/>
              <a:cs typeface="MS PGothic"/>
            </a:endParaRPr>
          </a:p>
          <a:p>
            <a:pPr marL="720725" indent="-250825">
              <a:lnSpc>
                <a:spcPct val="100000"/>
              </a:lnSpc>
              <a:buAutoNum type="alphaLcParenR"/>
              <a:tabLst>
                <a:tab pos="720725" algn="l"/>
              </a:tabLst>
            </a:pPr>
            <a:r>
              <a:rPr sz="1800" dirty="0">
                <a:latin typeface="MS PGothic"/>
                <a:cs typeface="MS PGothic"/>
              </a:rPr>
              <a:t>基板の</a:t>
            </a:r>
            <a:r>
              <a:rPr sz="1800" spc="-10" dirty="0">
                <a:latin typeface="MS PGothic"/>
                <a:cs typeface="MS PGothic"/>
              </a:rPr>
              <a:t>Boot</a:t>
            </a:r>
            <a:r>
              <a:rPr sz="1800" spc="-15" dirty="0">
                <a:latin typeface="MS PGothic"/>
                <a:cs typeface="MS PGothic"/>
              </a:rPr>
              <a:t>スイッチを押しながら</a:t>
            </a:r>
            <a:r>
              <a:rPr sz="1800" spc="-20" dirty="0">
                <a:latin typeface="MS PGothic"/>
                <a:cs typeface="MS PGothic"/>
              </a:rPr>
              <a:t>USBケーブルを</a:t>
            </a:r>
            <a:r>
              <a:rPr sz="1800" spc="-10" dirty="0">
                <a:latin typeface="MS PGothic"/>
                <a:cs typeface="MS PGothic"/>
              </a:rPr>
              <a:t>PC</a:t>
            </a:r>
            <a:r>
              <a:rPr sz="1800" spc="-20" dirty="0">
                <a:latin typeface="MS PGothic"/>
                <a:cs typeface="MS PGothic"/>
              </a:rPr>
              <a:t>に接続します。</a:t>
            </a:r>
            <a:endParaRPr sz="1800" dirty="0">
              <a:latin typeface="MS PGothic"/>
              <a:cs typeface="MS PGothic"/>
            </a:endParaRPr>
          </a:p>
          <a:p>
            <a:pPr marL="652145" indent="-196850">
              <a:lnSpc>
                <a:spcPct val="100000"/>
              </a:lnSpc>
              <a:buAutoNum type="alphaLcParenR"/>
              <a:tabLst>
                <a:tab pos="652145" algn="l"/>
              </a:tabLst>
            </a:pPr>
            <a:r>
              <a:rPr sz="1800" spc="-25" dirty="0">
                <a:latin typeface="MS PGothic"/>
                <a:cs typeface="MS PGothic"/>
              </a:rPr>
              <a:t>エクスプローラーで</a:t>
            </a:r>
            <a:r>
              <a:rPr sz="1800" spc="-10" dirty="0">
                <a:latin typeface="MS PGothic"/>
                <a:cs typeface="MS PGothic"/>
              </a:rPr>
              <a:t>RPI-</a:t>
            </a:r>
            <a:r>
              <a:rPr sz="1800" spc="-20" dirty="0">
                <a:latin typeface="MS PGothic"/>
                <a:cs typeface="MS PGothic"/>
              </a:rPr>
              <a:t>RP2ドライブが現れます。</a:t>
            </a:r>
            <a:endParaRPr sz="1800" dirty="0">
              <a:latin typeface="MS PGothic"/>
              <a:cs typeface="MS PGothic"/>
            </a:endParaRPr>
          </a:p>
          <a:p>
            <a:pPr marL="622300">
              <a:lnSpc>
                <a:spcPct val="100000"/>
              </a:lnSpc>
            </a:pPr>
            <a:endParaRPr sz="1800" dirty="0">
              <a:latin typeface="MS PGothic"/>
              <a:cs typeface="MS PGothic"/>
            </a:endParaRPr>
          </a:p>
          <a:p>
            <a:pPr marL="5272405">
              <a:lnSpc>
                <a:spcPct val="100000"/>
              </a:lnSpc>
              <a:spcBef>
                <a:spcPts val="1445"/>
              </a:spcBef>
            </a:pPr>
            <a:r>
              <a:rPr sz="1800" spc="-10" dirty="0">
                <a:latin typeface="Arial"/>
                <a:cs typeface="Arial"/>
              </a:rPr>
              <a:t>BOOTSEL</a:t>
            </a:r>
            <a:r>
              <a:rPr sz="1800" spc="-10" dirty="0">
                <a:latin typeface="MS Gothic"/>
                <a:cs typeface="MS Gothic"/>
              </a:rPr>
              <a:t>ボタンを押しながら</a:t>
            </a:r>
            <a:endParaRPr sz="1800" dirty="0">
              <a:latin typeface="MS Gothic"/>
              <a:cs typeface="MS Gothic"/>
            </a:endParaRPr>
          </a:p>
          <a:p>
            <a:pPr marL="527240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PC</a:t>
            </a:r>
            <a:r>
              <a:rPr sz="1800" spc="-10" dirty="0">
                <a:latin typeface="MS Gothic"/>
                <a:cs typeface="MS Gothic"/>
              </a:rPr>
              <a:t>の</a:t>
            </a:r>
            <a:r>
              <a:rPr sz="1800" spc="-10" dirty="0">
                <a:latin typeface="Arial"/>
                <a:cs typeface="Arial"/>
              </a:rPr>
              <a:t>USB</a:t>
            </a:r>
            <a:r>
              <a:rPr sz="1800" spc="-15" dirty="0">
                <a:latin typeface="MS Gothic"/>
                <a:cs typeface="MS Gothic"/>
              </a:rPr>
              <a:t>ポートに接続します。</a:t>
            </a:r>
            <a:endParaRPr sz="1800" dirty="0">
              <a:latin typeface="MS Gothic"/>
              <a:cs typeface="MS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410" y="4688459"/>
            <a:ext cx="571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PC</a:t>
            </a:r>
            <a:r>
              <a:rPr sz="1800" spc="-50" dirty="0">
                <a:latin typeface="MS Gothic"/>
                <a:cs typeface="MS Gothic"/>
              </a:rPr>
              <a:t>側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73220" y="5473700"/>
            <a:ext cx="1308100" cy="3098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57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60"/>
              </a:spcBef>
            </a:pPr>
            <a:r>
              <a:rPr sz="1400" spc="-10" dirty="0">
                <a:latin typeface="Arial"/>
                <a:cs typeface="Arial"/>
              </a:rPr>
              <a:t>USB</a:t>
            </a:r>
            <a:r>
              <a:rPr sz="1400" spc="-15" dirty="0">
                <a:latin typeface="MS Gothic"/>
                <a:cs typeface="MS Gothic"/>
              </a:rPr>
              <a:t>ケーブル</a:t>
            </a:r>
            <a:endParaRPr sz="1400">
              <a:latin typeface="MS Gothic"/>
              <a:cs typeface="MS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67779" y="4889500"/>
            <a:ext cx="949960" cy="673100"/>
            <a:chOff x="6367779" y="4889500"/>
            <a:chExt cx="949960" cy="673100"/>
          </a:xfrm>
        </p:grpSpPr>
        <p:sp>
          <p:nvSpPr>
            <p:cNvPr id="17" name="object 17"/>
            <p:cNvSpPr/>
            <p:nvPr/>
          </p:nvSpPr>
          <p:spPr>
            <a:xfrm>
              <a:off x="6380479" y="4902200"/>
              <a:ext cx="924560" cy="647700"/>
            </a:xfrm>
            <a:custGeom>
              <a:avLst/>
              <a:gdLst/>
              <a:ahLst/>
              <a:cxnLst/>
              <a:rect l="l" t="t" r="r" b="b"/>
              <a:pathLst>
                <a:path w="924559" h="647700">
                  <a:moveTo>
                    <a:pt x="600710" y="0"/>
                  </a:moveTo>
                  <a:lnTo>
                    <a:pt x="600710" y="161924"/>
                  </a:lnTo>
                  <a:lnTo>
                    <a:pt x="0" y="161924"/>
                  </a:lnTo>
                  <a:lnTo>
                    <a:pt x="0" y="485774"/>
                  </a:lnTo>
                  <a:lnTo>
                    <a:pt x="600710" y="485774"/>
                  </a:lnTo>
                  <a:lnTo>
                    <a:pt x="600710" y="647699"/>
                  </a:lnTo>
                  <a:lnTo>
                    <a:pt x="924560" y="323849"/>
                  </a:lnTo>
                  <a:lnTo>
                    <a:pt x="60071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80479" y="4902200"/>
              <a:ext cx="924560" cy="647700"/>
            </a:xfrm>
            <a:custGeom>
              <a:avLst/>
              <a:gdLst/>
              <a:ahLst/>
              <a:cxnLst/>
              <a:rect l="l" t="t" r="r" b="b"/>
              <a:pathLst>
                <a:path w="924559" h="647700">
                  <a:moveTo>
                    <a:pt x="0" y="161924"/>
                  </a:moveTo>
                  <a:lnTo>
                    <a:pt x="600710" y="161924"/>
                  </a:lnTo>
                  <a:lnTo>
                    <a:pt x="600710" y="0"/>
                  </a:lnTo>
                  <a:lnTo>
                    <a:pt x="924560" y="323849"/>
                  </a:lnTo>
                  <a:lnTo>
                    <a:pt x="600710" y="647699"/>
                  </a:lnTo>
                  <a:lnTo>
                    <a:pt x="600710" y="485774"/>
                  </a:lnTo>
                  <a:lnTo>
                    <a:pt x="0" y="485774"/>
                  </a:lnTo>
                  <a:lnTo>
                    <a:pt x="0" y="16192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55700" y="302671"/>
            <a:ext cx="6704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MS PGothic"/>
                <a:cs typeface="MS PGothic"/>
              </a:rPr>
              <a:t>ファームウエア(</a:t>
            </a:r>
            <a:r>
              <a:rPr sz="2400" b="1" spc="-10" dirty="0">
                <a:latin typeface="MS PGothic"/>
                <a:cs typeface="MS PGothic"/>
              </a:rPr>
              <a:t>OS</a:t>
            </a:r>
            <a:r>
              <a:rPr sz="2400" b="1" spc="-35" dirty="0">
                <a:latin typeface="MS PGothic"/>
                <a:cs typeface="MS PGothic"/>
              </a:rPr>
              <a:t>と同じような働き)を基板に書込む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7769" y="1401824"/>
            <a:ext cx="8541385" cy="10128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433705" algn="l"/>
              </a:tabLst>
            </a:pPr>
            <a:r>
              <a:rPr sz="2000" spc="-50" dirty="0">
                <a:latin typeface="MS PGothic"/>
                <a:cs typeface="MS PGothic"/>
              </a:rPr>
              <a:t>④</a:t>
            </a:r>
            <a:r>
              <a:rPr sz="2000" dirty="0">
                <a:latin typeface="MS PGothic"/>
                <a:cs typeface="MS PGothic"/>
              </a:rPr>
              <a:t>	</a:t>
            </a:r>
            <a:r>
              <a:rPr sz="2000" spc="-20" dirty="0">
                <a:solidFill>
                  <a:srgbClr val="333333"/>
                </a:solidFill>
                <a:latin typeface="MS PGothic"/>
                <a:cs typeface="MS PGothic"/>
              </a:rPr>
              <a:t>UF2ファイルを「</a:t>
            </a:r>
            <a:r>
              <a:rPr sz="2000" dirty="0">
                <a:solidFill>
                  <a:srgbClr val="333333"/>
                </a:solidFill>
                <a:latin typeface="MS PGothic"/>
                <a:cs typeface="MS PGothic"/>
              </a:rPr>
              <a:t>Raspberry</a:t>
            </a:r>
            <a:r>
              <a:rPr sz="2000" spc="-10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2000" dirty="0">
                <a:solidFill>
                  <a:srgbClr val="333333"/>
                </a:solidFill>
                <a:latin typeface="MS PGothic"/>
                <a:cs typeface="MS PGothic"/>
              </a:rPr>
              <a:t>Pi</a:t>
            </a:r>
            <a:r>
              <a:rPr sz="2000" spc="20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2000" dirty="0">
                <a:solidFill>
                  <a:srgbClr val="333333"/>
                </a:solidFill>
                <a:latin typeface="MS PGothic"/>
                <a:cs typeface="MS PGothic"/>
              </a:rPr>
              <a:t>Pico</a:t>
            </a:r>
            <a:r>
              <a:rPr sz="2000" spc="5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MS PGothic"/>
                <a:cs typeface="MS PGothic"/>
              </a:rPr>
              <a:t>W</a:t>
            </a:r>
            <a:r>
              <a:rPr sz="2000" spc="-30" dirty="0">
                <a:solidFill>
                  <a:srgbClr val="333333"/>
                </a:solidFill>
                <a:latin typeface="MS PGothic"/>
                <a:cs typeface="MS PGothic"/>
              </a:rPr>
              <a:t>」のホルダーにコピー</a:t>
            </a:r>
            <a:endParaRPr sz="20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800" spc="-15" dirty="0">
                <a:solidFill>
                  <a:srgbClr val="333333"/>
                </a:solidFill>
                <a:latin typeface="MS PGothic"/>
                <a:cs typeface="MS PGothic"/>
              </a:rPr>
              <a:t>先に保存した</a:t>
            </a:r>
            <a:r>
              <a:rPr sz="1800" dirty="0">
                <a:latin typeface="MS PGothic"/>
                <a:cs typeface="MS PGothic"/>
              </a:rPr>
              <a:t>UF2</a:t>
            </a:r>
            <a:r>
              <a:rPr sz="1800" spc="-15" dirty="0">
                <a:latin typeface="MS PGothic"/>
                <a:cs typeface="MS PGothic"/>
              </a:rPr>
              <a:t>ファイル </a:t>
            </a:r>
            <a:r>
              <a:rPr sz="1800" spc="-5" dirty="0">
                <a:solidFill>
                  <a:srgbClr val="333333"/>
                </a:solidFill>
                <a:latin typeface="MS PGothic"/>
                <a:cs typeface="MS PGothic"/>
              </a:rPr>
              <a:t>を「</a:t>
            </a:r>
            <a:r>
              <a:rPr sz="1800" dirty="0">
                <a:solidFill>
                  <a:srgbClr val="333333"/>
                </a:solidFill>
                <a:latin typeface="MS PGothic"/>
                <a:cs typeface="MS PGothic"/>
              </a:rPr>
              <a:t>Raspberry</a:t>
            </a:r>
            <a:r>
              <a:rPr sz="1800" spc="25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333333"/>
                </a:solidFill>
                <a:latin typeface="MS PGothic"/>
                <a:cs typeface="MS PGothic"/>
              </a:rPr>
              <a:t>Pi Pico</a:t>
            </a:r>
            <a:r>
              <a:rPr sz="1800" spc="-25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1800" dirty="0">
                <a:solidFill>
                  <a:srgbClr val="333333"/>
                </a:solidFill>
                <a:latin typeface="MS PGothic"/>
                <a:cs typeface="MS PGothic"/>
              </a:rPr>
              <a:t>W</a:t>
            </a:r>
            <a:r>
              <a:rPr sz="1800" spc="-15" dirty="0">
                <a:solidFill>
                  <a:srgbClr val="333333"/>
                </a:solidFill>
                <a:latin typeface="MS PGothic"/>
                <a:cs typeface="MS PGothic"/>
              </a:rPr>
              <a:t>」のホルダーにドラッグ</a:t>
            </a:r>
            <a:r>
              <a:rPr sz="1800" spc="-35" dirty="0">
                <a:solidFill>
                  <a:srgbClr val="333333"/>
                </a:solidFill>
                <a:latin typeface="MS PGothic"/>
                <a:cs typeface="MS PGothic"/>
              </a:rPr>
              <a:t>&amp;</a:t>
            </a:r>
            <a:r>
              <a:rPr sz="1800" spc="-20" dirty="0">
                <a:solidFill>
                  <a:srgbClr val="333333"/>
                </a:solidFill>
                <a:latin typeface="MS PGothic"/>
                <a:cs typeface="MS PGothic"/>
              </a:rPr>
              <a:t>コピーをし</a:t>
            </a:r>
            <a:endParaRPr sz="18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solidFill>
                  <a:srgbClr val="333333"/>
                </a:solidFill>
                <a:latin typeface="MS PGothic"/>
                <a:cs typeface="MS PGothic"/>
              </a:rPr>
              <a:t>ます。ドラッグ</a:t>
            </a:r>
            <a:r>
              <a:rPr sz="1800" spc="-30" dirty="0">
                <a:solidFill>
                  <a:srgbClr val="333333"/>
                </a:solidFill>
                <a:latin typeface="MS PGothic"/>
                <a:cs typeface="MS PGothic"/>
              </a:rPr>
              <a:t>&amp;</a:t>
            </a:r>
            <a:r>
              <a:rPr sz="1800" spc="-10" dirty="0">
                <a:solidFill>
                  <a:srgbClr val="333333"/>
                </a:solidFill>
                <a:latin typeface="MS PGothic"/>
                <a:cs typeface="MS PGothic"/>
              </a:rPr>
              <a:t>コピー後RPI-RP2(D</a:t>
            </a:r>
            <a:r>
              <a:rPr sz="1800" spc="-40" dirty="0">
                <a:solidFill>
                  <a:srgbClr val="333333"/>
                </a:solidFill>
                <a:latin typeface="MS PGothic"/>
                <a:cs typeface="MS PGothic"/>
              </a:rPr>
              <a:t>:)フォルダーは見えなくなりますが正常です。</a:t>
            </a:r>
            <a:endParaRPr sz="1800">
              <a:latin typeface="MS PGothic"/>
              <a:cs typeface="MS P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41780" y="2791460"/>
            <a:ext cx="7383780" cy="3937000"/>
            <a:chOff x="1541780" y="2791460"/>
            <a:chExt cx="7383780" cy="3937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480" y="3073400"/>
              <a:ext cx="3202940" cy="36423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54480" y="6479540"/>
              <a:ext cx="1371600" cy="236220"/>
            </a:xfrm>
            <a:custGeom>
              <a:avLst/>
              <a:gdLst/>
              <a:ahLst/>
              <a:cxnLst/>
              <a:rect l="l" t="t" r="r" b="b"/>
              <a:pathLst>
                <a:path w="1371600" h="236220">
                  <a:moveTo>
                    <a:pt x="0" y="236219"/>
                  </a:moveTo>
                  <a:lnTo>
                    <a:pt x="1371600" y="236219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23621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59" y="2791460"/>
              <a:ext cx="3530599" cy="12649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992620" y="3903980"/>
              <a:ext cx="1386840" cy="142240"/>
            </a:xfrm>
            <a:custGeom>
              <a:avLst/>
              <a:gdLst/>
              <a:ahLst/>
              <a:cxnLst/>
              <a:rect l="l" t="t" r="r" b="b"/>
              <a:pathLst>
                <a:path w="1386840" h="142239">
                  <a:moveTo>
                    <a:pt x="0" y="142239"/>
                  </a:moveTo>
                  <a:lnTo>
                    <a:pt x="1386840" y="142239"/>
                  </a:lnTo>
                  <a:lnTo>
                    <a:pt x="1386840" y="0"/>
                  </a:lnTo>
                  <a:lnTo>
                    <a:pt x="0" y="0"/>
                  </a:lnTo>
                  <a:lnTo>
                    <a:pt x="0" y="142239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0877" y="4056253"/>
              <a:ext cx="3715385" cy="603250"/>
            </a:xfrm>
            <a:custGeom>
              <a:avLst/>
              <a:gdLst/>
              <a:ahLst/>
              <a:cxnLst/>
              <a:rect l="l" t="t" r="r" b="b"/>
              <a:pathLst>
                <a:path w="3715384" h="603250">
                  <a:moveTo>
                    <a:pt x="3708780" y="32512"/>
                  </a:moveTo>
                  <a:lnTo>
                    <a:pt x="3677030" y="32512"/>
                  </a:lnTo>
                  <a:lnTo>
                    <a:pt x="3676541" y="33274"/>
                  </a:lnTo>
                  <a:lnTo>
                    <a:pt x="3676208" y="33661"/>
                  </a:lnTo>
                  <a:lnTo>
                    <a:pt x="3675888" y="34289"/>
                  </a:lnTo>
                  <a:lnTo>
                    <a:pt x="3675758" y="34289"/>
                  </a:lnTo>
                  <a:lnTo>
                    <a:pt x="3667759" y="45465"/>
                  </a:lnTo>
                  <a:lnTo>
                    <a:pt x="3657092" y="57276"/>
                  </a:lnTo>
                  <a:lnTo>
                    <a:pt x="3643756" y="69341"/>
                  </a:lnTo>
                  <a:lnTo>
                    <a:pt x="3629025" y="80644"/>
                  </a:lnTo>
                  <a:lnTo>
                    <a:pt x="3646551" y="103250"/>
                  </a:lnTo>
                  <a:lnTo>
                    <a:pt x="3678301" y="76326"/>
                  </a:lnTo>
                  <a:lnTo>
                    <a:pt x="3700779" y="48387"/>
                  </a:lnTo>
                  <a:lnTo>
                    <a:pt x="3701161" y="47878"/>
                  </a:lnTo>
                  <a:lnTo>
                    <a:pt x="3701415" y="47243"/>
                  </a:lnTo>
                  <a:lnTo>
                    <a:pt x="3708009" y="34289"/>
                  </a:lnTo>
                  <a:lnTo>
                    <a:pt x="3675888" y="34289"/>
                  </a:lnTo>
                  <a:lnTo>
                    <a:pt x="3676291" y="33661"/>
                  </a:lnTo>
                  <a:lnTo>
                    <a:pt x="3708329" y="33661"/>
                  </a:lnTo>
                  <a:lnTo>
                    <a:pt x="3708527" y="33274"/>
                  </a:lnTo>
                  <a:lnTo>
                    <a:pt x="3708780" y="32512"/>
                  </a:lnTo>
                  <a:close/>
                </a:path>
                <a:path w="3715384" h="603250">
                  <a:moveTo>
                    <a:pt x="3712245" y="21081"/>
                  </a:moveTo>
                  <a:lnTo>
                    <a:pt x="3682619" y="21081"/>
                  </a:lnTo>
                  <a:lnTo>
                    <a:pt x="3682137" y="22026"/>
                  </a:lnTo>
                  <a:lnTo>
                    <a:pt x="3681729" y="23367"/>
                  </a:lnTo>
                  <a:lnTo>
                    <a:pt x="3681454" y="23367"/>
                  </a:lnTo>
                  <a:lnTo>
                    <a:pt x="3676208" y="33661"/>
                  </a:lnTo>
                  <a:lnTo>
                    <a:pt x="3676541" y="33274"/>
                  </a:lnTo>
                  <a:lnTo>
                    <a:pt x="3677030" y="32512"/>
                  </a:lnTo>
                  <a:lnTo>
                    <a:pt x="3708780" y="32512"/>
                  </a:lnTo>
                  <a:lnTo>
                    <a:pt x="3709034" y="31750"/>
                  </a:lnTo>
                  <a:lnTo>
                    <a:pt x="3711557" y="23367"/>
                  </a:lnTo>
                  <a:lnTo>
                    <a:pt x="3681729" y="23367"/>
                  </a:lnTo>
                  <a:lnTo>
                    <a:pt x="3682251" y="22026"/>
                  </a:lnTo>
                  <a:lnTo>
                    <a:pt x="3711961" y="22026"/>
                  </a:lnTo>
                  <a:lnTo>
                    <a:pt x="3712245" y="21081"/>
                  </a:lnTo>
                  <a:close/>
                </a:path>
                <a:path w="3715384" h="603250">
                  <a:moveTo>
                    <a:pt x="3685301" y="11618"/>
                  </a:moveTo>
                  <a:lnTo>
                    <a:pt x="3682137" y="22026"/>
                  </a:lnTo>
                  <a:lnTo>
                    <a:pt x="3682619" y="21081"/>
                  </a:lnTo>
                  <a:lnTo>
                    <a:pt x="3712245" y="21081"/>
                  </a:lnTo>
                  <a:lnTo>
                    <a:pt x="3712972" y="18668"/>
                  </a:lnTo>
                  <a:lnTo>
                    <a:pt x="3713479" y="16890"/>
                  </a:lnTo>
                  <a:lnTo>
                    <a:pt x="3713606" y="16001"/>
                  </a:lnTo>
                  <a:lnTo>
                    <a:pt x="3713887" y="13080"/>
                  </a:lnTo>
                  <a:lnTo>
                    <a:pt x="3685158" y="13080"/>
                  </a:lnTo>
                  <a:lnTo>
                    <a:pt x="3685301" y="11618"/>
                  </a:lnTo>
                  <a:close/>
                </a:path>
                <a:path w="3715384" h="603250">
                  <a:moveTo>
                    <a:pt x="3685667" y="10413"/>
                  </a:moveTo>
                  <a:lnTo>
                    <a:pt x="3685301" y="11618"/>
                  </a:lnTo>
                  <a:lnTo>
                    <a:pt x="3685158" y="13080"/>
                  </a:lnTo>
                  <a:lnTo>
                    <a:pt x="3685667" y="10413"/>
                  </a:lnTo>
                  <a:close/>
                </a:path>
                <a:path w="3715384" h="603250">
                  <a:moveTo>
                    <a:pt x="3714144" y="10413"/>
                  </a:moveTo>
                  <a:lnTo>
                    <a:pt x="3685667" y="10413"/>
                  </a:lnTo>
                  <a:lnTo>
                    <a:pt x="3685158" y="13080"/>
                  </a:lnTo>
                  <a:lnTo>
                    <a:pt x="3713887" y="13080"/>
                  </a:lnTo>
                  <a:lnTo>
                    <a:pt x="3714028" y="11618"/>
                  </a:lnTo>
                  <a:lnTo>
                    <a:pt x="3714144" y="10413"/>
                  </a:lnTo>
                  <a:close/>
                </a:path>
                <a:path w="3715384" h="603250">
                  <a:moveTo>
                    <a:pt x="3686429" y="0"/>
                  </a:moveTo>
                  <a:lnTo>
                    <a:pt x="3685417" y="10413"/>
                  </a:lnTo>
                  <a:lnTo>
                    <a:pt x="3685301" y="11618"/>
                  </a:lnTo>
                  <a:lnTo>
                    <a:pt x="3685667" y="10413"/>
                  </a:lnTo>
                  <a:lnTo>
                    <a:pt x="3714144" y="10413"/>
                  </a:lnTo>
                  <a:lnTo>
                    <a:pt x="3714877" y="2793"/>
                  </a:lnTo>
                  <a:lnTo>
                    <a:pt x="3686429" y="0"/>
                  </a:lnTo>
                  <a:close/>
                </a:path>
                <a:path w="3715384" h="603250">
                  <a:moveTo>
                    <a:pt x="3557651" y="122554"/>
                  </a:moveTo>
                  <a:lnTo>
                    <a:pt x="3539871" y="131317"/>
                  </a:lnTo>
                  <a:lnTo>
                    <a:pt x="3511804" y="143890"/>
                  </a:lnTo>
                  <a:lnTo>
                    <a:pt x="3481704" y="156337"/>
                  </a:lnTo>
                  <a:lnTo>
                    <a:pt x="3453765" y="167004"/>
                  </a:lnTo>
                  <a:lnTo>
                    <a:pt x="3464052" y="193675"/>
                  </a:lnTo>
                  <a:lnTo>
                    <a:pt x="3492627" y="182752"/>
                  </a:lnTo>
                  <a:lnTo>
                    <a:pt x="3523615" y="169925"/>
                  </a:lnTo>
                  <a:lnTo>
                    <a:pt x="3552317" y="156972"/>
                  </a:lnTo>
                  <a:lnTo>
                    <a:pt x="3570224" y="148209"/>
                  </a:lnTo>
                  <a:lnTo>
                    <a:pt x="3557651" y="122554"/>
                  </a:lnTo>
                  <a:close/>
                </a:path>
                <a:path w="3715384" h="603250">
                  <a:moveTo>
                    <a:pt x="3373628" y="194690"/>
                  </a:moveTo>
                  <a:lnTo>
                    <a:pt x="3339465" y="205359"/>
                  </a:lnTo>
                  <a:lnTo>
                    <a:pt x="3298698" y="217550"/>
                  </a:lnTo>
                  <a:lnTo>
                    <a:pt x="3264534" y="227075"/>
                  </a:lnTo>
                  <a:lnTo>
                    <a:pt x="3272154" y="254634"/>
                  </a:lnTo>
                  <a:lnTo>
                    <a:pt x="3306826" y="244982"/>
                  </a:lnTo>
                  <a:lnTo>
                    <a:pt x="3347974" y="232663"/>
                  </a:lnTo>
                  <a:lnTo>
                    <a:pt x="3382137" y="221996"/>
                  </a:lnTo>
                  <a:lnTo>
                    <a:pt x="3373628" y="194690"/>
                  </a:lnTo>
                  <a:close/>
                </a:path>
                <a:path w="3715384" h="603250">
                  <a:moveTo>
                    <a:pt x="3181984" y="248665"/>
                  </a:moveTo>
                  <a:lnTo>
                    <a:pt x="3164840" y="252984"/>
                  </a:lnTo>
                  <a:lnTo>
                    <a:pt x="3070987" y="275081"/>
                  </a:lnTo>
                  <a:lnTo>
                    <a:pt x="3077337" y="302894"/>
                  </a:lnTo>
                  <a:lnTo>
                    <a:pt x="3123183" y="292353"/>
                  </a:lnTo>
                  <a:lnTo>
                    <a:pt x="3188843" y="276478"/>
                  </a:lnTo>
                  <a:lnTo>
                    <a:pt x="3181984" y="248665"/>
                  </a:lnTo>
                  <a:close/>
                </a:path>
                <a:path w="3715384" h="603250">
                  <a:moveTo>
                    <a:pt x="2987548" y="292988"/>
                  </a:moveTo>
                  <a:lnTo>
                    <a:pt x="2905760" y="309499"/>
                  </a:lnTo>
                  <a:lnTo>
                    <a:pt x="2875661" y="315213"/>
                  </a:lnTo>
                  <a:lnTo>
                    <a:pt x="2880995" y="343281"/>
                  </a:lnTo>
                  <a:lnTo>
                    <a:pt x="2911348" y="337565"/>
                  </a:lnTo>
                  <a:lnTo>
                    <a:pt x="2966847" y="326516"/>
                  </a:lnTo>
                  <a:lnTo>
                    <a:pt x="2993263" y="320928"/>
                  </a:lnTo>
                  <a:lnTo>
                    <a:pt x="2987548" y="292988"/>
                  </a:lnTo>
                  <a:close/>
                </a:path>
                <a:path w="3715384" h="603250">
                  <a:moveTo>
                    <a:pt x="2791460" y="330834"/>
                  </a:moveTo>
                  <a:lnTo>
                    <a:pt x="2790571" y="330962"/>
                  </a:lnTo>
                  <a:lnTo>
                    <a:pt x="2679065" y="350138"/>
                  </a:lnTo>
                  <a:lnTo>
                    <a:pt x="2683764" y="378332"/>
                  </a:lnTo>
                  <a:lnTo>
                    <a:pt x="2795651" y="359156"/>
                  </a:lnTo>
                  <a:lnTo>
                    <a:pt x="2796540" y="358901"/>
                  </a:lnTo>
                  <a:lnTo>
                    <a:pt x="2791482" y="330962"/>
                  </a:lnTo>
                  <a:lnTo>
                    <a:pt x="2791460" y="330834"/>
                  </a:lnTo>
                  <a:close/>
                </a:path>
                <a:path w="3715384" h="603250">
                  <a:moveTo>
                    <a:pt x="2594483" y="363600"/>
                  </a:moveTo>
                  <a:lnTo>
                    <a:pt x="2541905" y="371856"/>
                  </a:lnTo>
                  <a:lnTo>
                    <a:pt x="2481580" y="380619"/>
                  </a:lnTo>
                  <a:lnTo>
                    <a:pt x="2485771" y="408939"/>
                  </a:lnTo>
                  <a:lnTo>
                    <a:pt x="2546350" y="400176"/>
                  </a:lnTo>
                  <a:lnTo>
                    <a:pt x="2598928" y="391794"/>
                  </a:lnTo>
                  <a:lnTo>
                    <a:pt x="2594483" y="363600"/>
                  </a:lnTo>
                  <a:close/>
                </a:path>
                <a:path w="3715384" h="603250">
                  <a:moveTo>
                    <a:pt x="2396871" y="392810"/>
                  </a:moveTo>
                  <a:lnTo>
                    <a:pt x="2283587" y="407924"/>
                  </a:lnTo>
                  <a:lnTo>
                    <a:pt x="2287397" y="436244"/>
                  </a:lnTo>
                  <a:lnTo>
                    <a:pt x="2400681" y="421131"/>
                  </a:lnTo>
                  <a:lnTo>
                    <a:pt x="2396871" y="392810"/>
                  </a:lnTo>
                  <a:close/>
                </a:path>
                <a:path w="3715384" h="603250">
                  <a:moveTo>
                    <a:pt x="2198751" y="418338"/>
                  </a:moveTo>
                  <a:lnTo>
                    <a:pt x="2085339" y="431800"/>
                  </a:lnTo>
                  <a:lnTo>
                    <a:pt x="2088514" y="460247"/>
                  </a:lnTo>
                  <a:lnTo>
                    <a:pt x="2132711" y="455294"/>
                  </a:lnTo>
                  <a:lnTo>
                    <a:pt x="2202180" y="446785"/>
                  </a:lnTo>
                  <a:lnTo>
                    <a:pt x="2198751" y="418338"/>
                  </a:lnTo>
                  <a:close/>
                </a:path>
                <a:path w="3715384" h="603250">
                  <a:moveTo>
                    <a:pt x="2000123" y="441325"/>
                  </a:moveTo>
                  <a:lnTo>
                    <a:pt x="1982343" y="443356"/>
                  </a:lnTo>
                  <a:lnTo>
                    <a:pt x="1886585" y="453135"/>
                  </a:lnTo>
                  <a:lnTo>
                    <a:pt x="1889506" y="481583"/>
                  </a:lnTo>
                  <a:lnTo>
                    <a:pt x="1985645" y="471804"/>
                  </a:lnTo>
                  <a:lnTo>
                    <a:pt x="2003298" y="469772"/>
                  </a:lnTo>
                  <a:lnTo>
                    <a:pt x="2000123" y="441325"/>
                  </a:lnTo>
                  <a:close/>
                </a:path>
                <a:path w="3715384" h="603250">
                  <a:moveTo>
                    <a:pt x="1801368" y="461518"/>
                  </a:moveTo>
                  <a:lnTo>
                    <a:pt x="1687576" y="472185"/>
                  </a:lnTo>
                  <a:lnTo>
                    <a:pt x="1690243" y="500633"/>
                  </a:lnTo>
                  <a:lnTo>
                    <a:pt x="1804035" y="489965"/>
                  </a:lnTo>
                  <a:lnTo>
                    <a:pt x="1801368" y="461518"/>
                  </a:lnTo>
                  <a:close/>
                </a:path>
                <a:path w="3715384" h="603250">
                  <a:moveTo>
                    <a:pt x="1602359" y="479425"/>
                  </a:moveTo>
                  <a:lnTo>
                    <a:pt x="1488567" y="488695"/>
                  </a:lnTo>
                  <a:lnTo>
                    <a:pt x="1490726" y="517270"/>
                  </a:lnTo>
                  <a:lnTo>
                    <a:pt x="1521206" y="514984"/>
                  </a:lnTo>
                  <a:lnTo>
                    <a:pt x="1604772" y="507872"/>
                  </a:lnTo>
                  <a:lnTo>
                    <a:pt x="1602359" y="479425"/>
                  </a:lnTo>
                  <a:close/>
                </a:path>
                <a:path w="3715384" h="603250">
                  <a:moveTo>
                    <a:pt x="1403096" y="495045"/>
                  </a:moveTo>
                  <a:lnTo>
                    <a:pt x="1289177" y="503046"/>
                  </a:lnTo>
                  <a:lnTo>
                    <a:pt x="1291082" y="531494"/>
                  </a:lnTo>
                  <a:lnTo>
                    <a:pt x="1405127" y="523620"/>
                  </a:lnTo>
                  <a:lnTo>
                    <a:pt x="1403096" y="495045"/>
                  </a:lnTo>
                  <a:close/>
                </a:path>
                <a:path w="3715384" h="603250">
                  <a:moveTo>
                    <a:pt x="1203578" y="508634"/>
                  </a:moveTo>
                  <a:lnTo>
                    <a:pt x="1089660" y="515365"/>
                  </a:lnTo>
                  <a:lnTo>
                    <a:pt x="1091311" y="543813"/>
                  </a:lnTo>
                  <a:lnTo>
                    <a:pt x="1205484" y="537209"/>
                  </a:lnTo>
                  <a:lnTo>
                    <a:pt x="1203621" y="509269"/>
                  </a:lnTo>
                  <a:lnTo>
                    <a:pt x="1203578" y="508634"/>
                  </a:lnTo>
                  <a:close/>
                </a:path>
                <a:path w="3715384" h="603250">
                  <a:moveTo>
                    <a:pt x="1004188" y="520064"/>
                  </a:moveTo>
                  <a:lnTo>
                    <a:pt x="890015" y="525652"/>
                  </a:lnTo>
                  <a:lnTo>
                    <a:pt x="891413" y="554101"/>
                  </a:lnTo>
                  <a:lnTo>
                    <a:pt x="1005586" y="548639"/>
                  </a:lnTo>
                  <a:lnTo>
                    <a:pt x="1004188" y="520064"/>
                  </a:lnTo>
                  <a:close/>
                </a:path>
                <a:path w="3715384" h="603250">
                  <a:moveTo>
                    <a:pt x="804418" y="529335"/>
                  </a:moveTo>
                  <a:lnTo>
                    <a:pt x="690245" y="533907"/>
                  </a:lnTo>
                  <a:lnTo>
                    <a:pt x="691388" y="562482"/>
                  </a:lnTo>
                  <a:lnTo>
                    <a:pt x="805688" y="557910"/>
                  </a:lnTo>
                  <a:lnTo>
                    <a:pt x="804418" y="529335"/>
                  </a:lnTo>
                  <a:close/>
                </a:path>
                <a:path w="3715384" h="603250">
                  <a:moveTo>
                    <a:pt x="604774" y="536701"/>
                  </a:moveTo>
                  <a:lnTo>
                    <a:pt x="490600" y="540003"/>
                  </a:lnTo>
                  <a:lnTo>
                    <a:pt x="491159" y="565150"/>
                  </a:lnTo>
                  <a:lnTo>
                    <a:pt x="491236" y="568578"/>
                  </a:lnTo>
                  <a:lnTo>
                    <a:pt x="605663" y="565150"/>
                  </a:lnTo>
                  <a:lnTo>
                    <a:pt x="604877" y="540003"/>
                  </a:lnTo>
                  <a:lnTo>
                    <a:pt x="604774" y="536701"/>
                  </a:lnTo>
                  <a:close/>
                </a:path>
                <a:path w="3715384" h="603250">
                  <a:moveTo>
                    <a:pt x="404875" y="541908"/>
                  </a:moveTo>
                  <a:lnTo>
                    <a:pt x="290702" y="544068"/>
                  </a:lnTo>
                  <a:lnTo>
                    <a:pt x="291055" y="570483"/>
                  </a:lnTo>
                  <a:lnTo>
                    <a:pt x="291084" y="572643"/>
                  </a:lnTo>
                  <a:lnTo>
                    <a:pt x="346837" y="571881"/>
                  </a:lnTo>
                  <a:lnTo>
                    <a:pt x="405511" y="570483"/>
                  </a:lnTo>
                  <a:lnTo>
                    <a:pt x="404923" y="544068"/>
                  </a:lnTo>
                  <a:lnTo>
                    <a:pt x="404875" y="541908"/>
                  </a:lnTo>
                  <a:close/>
                </a:path>
                <a:path w="3715384" h="603250">
                  <a:moveTo>
                    <a:pt x="204977" y="545210"/>
                  </a:moveTo>
                  <a:lnTo>
                    <a:pt x="90805" y="546100"/>
                  </a:lnTo>
                  <a:lnTo>
                    <a:pt x="90932" y="574675"/>
                  </a:lnTo>
                  <a:lnTo>
                    <a:pt x="205359" y="573785"/>
                  </a:lnTo>
                  <a:lnTo>
                    <a:pt x="204989" y="546100"/>
                  </a:lnTo>
                  <a:lnTo>
                    <a:pt x="204977" y="545210"/>
                  </a:lnTo>
                  <a:close/>
                </a:path>
                <a:path w="3715384" h="603250">
                  <a:moveTo>
                    <a:pt x="85471" y="517525"/>
                  </a:moveTo>
                  <a:lnTo>
                    <a:pt x="0" y="560832"/>
                  </a:lnTo>
                  <a:lnTo>
                    <a:pt x="85851" y="603250"/>
                  </a:lnTo>
                  <a:lnTo>
                    <a:pt x="85471" y="5175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45183" y="6824662"/>
            <a:ext cx="2404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33333"/>
                </a:solidFill>
                <a:latin typeface="MS PGothic"/>
                <a:cs typeface="MS PGothic"/>
              </a:rPr>
              <a:t>Raspberry</a:t>
            </a:r>
            <a:r>
              <a:rPr sz="1400" spc="-15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1400" dirty="0">
                <a:solidFill>
                  <a:srgbClr val="333333"/>
                </a:solidFill>
                <a:latin typeface="MS PGothic"/>
                <a:cs typeface="MS PGothic"/>
              </a:rPr>
              <a:t>Pi</a:t>
            </a:r>
            <a:r>
              <a:rPr sz="1400" spc="-45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1400" dirty="0">
                <a:solidFill>
                  <a:srgbClr val="333333"/>
                </a:solidFill>
                <a:latin typeface="MS PGothic"/>
                <a:cs typeface="MS PGothic"/>
              </a:rPr>
              <a:t>Pico</a:t>
            </a:r>
            <a:r>
              <a:rPr sz="1400" spc="-30" dirty="0">
                <a:solidFill>
                  <a:srgbClr val="333333"/>
                </a:solidFill>
                <a:latin typeface="MS PGothic"/>
                <a:cs typeface="MS PGothic"/>
              </a:rPr>
              <a:t> </a:t>
            </a:r>
            <a:r>
              <a:rPr sz="1400" dirty="0">
                <a:solidFill>
                  <a:srgbClr val="333333"/>
                </a:solidFill>
                <a:latin typeface="MS PGothic"/>
                <a:cs typeface="MS PGothic"/>
              </a:rPr>
              <a:t>W</a:t>
            </a:r>
            <a:r>
              <a:rPr sz="1400" spc="-10" dirty="0">
                <a:solidFill>
                  <a:srgbClr val="333333"/>
                </a:solidFill>
                <a:latin typeface="MS PGothic"/>
                <a:cs typeface="MS PGothic"/>
              </a:rPr>
              <a:t>のホルダー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230620" y="5081206"/>
            <a:ext cx="2733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333333"/>
                </a:solidFill>
                <a:latin typeface="MS PGothic"/>
                <a:cs typeface="MS PGothic"/>
              </a:rPr>
              <a:t>UF2</a:t>
            </a:r>
            <a:r>
              <a:rPr sz="1400" spc="-25" dirty="0">
                <a:solidFill>
                  <a:srgbClr val="333333"/>
                </a:solidFill>
                <a:latin typeface="MS PGothic"/>
                <a:cs typeface="MS PGothic"/>
              </a:rPr>
              <a:t>ファイルを保存しているホルダー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19500" y="4655820"/>
            <a:ext cx="1057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333333"/>
                </a:solidFill>
                <a:latin typeface="MS PGothic"/>
                <a:cs typeface="MS PGothic"/>
              </a:rPr>
              <a:t>ドラッグコピー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62025" y="1265809"/>
            <a:ext cx="7228205" cy="200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100"/>
              </a:spcBef>
              <a:buClr>
                <a:srgbClr val="375F92"/>
              </a:buClr>
              <a:buSzPct val="137500"/>
              <a:buFont typeface="Wingdings"/>
              <a:buChar char=""/>
              <a:tabLst>
                <a:tab pos="441959" algn="l"/>
              </a:tabLst>
            </a:pPr>
            <a:r>
              <a:rPr sz="2000" dirty="0">
                <a:latin typeface="MS PGothic"/>
                <a:cs typeface="MS PGothic"/>
              </a:rPr>
              <a:t>Thonny</a:t>
            </a:r>
            <a:r>
              <a:rPr sz="2000" spc="-35" dirty="0">
                <a:latin typeface="MS PGothic"/>
                <a:cs typeface="MS PGothic"/>
              </a:rPr>
              <a:t>とは</a:t>
            </a:r>
            <a:endParaRPr sz="2000">
              <a:latin typeface="MS PGothic"/>
              <a:cs typeface="MS PGothic"/>
            </a:endParaRPr>
          </a:p>
          <a:p>
            <a:pPr marL="469900">
              <a:lnSpc>
                <a:spcPts val="1760"/>
              </a:lnSpc>
            </a:pPr>
            <a:r>
              <a:rPr sz="1800" spc="-10" dirty="0">
                <a:latin typeface="MS PGothic"/>
                <a:cs typeface="MS PGothic"/>
              </a:rPr>
              <a:t>MicroPython</a:t>
            </a:r>
            <a:r>
              <a:rPr sz="1800" spc="-20" dirty="0">
                <a:latin typeface="MS PGothic"/>
                <a:cs typeface="MS PGothic"/>
              </a:rPr>
              <a:t>を実行するためのアプリケーションです。</a:t>
            </a:r>
            <a:endParaRPr sz="1800">
              <a:latin typeface="MS PGothic"/>
              <a:cs typeface="MS PGothic"/>
            </a:endParaRPr>
          </a:p>
          <a:p>
            <a:pPr marL="362585" indent="-356870">
              <a:lnSpc>
                <a:spcPts val="2880"/>
              </a:lnSpc>
              <a:buClr>
                <a:srgbClr val="375F92"/>
              </a:buClr>
              <a:buSzPct val="137500"/>
              <a:buFont typeface="Wingdings"/>
              <a:buChar char=""/>
              <a:tabLst>
                <a:tab pos="362585" algn="l"/>
              </a:tabLst>
            </a:pPr>
            <a:r>
              <a:rPr sz="2000" dirty="0">
                <a:latin typeface="MS PGothic"/>
                <a:cs typeface="MS PGothic"/>
              </a:rPr>
              <a:t>Thonny</a:t>
            </a:r>
            <a:r>
              <a:rPr sz="2000" spc="-20" dirty="0">
                <a:latin typeface="MS PGothic"/>
                <a:cs typeface="MS PGothic"/>
              </a:rPr>
              <a:t>のインストール</a:t>
            </a:r>
            <a:endParaRPr sz="200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  <a:tabLst>
                <a:tab pos="850900" algn="l"/>
                <a:tab pos="2880995" algn="l"/>
              </a:tabLst>
            </a:pPr>
            <a:r>
              <a:rPr sz="18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S PGothic"/>
                <a:cs typeface="MS PGothic"/>
                <a:hlinkClick r:id="rId2"/>
              </a:rPr>
              <a:t>①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S PGothic"/>
                <a:cs typeface="MS PGothic"/>
                <a:hlinkClick r:id="rId2"/>
              </a:rPr>
              <a:t>	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S PGothic"/>
                <a:cs typeface="MS PGothic"/>
                <a:hlinkClick r:id="rId2"/>
              </a:rPr>
              <a:t>https://thonny.org/</a:t>
            </a:r>
            <a:r>
              <a:rPr sz="1800" u="none" dirty="0">
                <a:solidFill>
                  <a:srgbClr val="0000FF"/>
                </a:solidFill>
                <a:latin typeface="MS PGothic"/>
                <a:cs typeface="MS PGothic"/>
              </a:rPr>
              <a:t>	</a:t>
            </a:r>
            <a:r>
              <a:rPr sz="1800" u="none" spc="-15" dirty="0">
                <a:latin typeface="MS PGothic"/>
                <a:cs typeface="MS PGothic"/>
              </a:rPr>
              <a:t>をブラウザで実行します。</a:t>
            </a:r>
            <a:endParaRPr sz="180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②</a:t>
            </a:r>
            <a:r>
              <a:rPr sz="1800" dirty="0">
                <a:latin typeface="MS PGothic"/>
                <a:cs typeface="MS PGothic"/>
              </a:rPr>
              <a:t>	赤枠内の「</a:t>
            </a:r>
            <a:r>
              <a:rPr sz="1800" spc="-10" dirty="0">
                <a:latin typeface="MS PGothic"/>
                <a:cs typeface="MS PGothic"/>
              </a:rPr>
              <a:t>Windows</a:t>
            </a:r>
            <a:r>
              <a:rPr sz="1800" spc="-30" dirty="0">
                <a:latin typeface="MS PGothic"/>
                <a:cs typeface="MS PGothic"/>
              </a:rPr>
              <a:t>」にカーソルを乗せると。</a:t>
            </a:r>
            <a:endParaRPr sz="180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③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20" dirty="0">
                <a:latin typeface="MS PGothic"/>
                <a:cs typeface="MS PGothic"/>
              </a:rPr>
              <a:t>右下の画面が出ます。「</a:t>
            </a:r>
            <a:r>
              <a:rPr sz="1800" spc="-10" dirty="0">
                <a:latin typeface="MS PGothic"/>
                <a:cs typeface="MS PGothic"/>
              </a:rPr>
              <a:t>Thonny-4.1.4.exe(21MB</a:t>
            </a:r>
            <a:r>
              <a:rPr sz="1800" spc="-20" dirty="0">
                <a:latin typeface="MS PGothic"/>
                <a:cs typeface="MS PGothic"/>
              </a:rPr>
              <a:t>)」をクリックします。</a:t>
            </a:r>
            <a:endParaRPr sz="180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④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20" dirty="0">
                <a:latin typeface="MS PGothic"/>
                <a:cs typeface="MS PGothic"/>
              </a:rPr>
              <a:t>ダウンロード画面が表示されてで「開く」をクリックします。</a:t>
            </a:r>
            <a:endParaRPr sz="1800">
              <a:latin typeface="MS PGothic"/>
              <a:cs typeface="MS P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8296" y="4095069"/>
            <a:ext cx="2806065" cy="2082800"/>
            <a:chOff x="1568296" y="4095069"/>
            <a:chExt cx="2806065" cy="20828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8296" y="4095069"/>
              <a:ext cx="2722927" cy="20822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74340" y="4810760"/>
              <a:ext cx="1386840" cy="325120"/>
            </a:xfrm>
            <a:custGeom>
              <a:avLst/>
              <a:gdLst/>
              <a:ahLst/>
              <a:cxnLst/>
              <a:rect l="l" t="t" r="r" b="b"/>
              <a:pathLst>
                <a:path w="1386839" h="325120">
                  <a:moveTo>
                    <a:pt x="0" y="325120"/>
                  </a:moveTo>
                  <a:lnTo>
                    <a:pt x="1386839" y="325120"/>
                  </a:lnTo>
                  <a:lnTo>
                    <a:pt x="1386839" y="0"/>
                  </a:lnTo>
                  <a:lnTo>
                    <a:pt x="0" y="0"/>
                  </a:lnTo>
                  <a:lnTo>
                    <a:pt x="0" y="32512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212079" y="4173220"/>
            <a:ext cx="4526280" cy="2600960"/>
            <a:chOff x="5212079" y="4173220"/>
            <a:chExt cx="4526280" cy="26009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2079" y="4189606"/>
              <a:ext cx="3957320" cy="25845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88279" y="5036820"/>
              <a:ext cx="3530600" cy="337820"/>
            </a:xfrm>
            <a:custGeom>
              <a:avLst/>
              <a:gdLst/>
              <a:ahLst/>
              <a:cxnLst/>
              <a:rect l="l" t="t" r="r" b="b"/>
              <a:pathLst>
                <a:path w="3530600" h="337820">
                  <a:moveTo>
                    <a:pt x="0" y="337819"/>
                  </a:moveTo>
                  <a:lnTo>
                    <a:pt x="3530600" y="337819"/>
                  </a:lnTo>
                  <a:lnTo>
                    <a:pt x="3530600" y="0"/>
                  </a:lnTo>
                  <a:lnTo>
                    <a:pt x="0" y="0"/>
                  </a:lnTo>
                  <a:lnTo>
                    <a:pt x="0" y="33781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69400" y="4185920"/>
              <a:ext cx="556260" cy="452120"/>
            </a:xfrm>
            <a:custGeom>
              <a:avLst/>
              <a:gdLst/>
              <a:ahLst/>
              <a:cxnLst/>
              <a:rect l="l" t="t" r="r" b="b"/>
              <a:pathLst>
                <a:path w="556259" h="452120">
                  <a:moveTo>
                    <a:pt x="278129" y="0"/>
                  </a:moveTo>
                  <a:lnTo>
                    <a:pt x="0" y="226060"/>
                  </a:lnTo>
                  <a:lnTo>
                    <a:pt x="139065" y="226060"/>
                  </a:lnTo>
                  <a:lnTo>
                    <a:pt x="139065" y="452120"/>
                  </a:lnTo>
                  <a:lnTo>
                    <a:pt x="417195" y="452120"/>
                  </a:lnTo>
                  <a:lnTo>
                    <a:pt x="417195" y="226060"/>
                  </a:lnTo>
                  <a:lnTo>
                    <a:pt x="556259" y="226060"/>
                  </a:lnTo>
                  <a:lnTo>
                    <a:pt x="27812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9400" y="4185920"/>
              <a:ext cx="556260" cy="452120"/>
            </a:xfrm>
            <a:custGeom>
              <a:avLst/>
              <a:gdLst/>
              <a:ahLst/>
              <a:cxnLst/>
              <a:rect l="l" t="t" r="r" b="b"/>
              <a:pathLst>
                <a:path w="556259" h="452120">
                  <a:moveTo>
                    <a:pt x="0" y="226060"/>
                  </a:moveTo>
                  <a:lnTo>
                    <a:pt x="278129" y="0"/>
                  </a:lnTo>
                  <a:lnTo>
                    <a:pt x="556259" y="226060"/>
                  </a:lnTo>
                  <a:lnTo>
                    <a:pt x="417195" y="226060"/>
                  </a:lnTo>
                  <a:lnTo>
                    <a:pt x="417195" y="452120"/>
                  </a:lnTo>
                  <a:lnTo>
                    <a:pt x="139065" y="452120"/>
                  </a:lnTo>
                  <a:lnTo>
                    <a:pt x="139065" y="226060"/>
                  </a:lnTo>
                  <a:lnTo>
                    <a:pt x="0" y="22606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480559" y="4925060"/>
            <a:ext cx="637540" cy="223520"/>
            <a:chOff x="4480559" y="4925060"/>
            <a:chExt cx="637540" cy="223520"/>
          </a:xfrm>
        </p:grpSpPr>
        <p:sp>
          <p:nvSpPr>
            <p:cNvPr id="13" name="object 13"/>
            <p:cNvSpPr/>
            <p:nvPr/>
          </p:nvSpPr>
          <p:spPr>
            <a:xfrm>
              <a:off x="4493259" y="4937760"/>
              <a:ext cx="612140" cy="198120"/>
            </a:xfrm>
            <a:custGeom>
              <a:avLst/>
              <a:gdLst/>
              <a:ahLst/>
              <a:cxnLst/>
              <a:rect l="l" t="t" r="r" b="b"/>
              <a:pathLst>
                <a:path w="612139" h="198120">
                  <a:moveTo>
                    <a:pt x="513079" y="0"/>
                  </a:moveTo>
                  <a:lnTo>
                    <a:pt x="513079" y="49530"/>
                  </a:lnTo>
                  <a:lnTo>
                    <a:pt x="0" y="49530"/>
                  </a:lnTo>
                  <a:lnTo>
                    <a:pt x="0" y="148590"/>
                  </a:lnTo>
                  <a:lnTo>
                    <a:pt x="513079" y="148590"/>
                  </a:lnTo>
                  <a:lnTo>
                    <a:pt x="513079" y="198120"/>
                  </a:lnTo>
                  <a:lnTo>
                    <a:pt x="612139" y="99060"/>
                  </a:lnTo>
                  <a:lnTo>
                    <a:pt x="51307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93259" y="4937760"/>
              <a:ext cx="612140" cy="198120"/>
            </a:xfrm>
            <a:custGeom>
              <a:avLst/>
              <a:gdLst/>
              <a:ahLst/>
              <a:cxnLst/>
              <a:rect l="l" t="t" r="r" b="b"/>
              <a:pathLst>
                <a:path w="612139" h="198120">
                  <a:moveTo>
                    <a:pt x="0" y="49530"/>
                  </a:moveTo>
                  <a:lnTo>
                    <a:pt x="513079" y="49530"/>
                  </a:lnTo>
                  <a:lnTo>
                    <a:pt x="513079" y="0"/>
                  </a:lnTo>
                  <a:lnTo>
                    <a:pt x="612139" y="99060"/>
                  </a:lnTo>
                  <a:lnTo>
                    <a:pt x="513079" y="198120"/>
                  </a:lnTo>
                  <a:lnTo>
                    <a:pt x="513079" y="148590"/>
                  </a:lnTo>
                  <a:lnTo>
                    <a:pt x="0" y="148590"/>
                  </a:lnTo>
                  <a:lnTo>
                    <a:pt x="0" y="4953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785100" y="3299460"/>
            <a:ext cx="1780539" cy="774700"/>
            <a:chOff x="7785100" y="3299460"/>
            <a:chExt cx="1780539" cy="77470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85100" y="3299460"/>
              <a:ext cx="1780540" cy="7747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19720" y="3642360"/>
              <a:ext cx="449580" cy="205740"/>
            </a:xfrm>
            <a:custGeom>
              <a:avLst/>
              <a:gdLst/>
              <a:ahLst/>
              <a:cxnLst/>
              <a:rect l="l" t="t" r="r" b="b"/>
              <a:pathLst>
                <a:path w="449579" h="205739">
                  <a:moveTo>
                    <a:pt x="0" y="205739"/>
                  </a:moveTo>
                  <a:lnTo>
                    <a:pt x="449579" y="205739"/>
                  </a:lnTo>
                  <a:lnTo>
                    <a:pt x="449579" y="0"/>
                  </a:lnTo>
                  <a:lnTo>
                    <a:pt x="0" y="0"/>
                  </a:lnTo>
                  <a:lnTo>
                    <a:pt x="0" y="20573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1" name="object 2" descr="$PPTXTitle">
            <a:extLst>
              <a:ext uri="{FF2B5EF4-FFF2-40B4-BE49-F238E27FC236}">
                <a16:creationId xmlns:a16="http://schemas.microsoft.com/office/drawing/2014/main" id="{5BAD57F2-DBE3-F477-8DCA-B3AA5057A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6741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840" algn="l"/>
                <a:tab pos="1671955" algn="l"/>
              </a:tabLst>
            </a:pPr>
            <a:r>
              <a:rPr spc="-10" dirty="0" err="1"/>
              <a:t>開発</a:t>
            </a:r>
            <a:r>
              <a:rPr dirty="0" err="1"/>
              <a:t>ツ</a:t>
            </a:r>
            <a:r>
              <a:rPr spc="-20" dirty="0" err="1"/>
              <a:t>ー</a:t>
            </a:r>
            <a:r>
              <a:rPr dirty="0" err="1"/>
              <a:t>ル</a:t>
            </a:r>
            <a:r>
              <a:rPr spc="95" dirty="0"/>
              <a:t> </a:t>
            </a:r>
            <a:r>
              <a:rPr spc="-10" dirty="0"/>
              <a:t>Thonny</a:t>
            </a:r>
            <a:r>
              <a:rPr spc="-25" dirty="0"/>
              <a:t>をPC</a:t>
            </a:r>
            <a:r>
              <a:rPr spc="-10" dirty="0"/>
              <a:t>に</a:t>
            </a:r>
            <a:r>
              <a:rPr spc="-30" dirty="0"/>
              <a:t>イ</a:t>
            </a:r>
            <a:r>
              <a:rPr dirty="0"/>
              <a:t>ン</a:t>
            </a:r>
            <a:r>
              <a:rPr spc="-20" dirty="0"/>
              <a:t>ス</a:t>
            </a:r>
            <a:r>
              <a:rPr spc="-25" dirty="0"/>
              <a:t>ト</a:t>
            </a:r>
            <a:r>
              <a:rPr spc="-30" dirty="0"/>
              <a:t>ー</a:t>
            </a:r>
            <a:r>
              <a:rPr spc="-60" dirty="0"/>
              <a:t>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6741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840" algn="l"/>
                <a:tab pos="1671955" algn="l"/>
              </a:tabLst>
            </a:pPr>
            <a:r>
              <a:rPr spc="-10" dirty="0" err="1"/>
              <a:t>開発</a:t>
            </a:r>
            <a:r>
              <a:rPr dirty="0" err="1"/>
              <a:t>ツ</a:t>
            </a:r>
            <a:r>
              <a:rPr spc="-20" dirty="0" err="1"/>
              <a:t>ー</a:t>
            </a:r>
            <a:r>
              <a:rPr dirty="0" err="1"/>
              <a:t>ル</a:t>
            </a:r>
            <a:r>
              <a:rPr spc="95" dirty="0"/>
              <a:t> </a:t>
            </a:r>
            <a:r>
              <a:rPr spc="-10" dirty="0"/>
              <a:t>Thonny</a:t>
            </a:r>
            <a:r>
              <a:rPr spc="-25" dirty="0"/>
              <a:t>をPC</a:t>
            </a:r>
            <a:r>
              <a:rPr spc="-10" dirty="0"/>
              <a:t>に</a:t>
            </a:r>
            <a:r>
              <a:rPr spc="-30" dirty="0"/>
              <a:t>イ</a:t>
            </a:r>
            <a:r>
              <a:rPr dirty="0"/>
              <a:t>ン</a:t>
            </a:r>
            <a:r>
              <a:rPr spc="-20" dirty="0"/>
              <a:t>ス</a:t>
            </a:r>
            <a:r>
              <a:rPr spc="-25" dirty="0"/>
              <a:t>ト</a:t>
            </a:r>
            <a:r>
              <a:rPr spc="-30" dirty="0"/>
              <a:t>ー</a:t>
            </a:r>
            <a:r>
              <a:rPr spc="-60" dirty="0"/>
              <a:t>ル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72" y="1519174"/>
            <a:ext cx="8783955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100"/>
              </a:spcBef>
              <a:buClr>
                <a:srgbClr val="375F92"/>
              </a:buClr>
              <a:buSzPct val="155555"/>
              <a:buFont typeface="Wingdings"/>
              <a:buChar char=""/>
              <a:tabLst>
                <a:tab pos="441959" algn="l"/>
              </a:tabLst>
            </a:pPr>
            <a:r>
              <a:rPr sz="1800" spc="-10" dirty="0">
                <a:latin typeface="MS PGothic"/>
                <a:cs typeface="MS PGothic"/>
              </a:rPr>
              <a:t>Thonny</a:t>
            </a:r>
            <a:r>
              <a:rPr sz="1800" spc="-20" dirty="0">
                <a:latin typeface="MS PGothic"/>
                <a:cs typeface="MS PGothic"/>
              </a:rPr>
              <a:t>のインストール</a:t>
            </a:r>
            <a:endParaRPr sz="1800">
              <a:latin typeface="MS PGothic"/>
              <a:cs typeface="MS PGothic"/>
            </a:endParaRPr>
          </a:p>
          <a:p>
            <a:pPr marL="622300">
              <a:lnSpc>
                <a:spcPct val="100000"/>
              </a:lnSpc>
              <a:spcBef>
                <a:spcPts val="40"/>
              </a:spcBef>
            </a:pPr>
            <a:r>
              <a:rPr sz="1800" spc="-30" dirty="0">
                <a:latin typeface="MS PGothic"/>
                <a:cs typeface="MS PGothic"/>
              </a:rPr>
              <a:t>下記のような画面が出ます。赤枠をクリックして、</a:t>
            </a:r>
            <a:r>
              <a:rPr sz="1800" dirty="0">
                <a:latin typeface="MS PGothic"/>
                <a:cs typeface="MS PGothic"/>
              </a:rPr>
              <a:t>Great</a:t>
            </a:r>
            <a:r>
              <a:rPr sz="1800" spc="125" dirty="0">
                <a:latin typeface="MS PGothic"/>
                <a:cs typeface="MS PGothic"/>
              </a:rPr>
              <a:t> </a:t>
            </a:r>
            <a:r>
              <a:rPr sz="1800" spc="-10" dirty="0">
                <a:latin typeface="MS PGothic"/>
                <a:cs typeface="MS PGothic"/>
              </a:rPr>
              <a:t>success</a:t>
            </a:r>
            <a:r>
              <a:rPr sz="1800" spc="-20" dirty="0">
                <a:latin typeface="MS PGothic"/>
                <a:cs typeface="MS PGothic"/>
              </a:rPr>
              <a:t>!が出るまで続けます。</a:t>
            </a:r>
            <a:endParaRPr sz="1800">
              <a:latin typeface="MS PGothic"/>
              <a:cs typeface="MS PGothic"/>
            </a:endParaRPr>
          </a:p>
        </p:txBody>
      </p:sp>
      <p:grpSp>
        <p:nvGrpSpPr>
          <p:cNvPr id="4" name="object 4" descr="グラフィカル ユーザー インターフェイス, テキスト, アプリケーション  自動的に生成された説明"/>
          <p:cNvGrpSpPr/>
          <p:nvPr/>
        </p:nvGrpSpPr>
        <p:grpSpPr>
          <a:xfrm>
            <a:off x="2316479" y="2514600"/>
            <a:ext cx="2689860" cy="1912620"/>
            <a:chOff x="2316479" y="2514600"/>
            <a:chExt cx="2689860" cy="1912620"/>
          </a:xfrm>
        </p:grpSpPr>
        <p:pic>
          <p:nvPicPr>
            <p:cNvPr id="5" name="object 5" descr="グラフィカル ユーザー インターフェイス, テキスト, アプリケーション  自動的に生成された説明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6479" y="2514600"/>
              <a:ext cx="2689860" cy="1912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37789" y="3773170"/>
              <a:ext cx="1785620" cy="223520"/>
            </a:xfrm>
            <a:custGeom>
              <a:avLst/>
              <a:gdLst/>
              <a:ahLst/>
              <a:cxnLst/>
              <a:rect l="l" t="t" r="r" b="b"/>
              <a:pathLst>
                <a:path w="1785620" h="223520">
                  <a:moveTo>
                    <a:pt x="0" y="223520"/>
                  </a:moveTo>
                  <a:lnTo>
                    <a:pt x="1785619" y="223520"/>
                  </a:lnTo>
                  <a:lnTo>
                    <a:pt x="1785619" y="0"/>
                  </a:lnTo>
                  <a:lnTo>
                    <a:pt x="0" y="0"/>
                  </a:lnTo>
                  <a:lnTo>
                    <a:pt x="0" y="22352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グラフィカル ユーザー インターフェイス, テキスト, アプリケーション  自動的に生成された説明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300" y="5138420"/>
            <a:ext cx="2766060" cy="21463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842260" y="4632960"/>
            <a:ext cx="1714500" cy="358140"/>
            <a:chOff x="2842260" y="4632960"/>
            <a:chExt cx="1714500" cy="358140"/>
          </a:xfrm>
        </p:grpSpPr>
        <p:sp>
          <p:nvSpPr>
            <p:cNvPr id="9" name="object 9"/>
            <p:cNvSpPr/>
            <p:nvPr/>
          </p:nvSpPr>
          <p:spPr>
            <a:xfrm>
              <a:off x="2854960" y="4645660"/>
              <a:ext cx="1689100" cy="332740"/>
            </a:xfrm>
            <a:custGeom>
              <a:avLst/>
              <a:gdLst/>
              <a:ahLst/>
              <a:cxnLst/>
              <a:rect l="l" t="t" r="r" b="b"/>
              <a:pathLst>
                <a:path w="1689100" h="332739">
                  <a:moveTo>
                    <a:pt x="1266825" y="0"/>
                  </a:moveTo>
                  <a:lnTo>
                    <a:pt x="422275" y="0"/>
                  </a:lnTo>
                  <a:lnTo>
                    <a:pt x="422275" y="166370"/>
                  </a:lnTo>
                  <a:lnTo>
                    <a:pt x="0" y="166370"/>
                  </a:lnTo>
                  <a:lnTo>
                    <a:pt x="844550" y="332740"/>
                  </a:lnTo>
                  <a:lnTo>
                    <a:pt x="1689100" y="166370"/>
                  </a:lnTo>
                  <a:lnTo>
                    <a:pt x="1266825" y="166370"/>
                  </a:lnTo>
                  <a:lnTo>
                    <a:pt x="12668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4960" y="4645660"/>
              <a:ext cx="1689100" cy="332740"/>
            </a:xfrm>
            <a:custGeom>
              <a:avLst/>
              <a:gdLst/>
              <a:ahLst/>
              <a:cxnLst/>
              <a:rect l="l" t="t" r="r" b="b"/>
              <a:pathLst>
                <a:path w="1689100" h="332739">
                  <a:moveTo>
                    <a:pt x="0" y="166370"/>
                  </a:moveTo>
                  <a:lnTo>
                    <a:pt x="422275" y="166370"/>
                  </a:lnTo>
                  <a:lnTo>
                    <a:pt x="422275" y="0"/>
                  </a:lnTo>
                  <a:lnTo>
                    <a:pt x="1266825" y="0"/>
                  </a:lnTo>
                  <a:lnTo>
                    <a:pt x="1266825" y="166370"/>
                  </a:lnTo>
                  <a:lnTo>
                    <a:pt x="1689100" y="166370"/>
                  </a:lnTo>
                  <a:lnTo>
                    <a:pt x="844550" y="332740"/>
                  </a:lnTo>
                  <a:lnTo>
                    <a:pt x="0" y="16637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3554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840" algn="l"/>
                <a:tab pos="1671955" algn="l"/>
              </a:tabLst>
            </a:pPr>
            <a:r>
              <a:rPr spc="-10" dirty="0" err="1"/>
              <a:t>Thonnyの</a:t>
            </a:r>
            <a:r>
              <a:rPr spc="-30" dirty="0" err="1"/>
              <a:t>設</a:t>
            </a:r>
            <a:r>
              <a:rPr spc="-50" dirty="0" err="1"/>
              <a:t>定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34097" y="1434084"/>
            <a:ext cx="7665403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indent="-429259">
              <a:lnSpc>
                <a:spcPts val="239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959" algn="l"/>
              </a:tabLst>
            </a:pPr>
            <a:r>
              <a:rPr sz="2000" dirty="0">
                <a:latin typeface="MS PGothic"/>
                <a:cs typeface="MS PGothic"/>
              </a:rPr>
              <a:t>Thonny</a:t>
            </a:r>
            <a:r>
              <a:rPr sz="2000" spc="-35" dirty="0">
                <a:latin typeface="MS PGothic"/>
                <a:cs typeface="MS PGothic"/>
              </a:rPr>
              <a:t>インタープリターの設定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1670"/>
              </a:lnSpc>
            </a:pPr>
            <a:r>
              <a:rPr sz="1400" dirty="0">
                <a:latin typeface="MS PGothic"/>
                <a:cs typeface="MS PGothic"/>
              </a:rPr>
              <a:t>Raspberry</a:t>
            </a:r>
            <a:r>
              <a:rPr sz="1400" spc="15" dirty="0">
                <a:latin typeface="MS PGothic"/>
                <a:cs typeface="MS PGothic"/>
              </a:rPr>
              <a:t> </a:t>
            </a:r>
            <a:r>
              <a:rPr sz="1400" dirty="0">
                <a:latin typeface="MS PGothic"/>
                <a:cs typeface="MS PGothic"/>
              </a:rPr>
              <a:t>Pi</a:t>
            </a:r>
            <a:r>
              <a:rPr sz="1400" spc="-15" dirty="0">
                <a:latin typeface="MS PGothic"/>
                <a:cs typeface="MS PGothic"/>
              </a:rPr>
              <a:t> </a:t>
            </a:r>
            <a:r>
              <a:rPr sz="1400" dirty="0">
                <a:latin typeface="MS PGothic"/>
                <a:cs typeface="MS PGothic"/>
              </a:rPr>
              <a:t>Pico W</a:t>
            </a:r>
            <a:r>
              <a:rPr sz="1400" spc="-20" dirty="0">
                <a:latin typeface="MS PGothic"/>
                <a:cs typeface="MS PGothic"/>
              </a:rPr>
              <a:t> </a:t>
            </a:r>
            <a:r>
              <a:rPr sz="1400" spc="-20" dirty="0" err="1">
                <a:latin typeface="MS PGothic"/>
                <a:cs typeface="MS PGothic"/>
              </a:rPr>
              <a:t>を</a:t>
            </a:r>
            <a:r>
              <a:rPr sz="1400" spc="-10" dirty="0" err="1">
                <a:latin typeface="MS PGothic"/>
                <a:cs typeface="MS PGothic"/>
              </a:rPr>
              <a:t>PCに接続した状態でThonny</a:t>
            </a:r>
            <a:r>
              <a:rPr sz="1400" spc="-35" dirty="0" err="1">
                <a:latin typeface="MS PGothic"/>
                <a:cs typeface="MS PGothic"/>
              </a:rPr>
              <a:t>を起動</a:t>
            </a:r>
            <a:r>
              <a:rPr lang="ja-JP" altLang="en-US" sz="1400" spc="-35" dirty="0">
                <a:latin typeface="MS PGothic"/>
                <a:cs typeface="MS PGothic"/>
              </a:rPr>
              <a:t>します。</a:t>
            </a:r>
            <a:r>
              <a:rPr sz="1400" spc="-35" dirty="0">
                <a:latin typeface="MS PGothic"/>
                <a:cs typeface="MS PGothic"/>
              </a:rPr>
              <a:t>。</a:t>
            </a:r>
            <a:endParaRPr sz="14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sz="1400" spc="-30" dirty="0">
                <a:latin typeface="MS PGothic"/>
                <a:cs typeface="MS PGothic"/>
              </a:rPr>
              <a:t>画面右下の赤枠の部分をクリックして「</a:t>
            </a:r>
            <a:r>
              <a:rPr sz="1400" dirty="0">
                <a:latin typeface="MS PGothic"/>
                <a:cs typeface="MS PGothic"/>
              </a:rPr>
              <a:t>MicroPython</a:t>
            </a:r>
            <a:r>
              <a:rPr sz="1400" spc="10" dirty="0">
                <a:latin typeface="MS PGothic"/>
                <a:cs typeface="MS PGothic"/>
              </a:rPr>
              <a:t> (</a:t>
            </a:r>
            <a:r>
              <a:rPr sz="1400" dirty="0">
                <a:latin typeface="MS PGothic"/>
                <a:cs typeface="MS PGothic"/>
              </a:rPr>
              <a:t>Raspberry Pi</a:t>
            </a:r>
            <a:r>
              <a:rPr sz="1400" spc="15" dirty="0">
                <a:latin typeface="MS PGothic"/>
                <a:cs typeface="MS PGothic"/>
              </a:rPr>
              <a:t> </a:t>
            </a:r>
            <a:r>
              <a:rPr sz="1400" spc="-10" dirty="0">
                <a:latin typeface="MS PGothic"/>
                <a:cs typeface="MS PGothic"/>
              </a:rPr>
              <a:t>Pico</a:t>
            </a:r>
            <a:r>
              <a:rPr sz="1400" spc="-35" dirty="0">
                <a:latin typeface="MS PGothic"/>
                <a:cs typeface="MS PGothic"/>
              </a:rPr>
              <a:t>)」</a:t>
            </a:r>
            <a:r>
              <a:rPr sz="1400" spc="-35" dirty="0" err="1">
                <a:latin typeface="MS PGothic"/>
                <a:cs typeface="MS PGothic"/>
              </a:rPr>
              <a:t>に選択</a:t>
            </a:r>
            <a:r>
              <a:rPr lang="ja-JP" altLang="en-US" sz="1400" spc="-35" dirty="0">
                <a:latin typeface="MS PGothic"/>
                <a:cs typeface="MS PGothic"/>
              </a:rPr>
              <a:t>します</a:t>
            </a:r>
            <a:r>
              <a:rPr sz="1400" spc="-35" dirty="0">
                <a:latin typeface="MS PGothic"/>
                <a:cs typeface="MS PGothic"/>
              </a:rPr>
              <a:t>。</a:t>
            </a:r>
            <a:endParaRPr sz="1400" dirty="0">
              <a:latin typeface="MS PGothic"/>
              <a:cs typeface="MS P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63039" y="2339340"/>
            <a:ext cx="8420100" cy="3043555"/>
            <a:chOff x="1463039" y="2339340"/>
            <a:chExt cx="8420100" cy="30435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3039" y="2339340"/>
              <a:ext cx="5234940" cy="23418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5480" y="4008120"/>
              <a:ext cx="2867660" cy="10769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86169" y="4547870"/>
              <a:ext cx="622300" cy="177800"/>
            </a:xfrm>
            <a:custGeom>
              <a:avLst/>
              <a:gdLst/>
              <a:ahLst/>
              <a:cxnLst/>
              <a:rect l="l" t="t" r="r" b="b"/>
              <a:pathLst>
                <a:path w="622300" h="177800">
                  <a:moveTo>
                    <a:pt x="0" y="177800"/>
                  </a:moveTo>
                  <a:lnTo>
                    <a:pt x="622300" y="177800"/>
                  </a:lnTo>
                  <a:lnTo>
                    <a:pt x="622300" y="0"/>
                  </a:lnTo>
                  <a:lnTo>
                    <a:pt x="0" y="0"/>
                  </a:lnTo>
                  <a:lnTo>
                    <a:pt x="0" y="1778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0831" y="4530471"/>
              <a:ext cx="214122" cy="11137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57769" y="4458970"/>
              <a:ext cx="1016000" cy="231140"/>
            </a:xfrm>
            <a:custGeom>
              <a:avLst/>
              <a:gdLst/>
              <a:ahLst/>
              <a:cxnLst/>
              <a:rect l="l" t="t" r="r" b="b"/>
              <a:pathLst>
                <a:path w="1016000" h="231139">
                  <a:moveTo>
                    <a:pt x="0" y="231139"/>
                  </a:moveTo>
                  <a:lnTo>
                    <a:pt x="1016000" y="231139"/>
                  </a:lnTo>
                  <a:lnTo>
                    <a:pt x="1016000" y="0"/>
                  </a:lnTo>
                  <a:lnTo>
                    <a:pt x="0" y="0"/>
                  </a:lnTo>
                  <a:lnTo>
                    <a:pt x="0" y="23113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69129" y="4707001"/>
              <a:ext cx="3091815" cy="676275"/>
            </a:xfrm>
            <a:custGeom>
              <a:avLst/>
              <a:gdLst/>
              <a:ahLst/>
              <a:cxnLst/>
              <a:rect l="l" t="t" r="r" b="b"/>
              <a:pathLst>
                <a:path w="3091815" h="676275">
                  <a:moveTo>
                    <a:pt x="100711" y="563752"/>
                  </a:moveTo>
                  <a:lnTo>
                    <a:pt x="0" y="642365"/>
                  </a:lnTo>
                  <a:lnTo>
                    <a:pt x="123317" y="675766"/>
                  </a:lnTo>
                  <a:lnTo>
                    <a:pt x="116576" y="642365"/>
                  </a:lnTo>
                  <a:lnTo>
                    <a:pt x="97180" y="642365"/>
                  </a:lnTo>
                  <a:lnTo>
                    <a:pt x="89535" y="604901"/>
                  </a:lnTo>
                  <a:lnTo>
                    <a:pt x="108252" y="601120"/>
                  </a:lnTo>
                  <a:lnTo>
                    <a:pt x="100711" y="563752"/>
                  </a:lnTo>
                  <a:close/>
                </a:path>
                <a:path w="3091815" h="676275">
                  <a:moveTo>
                    <a:pt x="108252" y="601120"/>
                  </a:moveTo>
                  <a:lnTo>
                    <a:pt x="89535" y="604901"/>
                  </a:lnTo>
                  <a:lnTo>
                    <a:pt x="97180" y="642365"/>
                  </a:lnTo>
                  <a:lnTo>
                    <a:pt x="96526" y="642365"/>
                  </a:lnTo>
                  <a:lnTo>
                    <a:pt x="115790" y="638474"/>
                  </a:lnTo>
                  <a:lnTo>
                    <a:pt x="108252" y="601120"/>
                  </a:lnTo>
                  <a:close/>
                </a:path>
                <a:path w="3091815" h="676275">
                  <a:moveTo>
                    <a:pt x="115790" y="638474"/>
                  </a:moveTo>
                  <a:lnTo>
                    <a:pt x="96526" y="642365"/>
                  </a:lnTo>
                  <a:lnTo>
                    <a:pt x="116576" y="642365"/>
                  </a:lnTo>
                  <a:lnTo>
                    <a:pt x="115790" y="638474"/>
                  </a:lnTo>
                  <a:close/>
                </a:path>
                <a:path w="3091815" h="676275">
                  <a:moveTo>
                    <a:pt x="3084322" y="0"/>
                  </a:moveTo>
                  <a:lnTo>
                    <a:pt x="108252" y="601120"/>
                  </a:lnTo>
                  <a:lnTo>
                    <a:pt x="115790" y="638474"/>
                  </a:lnTo>
                  <a:lnTo>
                    <a:pt x="3091815" y="37337"/>
                  </a:lnTo>
                  <a:lnTo>
                    <a:pt x="30843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844039" y="4848860"/>
            <a:ext cx="2542540" cy="2443480"/>
            <a:chOff x="1844039" y="4848860"/>
            <a:chExt cx="2542540" cy="244348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4039" y="4848860"/>
              <a:ext cx="2542540" cy="24434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85949" y="5231130"/>
              <a:ext cx="2446020" cy="195580"/>
            </a:xfrm>
            <a:custGeom>
              <a:avLst/>
              <a:gdLst/>
              <a:ahLst/>
              <a:cxnLst/>
              <a:rect l="l" t="t" r="r" b="b"/>
              <a:pathLst>
                <a:path w="2446020" h="195579">
                  <a:moveTo>
                    <a:pt x="0" y="195580"/>
                  </a:moveTo>
                  <a:lnTo>
                    <a:pt x="2446020" y="195580"/>
                  </a:lnTo>
                  <a:lnTo>
                    <a:pt x="2446020" y="0"/>
                  </a:lnTo>
                  <a:lnTo>
                    <a:pt x="0" y="0"/>
                  </a:lnTo>
                  <a:lnTo>
                    <a:pt x="0" y="19558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2542" y="235080"/>
            <a:ext cx="65101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 err="1">
                <a:latin typeface="MS PGothic"/>
                <a:cs typeface="MS PGothic"/>
              </a:rPr>
              <a:t>Python</a:t>
            </a:r>
            <a:r>
              <a:rPr sz="2400" b="1" spc="-40" dirty="0" err="1">
                <a:latin typeface="MS PGothic"/>
                <a:cs typeface="MS PGothic"/>
              </a:rPr>
              <a:t>コマンドを簡単に手入力してみ</a:t>
            </a:r>
            <a:r>
              <a:rPr lang="ja-JP" altLang="en-US" sz="2400" b="1" spc="-40" dirty="0">
                <a:latin typeface="MS PGothic"/>
                <a:cs typeface="MS PGothic"/>
              </a:rPr>
              <a:t>ましょう</a:t>
            </a:r>
            <a:r>
              <a:rPr sz="2400" b="1" spc="-40" dirty="0">
                <a:latin typeface="MS PGothic"/>
                <a:cs typeface="MS PGothic"/>
              </a:rPr>
              <a:t>。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072" y="1654739"/>
            <a:ext cx="7916228" cy="17526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65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dirty="0" err="1">
                <a:latin typeface="MS PGothic"/>
                <a:cs typeface="MS PGothic"/>
              </a:rPr>
              <a:t>Tｈonnyの</a:t>
            </a:r>
            <a:r>
              <a:rPr sz="2000" spc="-10" dirty="0" err="1">
                <a:latin typeface="MS PGothic"/>
                <a:cs typeface="MS PGothic"/>
              </a:rPr>
              <a:t>Python</a:t>
            </a:r>
            <a:r>
              <a:rPr sz="2000" spc="-30" dirty="0" err="1">
                <a:latin typeface="MS PGothic"/>
                <a:cs typeface="MS PGothic"/>
              </a:rPr>
              <a:t>のコマンドを</a:t>
            </a:r>
            <a:r>
              <a:rPr lang="ja-JP" altLang="en-US" sz="2000" spc="-30" dirty="0">
                <a:latin typeface="MS PGothic"/>
                <a:cs typeface="MS PGothic"/>
              </a:rPr>
              <a:t>入力します。</a:t>
            </a:r>
            <a:endParaRPr sz="2000" dirty="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latin typeface="MS PGothic"/>
                <a:cs typeface="MS PGothic"/>
              </a:rPr>
              <a:t>①Thonny</a:t>
            </a:r>
            <a:r>
              <a:rPr sz="1800" spc="-15" dirty="0">
                <a:latin typeface="MS PGothic"/>
                <a:cs typeface="MS PGothic"/>
              </a:rPr>
              <a:t>のシェル画面で</a:t>
            </a:r>
            <a:r>
              <a:rPr sz="1800" spc="-10" dirty="0">
                <a:latin typeface="MS PGothic"/>
                <a:cs typeface="MS PGothic"/>
              </a:rPr>
              <a:t>ｷｰﾎﾞｰﾄﾞ</a:t>
            </a:r>
            <a:r>
              <a:rPr sz="1800" spc="-30" dirty="0">
                <a:latin typeface="MS PGothic"/>
                <a:cs typeface="MS PGothic"/>
              </a:rPr>
              <a:t>から</a:t>
            </a:r>
            <a:r>
              <a:rPr sz="1800" spc="-10" dirty="0">
                <a:latin typeface="MS PGothic"/>
                <a:cs typeface="MS PGothic"/>
              </a:rPr>
              <a:t>print</a:t>
            </a:r>
            <a:r>
              <a:rPr sz="1800" spc="-25" dirty="0">
                <a:latin typeface="MS PGothic"/>
                <a:cs typeface="MS PGothic"/>
              </a:rPr>
              <a:t>(‘はんなり‘)</a:t>
            </a:r>
            <a:r>
              <a:rPr sz="1800" spc="-25" dirty="0" err="1">
                <a:latin typeface="MS PGothic"/>
                <a:cs typeface="MS PGothic"/>
              </a:rPr>
              <a:t>と入力</a:t>
            </a:r>
            <a:r>
              <a:rPr lang="ja-JP" altLang="en-US" sz="1800" spc="-25" dirty="0">
                <a:latin typeface="MS PGothic"/>
                <a:cs typeface="MS PGothic"/>
              </a:rPr>
              <a:t>します。</a:t>
            </a:r>
            <a:endParaRPr sz="1800" dirty="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800" spc="-20" dirty="0">
                <a:latin typeface="MS PGothic"/>
                <a:cs typeface="MS PGothic"/>
              </a:rPr>
              <a:t>「はんなり」と表示されます。</a:t>
            </a:r>
            <a:endParaRPr sz="1800" dirty="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  <a:tabLst>
                <a:tab pos="863600" algn="l"/>
              </a:tabLst>
            </a:pPr>
            <a:r>
              <a:rPr sz="1800" spc="-50" dirty="0">
                <a:latin typeface="MS PGothic"/>
                <a:cs typeface="MS PGothic"/>
              </a:rPr>
              <a:t>②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20" dirty="0">
                <a:latin typeface="MS PGothic"/>
                <a:cs typeface="MS PGothic"/>
              </a:rPr>
              <a:t>足し算</a:t>
            </a:r>
            <a:endParaRPr sz="1800" dirty="0">
              <a:latin typeface="MS PGothic"/>
              <a:cs typeface="MS PGothic"/>
            </a:endParaRPr>
          </a:p>
          <a:p>
            <a:pPr marL="787400">
              <a:lnSpc>
                <a:spcPct val="100000"/>
              </a:lnSpc>
              <a:spcBef>
                <a:spcPts val="500"/>
              </a:spcBef>
            </a:pPr>
            <a:r>
              <a:rPr sz="1800" spc="-25" dirty="0">
                <a:latin typeface="MS PGothic"/>
                <a:cs typeface="MS PGothic"/>
              </a:rPr>
              <a:t>a=2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7689" y="3382010"/>
            <a:ext cx="715645" cy="1039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100"/>
              </a:lnSpc>
              <a:spcBef>
                <a:spcPts val="100"/>
              </a:spcBef>
            </a:pPr>
            <a:r>
              <a:rPr sz="1800" spc="-25" dirty="0">
                <a:latin typeface="MS PGothic"/>
                <a:cs typeface="MS PGothic"/>
              </a:rPr>
              <a:t>b=1 </a:t>
            </a:r>
            <a:r>
              <a:rPr sz="1800" spc="-10" dirty="0">
                <a:latin typeface="MS PGothic"/>
                <a:cs typeface="MS PGothic"/>
              </a:rPr>
              <a:t>c=a+bs print(c)</a:t>
            </a:r>
            <a:endParaRPr sz="1800">
              <a:latin typeface="MS PGothic"/>
              <a:cs typeface="MS P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132" y="4565085"/>
            <a:ext cx="6522720" cy="22936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47010" y="3550920"/>
            <a:ext cx="5090795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1920"/>
              </a:lnSpc>
              <a:buSzPct val="192857"/>
              <a:buFont typeface="Wingdings"/>
              <a:buChar char=""/>
              <a:tabLst>
                <a:tab pos="362585" algn="l"/>
              </a:tabLst>
            </a:pPr>
            <a:r>
              <a:rPr sz="1400" dirty="0">
                <a:latin typeface="MS Gothic"/>
                <a:cs typeface="MS Gothic"/>
              </a:rPr>
              <a:t>配りました「コード資料</a:t>
            </a:r>
            <a:r>
              <a:rPr sz="1400" spc="-10" dirty="0">
                <a:latin typeface="Arial"/>
                <a:cs typeface="Arial"/>
              </a:rPr>
              <a:t>.zip</a:t>
            </a:r>
            <a:r>
              <a:rPr sz="1400" dirty="0">
                <a:latin typeface="MS Gothic"/>
                <a:cs typeface="MS Gothic"/>
              </a:rPr>
              <a:t>」を</a:t>
            </a:r>
            <a:r>
              <a:rPr sz="1400" spc="-10" dirty="0">
                <a:latin typeface="Arial"/>
                <a:cs typeface="Arial"/>
              </a:rPr>
              <a:t>PC</a:t>
            </a:r>
            <a:r>
              <a:rPr sz="1400" dirty="0">
                <a:latin typeface="MS Gothic"/>
                <a:cs typeface="MS Gothic"/>
              </a:rPr>
              <a:t>の適当場所に置いて</a:t>
            </a:r>
            <a:r>
              <a:rPr sz="1400" spc="-25" dirty="0">
                <a:latin typeface="Arial"/>
                <a:cs typeface="Arial"/>
              </a:rPr>
              <a:t>ZIP</a:t>
            </a:r>
            <a:endParaRPr sz="1400">
              <a:latin typeface="Arial"/>
              <a:cs typeface="Arial"/>
            </a:endParaRPr>
          </a:p>
          <a:p>
            <a:pPr marL="355600">
              <a:lnSpc>
                <a:spcPts val="1540"/>
              </a:lnSpc>
            </a:pPr>
            <a:r>
              <a:rPr sz="1400" spc="-10" dirty="0">
                <a:latin typeface="MS Gothic"/>
                <a:cs typeface="MS Gothic"/>
              </a:rPr>
              <a:t>展開します。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6806" y="328930"/>
            <a:ext cx="383889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400" b="1" spc="-20" dirty="0">
                <a:latin typeface="MS PGothic"/>
                <a:cs typeface="MS PGothic"/>
              </a:rPr>
              <a:t>ソフトインストール</a:t>
            </a:r>
            <a:endParaRPr sz="24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2025" y="1405255"/>
            <a:ext cx="7068184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15" dirty="0">
                <a:latin typeface="MS PGothic"/>
                <a:cs typeface="MS PGothic"/>
              </a:rPr>
              <a:t>コード資料.</a:t>
            </a:r>
            <a:r>
              <a:rPr sz="2000" spc="-10" dirty="0">
                <a:latin typeface="MS PGothic"/>
                <a:cs typeface="MS PGothic"/>
              </a:rPr>
              <a:t>zip</a:t>
            </a:r>
            <a:r>
              <a:rPr sz="2000" spc="-20" dirty="0">
                <a:latin typeface="MS PGothic"/>
                <a:cs typeface="MS PGothic"/>
              </a:rPr>
              <a:t>の展開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sz="1800" spc="-15" dirty="0">
                <a:latin typeface="MS PGothic"/>
                <a:cs typeface="MS PGothic"/>
              </a:rPr>
              <a:t>配りました「コード資料.</a:t>
            </a:r>
            <a:r>
              <a:rPr sz="1800" spc="-10" dirty="0">
                <a:latin typeface="MS PGothic"/>
                <a:cs typeface="MS PGothic"/>
              </a:rPr>
              <a:t>zip</a:t>
            </a:r>
            <a:r>
              <a:rPr sz="1800" spc="-5" dirty="0">
                <a:latin typeface="MS PGothic"/>
                <a:cs typeface="MS PGothic"/>
              </a:rPr>
              <a:t>」を</a:t>
            </a:r>
            <a:r>
              <a:rPr sz="1800" spc="-10" dirty="0">
                <a:latin typeface="MS PGothic"/>
                <a:cs typeface="MS PGothic"/>
              </a:rPr>
              <a:t>PCの適当場所に置いてZIP</a:t>
            </a:r>
            <a:r>
              <a:rPr sz="1800" spc="-25" dirty="0">
                <a:latin typeface="MS PGothic"/>
                <a:cs typeface="MS PGothic"/>
              </a:rPr>
              <a:t>展開します。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sz="1800" spc="-35" dirty="0" err="1">
                <a:latin typeface="MS PGothic"/>
                <a:cs typeface="MS PGothic"/>
              </a:rPr>
              <a:t>下図のようにそれぞれのフォルダーに</a:t>
            </a:r>
            <a:r>
              <a:rPr lang="en-US" altLang="ja-JP" sz="1800" dirty="0" err="1">
                <a:latin typeface="MS PGothic"/>
                <a:cs typeface="MS PGothic"/>
              </a:rPr>
              <a:t>code</a:t>
            </a:r>
            <a:r>
              <a:rPr sz="1800" dirty="0" err="1">
                <a:latin typeface="MS PGothic"/>
                <a:cs typeface="MS PGothic"/>
              </a:rPr>
              <a:t>.py</a:t>
            </a:r>
            <a:r>
              <a:rPr sz="1800" spc="-35" dirty="0" err="1">
                <a:latin typeface="MS PGothic"/>
                <a:cs typeface="MS PGothic"/>
              </a:rPr>
              <a:t>ファイルがあります</a:t>
            </a:r>
            <a:r>
              <a:rPr sz="1800" spc="-35" dirty="0">
                <a:latin typeface="MS PGothic"/>
                <a:cs typeface="MS PGothic"/>
              </a:rPr>
              <a:t>。</a:t>
            </a:r>
            <a:endParaRPr sz="1800" dirty="0">
              <a:latin typeface="MS PGothic"/>
              <a:cs typeface="MS P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129" y="2988945"/>
            <a:ext cx="4208780" cy="15849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5876290" y="4583430"/>
            <a:ext cx="1783080" cy="246379"/>
          </a:xfrm>
          <a:custGeom>
            <a:avLst/>
            <a:gdLst/>
            <a:ahLst/>
            <a:cxnLst/>
            <a:rect l="l" t="t" r="r" b="b"/>
            <a:pathLst>
              <a:path w="1783079" h="246379">
                <a:moveTo>
                  <a:pt x="0" y="246380"/>
                </a:moveTo>
                <a:lnTo>
                  <a:pt x="1783080" y="246380"/>
                </a:lnTo>
                <a:lnTo>
                  <a:pt x="1783080" y="0"/>
                </a:lnTo>
                <a:lnTo>
                  <a:pt x="0" y="0"/>
                </a:lnTo>
                <a:lnTo>
                  <a:pt x="0" y="24638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76325" y="323490"/>
            <a:ext cx="71469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059" algn="l"/>
              </a:tabLst>
            </a:pPr>
            <a:r>
              <a:rPr lang="ja-JP" altLang="en-US" sz="2200" b="1" spc="-25" dirty="0">
                <a:latin typeface="MS PGothic"/>
                <a:cs typeface="MS PGothic"/>
              </a:rPr>
              <a:t>教材</a:t>
            </a:r>
            <a:r>
              <a:rPr sz="2200" b="1" spc="-25" dirty="0" err="1">
                <a:latin typeface="MS PGothic"/>
                <a:cs typeface="MS PGothic"/>
              </a:rPr>
              <a:t>ソフトを「</a:t>
            </a:r>
            <a:r>
              <a:rPr sz="2200" b="1" dirty="0" err="1">
                <a:latin typeface="MS PGothic"/>
                <a:cs typeface="MS PGothic"/>
              </a:rPr>
              <a:t>Raspberry</a:t>
            </a:r>
            <a:r>
              <a:rPr sz="2200" b="1" spc="-60" dirty="0">
                <a:latin typeface="MS PGothic"/>
                <a:cs typeface="MS PGothic"/>
              </a:rPr>
              <a:t> </a:t>
            </a:r>
            <a:r>
              <a:rPr sz="2200" b="1" dirty="0">
                <a:latin typeface="MS PGothic"/>
                <a:cs typeface="MS PGothic"/>
              </a:rPr>
              <a:t>Pi</a:t>
            </a:r>
            <a:r>
              <a:rPr sz="2200" b="1" spc="-35" dirty="0">
                <a:latin typeface="MS PGothic"/>
                <a:cs typeface="MS PGothic"/>
              </a:rPr>
              <a:t> </a:t>
            </a:r>
            <a:r>
              <a:rPr sz="2200" b="1" dirty="0">
                <a:latin typeface="MS PGothic"/>
                <a:cs typeface="MS PGothic"/>
              </a:rPr>
              <a:t>Pico</a:t>
            </a:r>
            <a:r>
              <a:rPr sz="2200" b="1" spc="-25" dirty="0">
                <a:latin typeface="MS PGothic"/>
                <a:cs typeface="MS PGothic"/>
              </a:rPr>
              <a:t> </a:t>
            </a:r>
            <a:r>
              <a:rPr sz="2200" b="1" dirty="0">
                <a:latin typeface="MS PGothic"/>
                <a:cs typeface="MS PGothic"/>
              </a:rPr>
              <a:t>W</a:t>
            </a:r>
            <a:r>
              <a:rPr sz="2200" b="1" spc="-20" dirty="0">
                <a:latin typeface="MS PGothic"/>
                <a:cs typeface="MS PGothic"/>
              </a:rPr>
              <a:t>」 </a:t>
            </a:r>
            <a:r>
              <a:rPr lang="ja-JP" altLang="en-US" sz="2200" b="1" spc="-20" dirty="0">
                <a:latin typeface="MS PGothic"/>
                <a:cs typeface="MS PGothic"/>
              </a:rPr>
              <a:t>に</a:t>
            </a:r>
            <a:r>
              <a:rPr sz="2200" b="1" spc="-20" dirty="0" err="1">
                <a:latin typeface="MS PGothic"/>
                <a:cs typeface="MS PGothic"/>
              </a:rPr>
              <a:t>書込む</a:t>
            </a:r>
            <a:endParaRPr sz="2200" dirty="0">
              <a:latin typeface="MS PGothic"/>
              <a:cs typeface="MS P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3625" y="1195253"/>
            <a:ext cx="6988809" cy="1685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3215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30" dirty="0">
                <a:latin typeface="MS PGothic"/>
                <a:cs typeface="MS PGothic"/>
              </a:rPr>
              <a:t>点滅ソフトの書き込み</a:t>
            </a:r>
            <a:r>
              <a:rPr sz="2000" spc="-10" dirty="0">
                <a:latin typeface="MS PGothic"/>
                <a:cs typeface="MS PGothic"/>
              </a:rPr>
              <a:t>（Thonny</a:t>
            </a:r>
            <a:r>
              <a:rPr sz="2000" dirty="0">
                <a:latin typeface="MS PGothic"/>
                <a:cs typeface="MS PGothic"/>
              </a:rPr>
              <a:t>での操作</a:t>
            </a:r>
            <a:r>
              <a:rPr sz="2000" spc="-50" dirty="0">
                <a:latin typeface="MS PGothic"/>
                <a:cs typeface="MS PGothic"/>
              </a:rPr>
              <a:t>）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①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lang="ja-JP" altLang="en-US" sz="1800" spc="-20" dirty="0">
                <a:latin typeface="MS PGothic"/>
                <a:cs typeface="MS PGothic"/>
              </a:rPr>
              <a:t>教材ソフト</a:t>
            </a:r>
            <a:r>
              <a:rPr lang="en-US" altLang="ja-JP" sz="1800" spc="-20" dirty="0">
                <a:latin typeface="MS PGothic"/>
                <a:cs typeface="MS PGothic"/>
              </a:rPr>
              <a:t>code</a:t>
            </a:r>
            <a:r>
              <a:rPr sz="1800" spc="-10" dirty="0">
                <a:latin typeface="MS PGothic"/>
                <a:cs typeface="MS PGothic"/>
              </a:rPr>
              <a:t>.py</a:t>
            </a:r>
            <a:r>
              <a:rPr lang="ja-JP" altLang="en-US" spc="-10" dirty="0">
                <a:latin typeface="MS PGothic"/>
                <a:cs typeface="MS PGothic"/>
              </a:rPr>
              <a:t>と</a:t>
            </a:r>
            <a:r>
              <a:rPr lang="ja-JP" altLang="en-US" dirty="0"/>
              <a:t>設定</a:t>
            </a:r>
            <a:r>
              <a:rPr lang="ja-JP" altLang="en-US"/>
              <a:t>専用ファイル</a:t>
            </a:r>
            <a:r>
              <a:rPr lang="ja-JP" altLang="en-US" sz="1800" spc="-25">
                <a:latin typeface="MS PGothic"/>
                <a:cs typeface="MS PGothic"/>
              </a:rPr>
              <a:t>をフォルダーにコピーします。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②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35" dirty="0">
                <a:latin typeface="MS PGothic"/>
                <a:cs typeface="MS PGothic"/>
              </a:rPr>
              <a:t>記載されているプログラムをメイン画面にコピーします。</a:t>
            </a:r>
            <a:endParaRPr sz="1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  <a:tabLst>
                <a:tab pos="850900" algn="l"/>
              </a:tabLst>
            </a:pPr>
            <a:r>
              <a:rPr sz="1800" spc="-50" dirty="0">
                <a:latin typeface="MS PGothic"/>
                <a:cs typeface="MS PGothic"/>
              </a:rPr>
              <a:t>③</a:t>
            </a:r>
            <a:r>
              <a:rPr sz="1800" dirty="0">
                <a:latin typeface="MS PGothic"/>
                <a:cs typeface="MS PGothic"/>
              </a:rPr>
              <a:t>	</a:t>
            </a:r>
            <a:r>
              <a:rPr sz="1800" spc="-25" dirty="0">
                <a:latin typeface="MS PGothic"/>
                <a:cs typeface="MS PGothic"/>
              </a:rPr>
              <a:t>エクスポーラが表示されます。先ほどの</a:t>
            </a:r>
            <a:r>
              <a:rPr sz="1800" spc="-10" dirty="0">
                <a:latin typeface="MS PGothic"/>
                <a:cs typeface="MS PGothic"/>
              </a:rPr>
              <a:t>main.py</a:t>
            </a:r>
            <a:r>
              <a:rPr sz="1800" spc="-20" dirty="0">
                <a:latin typeface="MS PGothic"/>
                <a:cs typeface="MS PGothic"/>
              </a:rPr>
              <a:t>をクリックします。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4700" y="6605905"/>
            <a:ext cx="18370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5" dirty="0">
                <a:latin typeface="MS Gothic"/>
                <a:cs typeface="MS Gothic"/>
              </a:rPr>
              <a:t>ファイル名は、</a:t>
            </a:r>
            <a:r>
              <a:rPr sz="1050" spc="-25" dirty="0">
                <a:latin typeface="Arial"/>
                <a:cs typeface="Arial"/>
              </a:rPr>
              <a:t>main.py</a:t>
            </a:r>
            <a:r>
              <a:rPr sz="1050" spc="-20" dirty="0">
                <a:latin typeface="MS Gothic"/>
                <a:cs typeface="MS Gothic"/>
              </a:rPr>
              <a:t>で保存</a:t>
            </a:r>
            <a:endParaRPr sz="1050">
              <a:latin typeface="MS Gothic"/>
              <a:cs typeface="MS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916669" y="4395470"/>
            <a:ext cx="1234440" cy="312420"/>
          </a:xfrm>
          <a:custGeom>
            <a:avLst/>
            <a:gdLst/>
            <a:ahLst/>
            <a:cxnLst/>
            <a:rect l="l" t="t" r="r" b="b"/>
            <a:pathLst>
              <a:path w="1234440" h="312420">
                <a:moveTo>
                  <a:pt x="0" y="312419"/>
                </a:moveTo>
                <a:lnTo>
                  <a:pt x="1234440" y="312419"/>
                </a:lnTo>
                <a:lnTo>
                  <a:pt x="1234440" y="0"/>
                </a:lnTo>
                <a:lnTo>
                  <a:pt x="0" y="0"/>
                </a:lnTo>
                <a:lnTo>
                  <a:pt x="0" y="312419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9235440" y="4973320"/>
            <a:ext cx="693420" cy="309880"/>
            <a:chOff x="9235440" y="4973320"/>
            <a:chExt cx="693420" cy="309880"/>
          </a:xfrm>
        </p:grpSpPr>
        <p:sp>
          <p:nvSpPr>
            <p:cNvPr id="15" name="object 15"/>
            <p:cNvSpPr/>
            <p:nvPr/>
          </p:nvSpPr>
          <p:spPr>
            <a:xfrm>
              <a:off x="9248140" y="4986020"/>
              <a:ext cx="668020" cy="284480"/>
            </a:xfrm>
            <a:custGeom>
              <a:avLst/>
              <a:gdLst/>
              <a:ahLst/>
              <a:cxnLst/>
              <a:rect l="l" t="t" r="r" b="b"/>
              <a:pathLst>
                <a:path w="668020" h="284479">
                  <a:moveTo>
                    <a:pt x="501014" y="0"/>
                  </a:moveTo>
                  <a:lnTo>
                    <a:pt x="167004" y="0"/>
                  </a:lnTo>
                  <a:lnTo>
                    <a:pt x="167004" y="142240"/>
                  </a:lnTo>
                  <a:lnTo>
                    <a:pt x="0" y="142240"/>
                  </a:lnTo>
                  <a:lnTo>
                    <a:pt x="334009" y="284480"/>
                  </a:lnTo>
                  <a:lnTo>
                    <a:pt x="668019" y="142240"/>
                  </a:lnTo>
                  <a:lnTo>
                    <a:pt x="501014" y="142240"/>
                  </a:lnTo>
                  <a:lnTo>
                    <a:pt x="50101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48140" y="4986020"/>
              <a:ext cx="668020" cy="284480"/>
            </a:xfrm>
            <a:custGeom>
              <a:avLst/>
              <a:gdLst/>
              <a:ahLst/>
              <a:cxnLst/>
              <a:rect l="l" t="t" r="r" b="b"/>
              <a:pathLst>
                <a:path w="668020" h="284479">
                  <a:moveTo>
                    <a:pt x="0" y="142240"/>
                  </a:moveTo>
                  <a:lnTo>
                    <a:pt x="167004" y="142240"/>
                  </a:lnTo>
                  <a:lnTo>
                    <a:pt x="167004" y="0"/>
                  </a:lnTo>
                  <a:lnTo>
                    <a:pt x="501014" y="0"/>
                  </a:lnTo>
                  <a:lnTo>
                    <a:pt x="501014" y="142240"/>
                  </a:lnTo>
                  <a:lnTo>
                    <a:pt x="668019" y="142240"/>
                  </a:lnTo>
                  <a:lnTo>
                    <a:pt x="334009" y="284480"/>
                  </a:lnTo>
                  <a:lnTo>
                    <a:pt x="0" y="14224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570229" y="3841750"/>
            <a:ext cx="1785620" cy="866140"/>
          </a:xfrm>
          <a:custGeom>
            <a:avLst/>
            <a:gdLst/>
            <a:ahLst/>
            <a:cxnLst/>
            <a:rect l="l" t="t" r="r" b="b"/>
            <a:pathLst>
              <a:path w="1785620" h="866139">
                <a:moveTo>
                  <a:pt x="0" y="866139"/>
                </a:moveTo>
                <a:lnTo>
                  <a:pt x="1785620" y="866139"/>
                </a:lnTo>
                <a:lnTo>
                  <a:pt x="1785620" y="0"/>
                </a:lnTo>
                <a:lnTo>
                  <a:pt x="0" y="0"/>
                </a:lnTo>
                <a:lnTo>
                  <a:pt x="0" y="866139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115300" y="4381500"/>
            <a:ext cx="449580" cy="337820"/>
            <a:chOff x="8115300" y="4381500"/>
            <a:chExt cx="449580" cy="337820"/>
          </a:xfrm>
        </p:grpSpPr>
        <p:sp>
          <p:nvSpPr>
            <p:cNvPr id="21" name="object 21"/>
            <p:cNvSpPr/>
            <p:nvPr/>
          </p:nvSpPr>
          <p:spPr>
            <a:xfrm>
              <a:off x="8128000" y="4394200"/>
              <a:ext cx="424180" cy="312420"/>
            </a:xfrm>
            <a:custGeom>
              <a:avLst/>
              <a:gdLst/>
              <a:ahLst/>
              <a:cxnLst/>
              <a:rect l="l" t="t" r="r" b="b"/>
              <a:pathLst>
                <a:path w="424179" h="312420">
                  <a:moveTo>
                    <a:pt x="267970" y="0"/>
                  </a:moveTo>
                  <a:lnTo>
                    <a:pt x="267970" y="78104"/>
                  </a:lnTo>
                  <a:lnTo>
                    <a:pt x="0" y="78104"/>
                  </a:lnTo>
                  <a:lnTo>
                    <a:pt x="0" y="234314"/>
                  </a:lnTo>
                  <a:lnTo>
                    <a:pt x="267970" y="234314"/>
                  </a:lnTo>
                  <a:lnTo>
                    <a:pt x="267970" y="312419"/>
                  </a:lnTo>
                  <a:lnTo>
                    <a:pt x="424179" y="156209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28000" y="4394200"/>
              <a:ext cx="424180" cy="312420"/>
            </a:xfrm>
            <a:custGeom>
              <a:avLst/>
              <a:gdLst/>
              <a:ahLst/>
              <a:cxnLst/>
              <a:rect l="l" t="t" r="r" b="b"/>
              <a:pathLst>
                <a:path w="424179" h="312420">
                  <a:moveTo>
                    <a:pt x="0" y="78104"/>
                  </a:moveTo>
                  <a:lnTo>
                    <a:pt x="267970" y="78104"/>
                  </a:lnTo>
                  <a:lnTo>
                    <a:pt x="267970" y="0"/>
                  </a:lnTo>
                  <a:lnTo>
                    <a:pt x="424179" y="156209"/>
                  </a:lnTo>
                  <a:lnTo>
                    <a:pt x="267970" y="312419"/>
                  </a:lnTo>
                  <a:lnTo>
                    <a:pt x="267970" y="234314"/>
                  </a:lnTo>
                  <a:lnTo>
                    <a:pt x="0" y="234314"/>
                  </a:lnTo>
                  <a:lnTo>
                    <a:pt x="0" y="78104"/>
                  </a:lnTo>
                  <a:close/>
                </a:path>
              </a:pathLst>
            </a:custGeom>
            <a:ln w="25399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191759" y="4518660"/>
            <a:ext cx="452120" cy="337820"/>
            <a:chOff x="5191759" y="4518660"/>
            <a:chExt cx="452120" cy="337820"/>
          </a:xfrm>
        </p:grpSpPr>
        <p:sp>
          <p:nvSpPr>
            <p:cNvPr id="24" name="object 24"/>
            <p:cNvSpPr/>
            <p:nvPr/>
          </p:nvSpPr>
          <p:spPr>
            <a:xfrm>
              <a:off x="5204459" y="4531360"/>
              <a:ext cx="426720" cy="312420"/>
            </a:xfrm>
            <a:custGeom>
              <a:avLst/>
              <a:gdLst/>
              <a:ahLst/>
              <a:cxnLst/>
              <a:rect l="l" t="t" r="r" b="b"/>
              <a:pathLst>
                <a:path w="426720" h="312420">
                  <a:moveTo>
                    <a:pt x="270510" y="0"/>
                  </a:moveTo>
                  <a:lnTo>
                    <a:pt x="270510" y="78105"/>
                  </a:lnTo>
                  <a:lnTo>
                    <a:pt x="0" y="78105"/>
                  </a:lnTo>
                  <a:lnTo>
                    <a:pt x="0" y="234315"/>
                  </a:lnTo>
                  <a:lnTo>
                    <a:pt x="270510" y="234315"/>
                  </a:lnTo>
                  <a:lnTo>
                    <a:pt x="270510" y="312420"/>
                  </a:lnTo>
                  <a:lnTo>
                    <a:pt x="426719" y="156210"/>
                  </a:lnTo>
                  <a:lnTo>
                    <a:pt x="27051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04459" y="4531360"/>
              <a:ext cx="426720" cy="312420"/>
            </a:xfrm>
            <a:custGeom>
              <a:avLst/>
              <a:gdLst/>
              <a:ahLst/>
              <a:cxnLst/>
              <a:rect l="l" t="t" r="r" b="b"/>
              <a:pathLst>
                <a:path w="426720" h="312420">
                  <a:moveTo>
                    <a:pt x="0" y="78105"/>
                  </a:moveTo>
                  <a:lnTo>
                    <a:pt x="270510" y="78105"/>
                  </a:lnTo>
                  <a:lnTo>
                    <a:pt x="270510" y="0"/>
                  </a:lnTo>
                  <a:lnTo>
                    <a:pt x="426719" y="156210"/>
                  </a:lnTo>
                  <a:lnTo>
                    <a:pt x="270510" y="312420"/>
                  </a:lnTo>
                  <a:lnTo>
                    <a:pt x="270510" y="234315"/>
                  </a:lnTo>
                  <a:lnTo>
                    <a:pt x="0" y="234315"/>
                  </a:lnTo>
                  <a:lnTo>
                    <a:pt x="0" y="78105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555239" y="3980180"/>
            <a:ext cx="449580" cy="337820"/>
            <a:chOff x="2555239" y="3980180"/>
            <a:chExt cx="449580" cy="337820"/>
          </a:xfrm>
        </p:grpSpPr>
        <p:sp>
          <p:nvSpPr>
            <p:cNvPr id="27" name="object 27"/>
            <p:cNvSpPr/>
            <p:nvPr/>
          </p:nvSpPr>
          <p:spPr>
            <a:xfrm>
              <a:off x="2567939" y="3992880"/>
              <a:ext cx="424180" cy="312420"/>
            </a:xfrm>
            <a:custGeom>
              <a:avLst/>
              <a:gdLst/>
              <a:ahLst/>
              <a:cxnLst/>
              <a:rect l="l" t="t" r="r" b="b"/>
              <a:pathLst>
                <a:path w="424180" h="312420">
                  <a:moveTo>
                    <a:pt x="267970" y="0"/>
                  </a:moveTo>
                  <a:lnTo>
                    <a:pt x="267970" y="78104"/>
                  </a:lnTo>
                  <a:lnTo>
                    <a:pt x="0" y="78104"/>
                  </a:lnTo>
                  <a:lnTo>
                    <a:pt x="0" y="234314"/>
                  </a:lnTo>
                  <a:lnTo>
                    <a:pt x="267970" y="234314"/>
                  </a:lnTo>
                  <a:lnTo>
                    <a:pt x="267970" y="312420"/>
                  </a:lnTo>
                  <a:lnTo>
                    <a:pt x="424180" y="15621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67939" y="3992880"/>
              <a:ext cx="424180" cy="312420"/>
            </a:xfrm>
            <a:custGeom>
              <a:avLst/>
              <a:gdLst/>
              <a:ahLst/>
              <a:cxnLst/>
              <a:rect l="l" t="t" r="r" b="b"/>
              <a:pathLst>
                <a:path w="424180" h="312420">
                  <a:moveTo>
                    <a:pt x="0" y="78104"/>
                  </a:moveTo>
                  <a:lnTo>
                    <a:pt x="267970" y="78104"/>
                  </a:lnTo>
                  <a:lnTo>
                    <a:pt x="267970" y="0"/>
                  </a:lnTo>
                  <a:lnTo>
                    <a:pt x="424180" y="156210"/>
                  </a:lnTo>
                  <a:lnTo>
                    <a:pt x="267970" y="312420"/>
                  </a:lnTo>
                  <a:lnTo>
                    <a:pt x="267970" y="234314"/>
                  </a:lnTo>
                  <a:lnTo>
                    <a:pt x="0" y="234314"/>
                  </a:lnTo>
                  <a:lnTo>
                    <a:pt x="0" y="78104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53860" y="7129304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200" spc="-25" dirty="0">
                <a:latin typeface="MS PGothic"/>
                <a:cs typeface="MS PGothic"/>
              </a:rPr>
              <a:t>15</a:t>
            </a:r>
            <a:endParaRPr sz="12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025" y="1028629"/>
            <a:ext cx="6312535" cy="73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3215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sz="2000" spc="-40" dirty="0" err="1">
                <a:latin typeface="MS PGothic"/>
                <a:cs typeface="MS PGothic"/>
              </a:rPr>
              <a:t>点滅ソフトを実行</a:t>
            </a:r>
            <a:endParaRPr sz="2000" dirty="0">
              <a:latin typeface="MS PGothic"/>
              <a:cs typeface="MS PGothic"/>
            </a:endParaRPr>
          </a:p>
          <a:p>
            <a:pPr marL="622300">
              <a:lnSpc>
                <a:spcPct val="100000"/>
              </a:lnSpc>
              <a:spcBef>
                <a:spcPts val="340"/>
              </a:spcBef>
            </a:pPr>
            <a:r>
              <a:rPr sz="1800" spc="-20" dirty="0">
                <a:latin typeface="MS PGothic"/>
                <a:cs typeface="MS PGothic"/>
              </a:rPr>
              <a:t>緑の矢印マークをクリックします。するとＬＥＤが点滅します。</a:t>
            </a:r>
            <a:endParaRPr sz="1800" dirty="0">
              <a:latin typeface="MS PGothic"/>
              <a:cs typeface="MS P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81380" y="1854200"/>
            <a:ext cx="4081779" cy="2214880"/>
            <a:chOff x="881380" y="1854200"/>
            <a:chExt cx="4081779" cy="2214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380" y="1854200"/>
              <a:ext cx="4081779" cy="22148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33550" y="2551430"/>
              <a:ext cx="175260" cy="246379"/>
            </a:xfrm>
            <a:custGeom>
              <a:avLst/>
              <a:gdLst/>
              <a:ahLst/>
              <a:cxnLst/>
              <a:rect l="l" t="t" r="r" b="b"/>
              <a:pathLst>
                <a:path w="175260" h="246380">
                  <a:moveTo>
                    <a:pt x="0" y="246379"/>
                  </a:moveTo>
                  <a:lnTo>
                    <a:pt x="175260" y="246379"/>
                  </a:lnTo>
                  <a:lnTo>
                    <a:pt x="175260" y="0"/>
                  </a:lnTo>
                  <a:lnTo>
                    <a:pt x="0" y="0"/>
                  </a:lnTo>
                  <a:lnTo>
                    <a:pt x="0" y="2463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526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840" algn="l"/>
                <a:tab pos="1767839" algn="l"/>
              </a:tabLst>
            </a:pPr>
            <a:r>
              <a:rPr dirty="0" err="1"/>
              <a:t>LED</a:t>
            </a:r>
            <a:r>
              <a:rPr spc="-10" dirty="0" err="1"/>
              <a:t>点</a:t>
            </a:r>
            <a:r>
              <a:rPr spc="-30" dirty="0" err="1"/>
              <a:t>滅</a:t>
            </a:r>
            <a:r>
              <a:rPr spc="-20" dirty="0" err="1"/>
              <a:t>ソフ</a:t>
            </a:r>
            <a:r>
              <a:rPr spc="-30" dirty="0" err="1"/>
              <a:t>ト</a:t>
            </a:r>
            <a:r>
              <a:rPr spc="-25" dirty="0" err="1"/>
              <a:t>を</a:t>
            </a:r>
            <a:r>
              <a:rPr spc="-10" dirty="0" err="1"/>
              <a:t>実</a:t>
            </a:r>
            <a:r>
              <a:rPr spc="-30" dirty="0" err="1"/>
              <a:t>行</a:t>
            </a:r>
            <a:endParaRPr spc="-5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5920" y="2166620"/>
            <a:ext cx="3421379" cy="19227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45454" y="4688459"/>
            <a:ext cx="35814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MS Gothic"/>
                <a:cs typeface="MS Gothic"/>
              </a:rPr>
              <a:t>画像をクリックしたら点滅画像が見れます。</a:t>
            </a:r>
            <a:endParaRPr sz="1400">
              <a:latin typeface="MS Gothic"/>
              <a:cs typeface="MS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2790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LED</a:t>
            </a:r>
            <a:r>
              <a:rPr spc="-35" dirty="0"/>
              <a:t>点滅ソフトの解説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072" y="1405255"/>
            <a:ext cx="8650605" cy="1382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3220" indent="-351155">
              <a:lnSpc>
                <a:spcPts val="2360"/>
              </a:lnSpc>
              <a:buClr>
                <a:srgbClr val="375F92"/>
              </a:buClr>
              <a:buSzPct val="150000"/>
              <a:buFont typeface="Wingdings"/>
              <a:buChar char=""/>
              <a:tabLst>
                <a:tab pos="363220" algn="l"/>
              </a:tabLst>
            </a:pPr>
            <a:r>
              <a:rPr lang="en-US" sz="1800" dirty="0" err="1">
                <a:latin typeface="MS PGothic"/>
                <a:cs typeface="MS PGothic"/>
              </a:rPr>
              <a:t>CircuitPython</a:t>
            </a:r>
            <a:endParaRPr sz="1800" dirty="0">
              <a:latin typeface="MS PGothic"/>
              <a:cs typeface="MS PGothic"/>
            </a:endParaRPr>
          </a:p>
          <a:p>
            <a:pPr marL="317500">
              <a:lnSpc>
                <a:spcPts val="2060"/>
              </a:lnSpc>
            </a:pPr>
            <a:r>
              <a:rPr lang="en-US" sz="1800" spc="-10" dirty="0" err="1">
                <a:latin typeface="MS PGothic"/>
                <a:cs typeface="MS PGothic"/>
              </a:rPr>
              <a:t>MicroPython</a:t>
            </a:r>
            <a:r>
              <a:rPr sz="1800" spc="-10" dirty="0" err="1">
                <a:latin typeface="MS PGothic"/>
                <a:cs typeface="MS PGothic"/>
              </a:rPr>
              <a:t>Python</a:t>
            </a:r>
            <a:r>
              <a:rPr lang="ja-JP" altLang="en-US" sz="1800" spc="-10" dirty="0">
                <a:latin typeface="MS PGothic"/>
                <a:cs typeface="MS PGothic"/>
              </a:rPr>
              <a:t>から派生した、初心者向け</a:t>
            </a:r>
            <a:r>
              <a:rPr sz="1800" spc="-35" dirty="0">
                <a:latin typeface="MS PGothic"/>
                <a:cs typeface="MS PGothic"/>
              </a:rPr>
              <a:t>の</a:t>
            </a:r>
            <a:r>
              <a:rPr lang="ja-JP" altLang="en-US" sz="1800" spc="-35" dirty="0">
                <a:latin typeface="MS PGothic"/>
                <a:cs typeface="MS PGothic"/>
              </a:rPr>
              <a:t>プログラム言語。</a:t>
            </a:r>
            <a:r>
              <a:rPr sz="1800" spc="-35" dirty="0" err="1">
                <a:latin typeface="MS PGothic"/>
                <a:cs typeface="MS PGothic"/>
              </a:rPr>
              <a:t>マイコンや組み込み機器</a:t>
            </a:r>
            <a:r>
              <a:rPr lang="ja-JP" altLang="en-US" sz="1800" spc="-35" dirty="0">
                <a:latin typeface="MS PGothic"/>
                <a:cs typeface="MS PGothic"/>
              </a:rPr>
              <a:t>によく使われる。</a:t>
            </a:r>
            <a:endParaRPr sz="1800" dirty="0">
              <a:latin typeface="MS PGothic"/>
              <a:cs typeface="MS PGothic"/>
            </a:endParaRPr>
          </a:p>
          <a:p>
            <a:pPr marL="12700">
              <a:lnSpc>
                <a:spcPts val="1660"/>
              </a:lnSpc>
            </a:pPr>
            <a:r>
              <a:rPr sz="1800" spc="-30" dirty="0">
                <a:latin typeface="MS PGothic"/>
                <a:cs typeface="MS PGothic"/>
              </a:rPr>
              <a:t>す。</a:t>
            </a:r>
            <a:endParaRPr sz="1800" dirty="0">
              <a:latin typeface="MS PGothic"/>
              <a:cs typeface="MS PGothic"/>
            </a:endParaRPr>
          </a:p>
          <a:p>
            <a:pPr marL="363220" indent="-351155">
              <a:lnSpc>
                <a:spcPts val="2860"/>
              </a:lnSpc>
              <a:buClr>
                <a:srgbClr val="375F92"/>
              </a:buClr>
              <a:buSzPct val="150000"/>
              <a:buFont typeface="Wingdings"/>
              <a:buChar char=""/>
              <a:tabLst>
                <a:tab pos="363220" algn="l"/>
              </a:tabLst>
            </a:pPr>
            <a:r>
              <a:rPr sz="1800" spc="-20" dirty="0">
                <a:latin typeface="MS PGothic"/>
                <a:cs typeface="MS PGothic"/>
              </a:rPr>
              <a:t>LED</a:t>
            </a:r>
            <a:r>
              <a:rPr sz="1800" spc="-30" dirty="0">
                <a:latin typeface="MS PGothic"/>
                <a:cs typeface="MS PGothic"/>
              </a:rPr>
              <a:t>点滅ソフトの解説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1235" y="3156574"/>
            <a:ext cx="7602601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ja-JP" sz="1400" dirty="0"/>
              <a:t>from board import *     #</a:t>
            </a:r>
            <a:r>
              <a:rPr lang="ja-JP" altLang="en-US" sz="1400" dirty="0"/>
              <a:t>　マイクロコントローラのボード定義から全てのピンの定義</a:t>
            </a:r>
          </a:p>
          <a:p>
            <a:r>
              <a:rPr lang="en-US" altLang="ja-JP" sz="1400" dirty="0"/>
              <a:t>import </a:t>
            </a:r>
            <a:r>
              <a:rPr lang="en-US" altLang="ja-JP" sz="1400" dirty="0" err="1"/>
              <a:t>digitalio</a:t>
            </a:r>
            <a:r>
              <a:rPr lang="en-US" altLang="ja-JP" sz="1400" dirty="0"/>
              <a:t>        #</a:t>
            </a:r>
            <a:r>
              <a:rPr lang="ja-JP" altLang="en-US" sz="1400" dirty="0"/>
              <a:t>　デジタルピンの入出力制御</a:t>
            </a:r>
          </a:p>
          <a:p>
            <a:r>
              <a:rPr lang="en-US" altLang="ja-JP" sz="1400" dirty="0"/>
              <a:t>from time import sleep</a:t>
            </a:r>
          </a:p>
          <a:p>
            <a:br>
              <a:rPr lang="en-US" altLang="ja-JP" sz="1400" dirty="0"/>
            </a:br>
            <a:endParaRPr lang="en-US" altLang="ja-JP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1311235" y="4085480"/>
            <a:ext cx="342836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ja-JP" sz="1400" dirty="0"/>
              <a:t>led = </a:t>
            </a:r>
            <a:r>
              <a:rPr lang="en-US" altLang="ja-JP" sz="1400" dirty="0" err="1"/>
              <a:t>digitalio.DigitalInOut</a:t>
            </a:r>
            <a:r>
              <a:rPr lang="en-US" altLang="ja-JP" sz="1400" dirty="0"/>
              <a:t>(LED)</a:t>
            </a:r>
          </a:p>
          <a:p>
            <a:r>
              <a:rPr lang="en-US" altLang="ja-JP" sz="1400" dirty="0" err="1"/>
              <a:t>led.direction</a:t>
            </a:r>
            <a:r>
              <a:rPr lang="en-US" altLang="ja-JP" sz="1400" dirty="0"/>
              <a:t> = </a:t>
            </a:r>
            <a:r>
              <a:rPr lang="en-US" altLang="ja-JP" sz="1400" dirty="0" err="1"/>
              <a:t>digitalio.Direction.OUTPUT</a:t>
            </a:r>
            <a:endParaRPr lang="en-US" altLang="ja-JP" sz="1400" dirty="0"/>
          </a:p>
          <a:p>
            <a:br>
              <a:rPr lang="en-US" altLang="ja-JP" sz="1400" dirty="0"/>
            </a:br>
            <a:endParaRPr lang="en-US" altLang="ja-JP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1311235" y="4828851"/>
            <a:ext cx="159639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altLang="ja-JP" sz="1400" dirty="0"/>
              <a:t>while True:</a:t>
            </a:r>
          </a:p>
          <a:p>
            <a:r>
              <a:rPr lang="en-US" altLang="ja-JP" sz="1400" dirty="0"/>
              <a:t>    </a:t>
            </a:r>
            <a:r>
              <a:rPr lang="en-US" altLang="ja-JP" sz="1400" dirty="0" err="1"/>
              <a:t>led.value</a:t>
            </a:r>
            <a:r>
              <a:rPr lang="en-US" altLang="ja-JP" sz="1400" dirty="0"/>
              <a:t> = True</a:t>
            </a:r>
          </a:p>
          <a:p>
            <a:r>
              <a:rPr lang="en-US" altLang="ja-JP" sz="1400" dirty="0"/>
              <a:t>    sleep(0.5)</a:t>
            </a:r>
          </a:p>
          <a:p>
            <a:r>
              <a:rPr lang="en-US" altLang="ja-JP" sz="1400" dirty="0"/>
              <a:t>    </a:t>
            </a:r>
            <a:r>
              <a:rPr lang="en-US" altLang="ja-JP" sz="1400" dirty="0" err="1"/>
              <a:t>led.value</a:t>
            </a:r>
            <a:r>
              <a:rPr lang="en-US" altLang="ja-JP" sz="1400" dirty="0"/>
              <a:t> = False</a:t>
            </a:r>
          </a:p>
          <a:p>
            <a:r>
              <a:rPr lang="en-US" altLang="ja-JP" sz="1400" dirty="0"/>
              <a:t>    sleep(0.5)</a:t>
            </a:r>
            <a:r>
              <a:rPr sz="1400" spc="-10" dirty="0"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7559" y="2717800"/>
            <a:ext cx="3899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eiryo"/>
                <a:cs typeface="Meiryo"/>
              </a:rPr>
              <a:t>L</a:t>
            </a:r>
            <a:r>
              <a:rPr sz="1200" spc="-15" dirty="0">
                <a:latin typeface="Meiryo"/>
                <a:cs typeface="Meiryo"/>
              </a:rPr>
              <a:t>チカに必要なモジュール(ライブラリ)の読み込みます。</a:t>
            </a:r>
            <a:endParaRPr sz="1200" dirty="0">
              <a:latin typeface="Meiryo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4841" y="4404572"/>
            <a:ext cx="138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eiryo"/>
                <a:cs typeface="Meiryo"/>
              </a:rPr>
              <a:t>基板上の</a:t>
            </a:r>
            <a:r>
              <a:rPr sz="1200" spc="-10" dirty="0">
                <a:latin typeface="Meiryo"/>
                <a:cs typeface="Meiryo"/>
              </a:rPr>
              <a:t>LED</a:t>
            </a:r>
            <a:r>
              <a:rPr sz="1200" spc="-20" dirty="0">
                <a:latin typeface="Meiryo"/>
                <a:cs typeface="Meiryo"/>
              </a:rPr>
              <a:t>の定義</a:t>
            </a:r>
            <a:endParaRPr sz="1200" dirty="0">
              <a:latin typeface="Meiryo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20004" y="4047544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latin typeface="MS PGothic"/>
                <a:cs typeface="MS PGothic"/>
              </a:rPr>
              <a:t>ピンの属性は出力。</a:t>
            </a:r>
            <a:endParaRPr sz="1400" dirty="0">
              <a:latin typeface="MS PGothic"/>
              <a:cs typeface="MS P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7022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「</a:t>
            </a:r>
            <a:r>
              <a:rPr dirty="0"/>
              <a:t>Raspberry</a:t>
            </a:r>
            <a:r>
              <a:rPr spc="-60" dirty="0"/>
              <a:t> </a:t>
            </a:r>
            <a:r>
              <a:rPr dirty="0"/>
              <a:t>Pi</a:t>
            </a:r>
            <a:r>
              <a:rPr spc="-5" dirty="0"/>
              <a:t> </a:t>
            </a:r>
            <a:r>
              <a:rPr dirty="0"/>
              <a:t>Pico</a:t>
            </a:r>
            <a:r>
              <a:rPr spc="-20" dirty="0"/>
              <a:t> </a:t>
            </a:r>
            <a:r>
              <a:rPr dirty="0"/>
              <a:t>W</a:t>
            </a:r>
            <a:r>
              <a:rPr spc="-30" dirty="0"/>
              <a:t>」の機能を使って温度測定をする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8072" y="1316240"/>
            <a:ext cx="8754428" cy="1638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0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dirty="0">
                <a:latin typeface="MS PGothic"/>
                <a:cs typeface="MS PGothic"/>
              </a:rPr>
              <a:t>「Raspberry</a:t>
            </a:r>
            <a:r>
              <a:rPr sz="2000" spc="-5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</a:t>
            </a:r>
            <a:r>
              <a:rPr sz="2000" spc="-5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Pico</a:t>
            </a:r>
            <a:r>
              <a:rPr sz="2000" spc="-20" dirty="0">
                <a:latin typeface="MS PGothic"/>
                <a:cs typeface="MS PGothic"/>
              </a:rPr>
              <a:t> </a:t>
            </a:r>
            <a:r>
              <a:rPr sz="2000" dirty="0">
                <a:latin typeface="MS PGothic"/>
                <a:cs typeface="MS PGothic"/>
              </a:rPr>
              <a:t>W</a:t>
            </a:r>
            <a:r>
              <a:rPr sz="2000" spc="-5" dirty="0">
                <a:latin typeface="MS PGothic"/>
                <a:cs typeface="MS PGothic"/>
              </a:rPr>
              <a:t>」の温度測定の概略説明</a:t>
            </a:r>
            <a:endParaRPr sz="2000" dirty="0">
              <a:latin typeface="MS PGothic"/>
              <a:cs typeface="MS PGothic"/>
            </a:endParaRPr>
          </a:p>
          <a:p>
            <a:pPr marL="345440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MS PGothic"/>
                <a:cs typeface="MS PGothic"/>
              </a:rPr>
              <a:t>「</a:t>
            </a:r>
            <a:r>
              <a:rPr sz="1600" dirty="0">
                <a:latin typeface="MS PGothic"/>
                <a:cs typeface="MS PGothic"/>
              </a:rPr>
              <a:t>Raspberry</a:t>
            </a:r>
            <a:r>
              <a:rPr sz="1600" spc="-15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</a:t>
            </a:r>
            <a:r>
              <a:rPr sz="1600" spc="10" dirty="0">
                <a:latin typeface="MS PGothic"/>
                <a:cs typeface="MS PGothic"/>
              </a:rPr>
              <a:t> </a:t>
            </a:r>
            <a:r>
              <a:rPr sz="1600" dirty="0">
                <a:latin typeface="MS PGothic"/>
                <a:cs typeface="MS PGothic"/>
              </a:rPr>
              <a:t>Pico</a:t>
            </a:r>
            <a:r>
              <a:rPr sz="1600" spc="-5" dirty="0">
                <a:latin typeface="MS PGothic"/>
                <a:cs typeface="MS PGothic"/>
              </a:rPr>
              <a:t> </a:t>
            </a:r>
            <a:r>
              <a:rPr sz="1600" spc="-10" dirty="0">
                <a:latin typeface="MS PGothic"/>
                <a:cs typeface="MS PGothic"/>
              </a:rPr>
              <a:t>W</a:t>
            </a:r>
            <a:r>
              <a:rPr sz="1600" spc="-35" dirty="0">
                <a:latin typeface="MS PGothic"/>
                <a:cs typeface="MS PGothic"/>
              </a:rPr>
              <a:t>」 </a:t>
            </a:r>
            <a:r>
              <a:rPr sz="1600" spc="-35" dirty="0" err="1">
                <a:latin typeface="MS PGothic"/>
                <a:cs typeface="MS PGothic"/>
              </a:rPr>
              <a:t>には温度を測定する機能があります</a:t>
            </a:r>
            <a:r>
              <a:rPr sz="1600" spc="-35" dirty="0">
                <a:latin typeface="MS PGothic"/>
                <a:cs typeface="MS PGothic"/>
              </a:rPr>
              <a:t>。</a:t>
            </a:r>
            <a:endParaRPr sz="1600" dirty="0">
              <a:latin typeface="MS PGothic"/>
              <a:cs typeface="MS PGothic"/>
            </a:endParaRPr>
          </a:p>
          <a:p>
            <a:pPr marL="281940">
              <a:lnSpc>
                <a:spcPct val="100000"/>
              </a:lnSpc>
              <a:spcBef>
                <a:spcPts val="500"/>
              </a:spcBef>
            </a:pPr>
            <a:r>
              <a:rPr sz="1600" spc="-15" dirty="0" err="1">
                <a:latin typeface="MS PGothic"/>
                <a:cs typeface="MS PGothic"/>
              </a:rPr>
              <a:t>気温が高ければ、低い電圧が、低ければ、高い電圧が出力されます</a:t>
            </a:r>
            <a:r>
              <a:rPr sz="1600" spc="-15" dirty="0">
                <a:latin typeface="MS PGothic"/>
                <a:cs typeface="MS PGothic"/>
              </a:rPr>
              <a:t>。</a:t>
            </a:r>
            <a:r>
              <a:rPr lang="ja-JP" altLang="en-US" sz="1600" spc="-15" dirty="0">
                <a:latin typeface="MS PGothic"/>
                <a:cs typeface="MS PGothic"/>
              </a:rPr>
              <a:t>誤差が大きいです。</a:t>
            </a:r>
            <a:endParaRPr sz="1600" dirty="0">
              <a:latin typeface="MS PGothic"/>
              <a:cs typeface="MS PGothic"/>
            </a:endParaRPr>
          </a:p>
          <a:p>
            <a:pPr marL="416559">
              <a:lnSpc>
                <a:spcPct val="100000"/>
              </a:lnSpc>
              <a:spcBef>
                <a:spcPts val="500"/>
              </a:spcBef>
            </a:pPr>
            <a:r>
              <a:rPr sz="1600" spc="-40" dirty="0">
                <a:latin typeface="MS PGothic"/>
                <a:cs typeface="MS PGothic"/>
              </a:rPr>
              <a:t>温度計測ソフトは基板にあるアナログ/デジタル変換器で電圧をデジタル値に変換します。</a:t>
            </a:r>
            <a:endParaRPr sz="1600" dirty="0">
              <a:latin typeface="MS PGothic"/>
              <a:cs typeface="MS PGothic"/>
            </a:endParaRPr>
          </a:p>
          <a:p>
            <a:pPr marL="281940">
              <a:lnSpc>
                <a:spcPct val="100000"/>
              </a:lnSpc>
              <a:spcBef>
                <a:spcPts val="500"/>
              </a:spcBef>
            </a:pPr>
            <a:r>
              <a:rPr sz="1600" spc="-25" dirty="0">
                <a:latin typeface="MS PGothic"/>
                <a:cs typeface="MS PGothic"/>
              </a:rPr>
              <a:t>そのデジタル値を温度値にして</a:t>
            </a:r>
            <a:r>
              <a:rPr sz="1600" spc="-10" dirty="0">
                <a:latin typeface="MS PGothic"/>
                <a:cs typeface="MS PGothic"/>
              </a:rPr>
              <a:t>Thonｎy</a:t>
            </a:r>
            <a:r>
              <a:rPr sz="1600" spc="-30" dirty="0">
                <a:latin typeface="MS PGothic"/>
                <a:cs typeface="MS PGothic"/>
              </a:rPr>
              <a:t>で</a:t>
            </a:r>
            <a:r>
              <a:rPr sz="1600" spc="-10" dirty="0">
                <a:latin typeface="MS PGothic"/>
                <a:cs typeface="MS PGothic"/>
              </a:rPr>
              <a:t>2</a:t>
            </a:r>
            <a:r>
              <a:rPr sz="1600" spc="-35" dirty="0">
                <a:latin typeface="MS PGothic"/>
                <a:cs typeface="MS PGothic"/>
              </a:rPr>
              <a:t>秒ごとに表示します。</a:t>
            </a:r>
            <a:endParaRPr sz="16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0772" y="4458132"/>
            <a:ext cx="7068184" cy="98742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665"/>
              </a:spcBef>
              <a:buClr>
                <a:srgbClr val="375F92"/>
              </a:buClr>
              <a:buSzPct val="88888"/>
              <a:buFont typeface="Wingdings"/>
              <a:buChar char=""/>
              <a:tabLst>
                <a:tab pos="299720" algn="l"/>
              </a:tabLst>
            </a:pPr>
            <a:r>
              <a:rPr sz="1800" spc="-15" dirty="0">
                <a:latin typeface="MS PGothic"/>
                <a:cs typeface="MS PGothic"/>
              </a:rPr>
              <a:t>温度測定ソフトを「</a:t>
            </a:r>
            <a:r>
              <a:rPr sz="1800" dirty="0">
                <a:latin typeface="MS PGothic"/>
                <a:cs typeface="MS PGothic"/>
              </a:rPr>
              <a:t>Raspberry</a:t>
            </a:r>
            <a:r>
              <a:rPr sz="1800" spc="30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Pi</a:t>
            </a:r>
            <a:r>
              <a:rPr sz="1800" spc="-30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Pico</a:t>
            </a:r>
            <a:r>
              <a:rPr sz="1800" spc="-10" dirty="0">
                <a:latin typeface="MS PGothic"/>
                <a:cs typeface="MS PGothic"/>
              </a:rPr>
              <a:t> </a:t>
            </a:r>
            <a:r>
              <a:rPr sz="1800" dirty="0">
                <a:latin typeface="MS PGothic"/>
                <a:cs typeface="MS PGothic"/>
              </a:rPr>
              <a:t>W</a:t>
            </a:r>
            <a:r>
              <a:rPr sz="1800" spc="-20" dirty="0">
                <a:latin typeface="MS PGothic"/>
                <a:cs typeface="MS PGothic"/>
              </a:rPr>
              <a:t>」に書込む</a:t>
            </a:r>
            <a:endParaRPr sz="1800">
              <a:latin typeface="MS PGothic"/>
              <a:cs typeface="MS PGothic"/>
            </a:endParaRPr>
          </a:p>
          <a:p>
            <a:pPr marL="469900" marR="5080">
              <a:lnSpc>
                <a:spcPct val="126000"/>
              </a:lnSpc>
              <a:spcBef>
                <a:spcPts val="5"/>
              </a:spcBef>
            </a:pPr>
            <a:r>
              <a:rPr sz="1600" spc="-20" dirty="0">
                <a:latin typeface="MS PGothic"/>
                <a:cs typeface="MS PGothic"/>
              </a:rPr>
              <a:t>ZIP</a:t>
            </a:r>
            <a:r>
              <a:rPr sz="1600" spc="-35" dirty="0">
                <a:latin typeface="MS PGothic"/>
                <a:cs typeface="MS PGothic"/>
              </a:rPr>
              <a:t>ファイル展開された「温度計測ソフト」フォルダーにある</a:t>
            </a:r>
            <a:r>
              <a:rPr sz="1600" spc="-10" dirty="0">
                <a:latin typeface="MS PGothic"/>
                <a:cs typeface="MS PGothic"/>
              </a:rPr>
              <a:t>main.py</a:t>
            </a:r>
            <a:r>
              <a:rPr sz="1600" spc="-25" dirty="0">
                <a:latin typeface="MS PGothic"/>
                <a:cs typeface="MS PGothic"/>
              </a:rPr>
              <a:t>を使います。</a:t>
            </a:r>
            <a:r>
              <a:rPr sz="1600" spc="-50" dirty="0">
                <a:latin typeface="MS PGothic"/>
                <a:cs typeface="MS PGothic"/>
              </a:rPr>
              <a:t> </a:t>
            </a:r>
            <a:r>
              <a:rPr sz="1600" spc="-20" dirty="0">
                <a:latin typeface="MS PGothic"/>
                <a:cs typeface="MS PGothic"/>
              </a:rPr>
              <a:t>LED</a:t>
            </a:r>
            <a:r>
              <a:rPr sz="1600" spc="-40" dirty="0">
                <a:latin typeface="MS PGothic"/>
                <a:cs typeface="MS PGothic"/>
              </a:rPr>
              <a:t>点滅の時と同じ要領で書き込み、実行を行います。</a:t>
            </a:r>
            <a:endParaRPr sz="1600">
              <a:latin typeface="MS PGothic"/>
              <a:cs typeface="MS P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3408680"/>
            <a:ext cx="3741420" cy="11099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9120" y="5585460"/>
            <a:ext cx="4140200" cy="1511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514775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 err="1"/>
              <a:t>温度測定</a:t>
            </a:r>
            <a:r>
              <a:rPr lang="ja-JP" altLang="en-US" spc="-20" dirty="0"/>
              <a:t>ソフト</a:t>
            </a:r>
            <a:r>
              <a:rPr spc="-20" dirty="0" err="1"/>
              <a:t>の実行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088072" y="1316240"/>
            <a:ext cx="2134235" cy="710451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0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spc="-10" dirty="0">
                <a:latin typeface="MS PGothic"/>
                <a:cs typeface="MS PGothic"/>
              </a:rPr>
              <a:t>温度測定の解説</a:t>
            </a:r>
            <a:endParaRPr sz="2000" dirty="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spc="-20" dirty="0">
                <a:latin typeface="MS PGothic"/>
                <a:cs typeface="MS PGothic"/>
              </a:rPr>
              <a:t>①</a:t>
            </a:r>
            <a:r>
              <a:rPr sz="1600" spc="-20" dirty="0" err="1">
                <a:latin typeface="MS PGothic"/>
                <a:cs typeface="MS PGothic"/>
              </a:rPr>
              <a:t>温度測定ソフト</a:t>
            </a:r>
            <a:endParaRPr sz="1600" dirty="0">
              <a:latin typeface="MS PGothic"/>
              <a:cs typeface="MS P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76086" y="7134225"/>
            <a:ext cx="2413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03416C-865A-5F52-51C1-F11C6B96F154}"/>
              </a:ext>
            </a:extLst>
          </p:cNvPr>
          <p:cNvSpPr txBox="1"/>
          <p:nvPr/>
        </p:nvSpPr>
        <p:spPr>
          <a:xfrm>
            <a:off x="1477136" y="2257425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import time</a:t>
            </a:r>
          </a:p>
          <a:p>
            <a:r>
              <a:rPr lang="en-US" altLang="ja-JP" dirty="0"/>
              <a:t>import microcontroller # </a:t>
            </a:r>
            <a:r>
              <a:rPr lang="ja-JP" altLang="en-US" dirty="0"/>
              <a:t>マイクロコントローラーに関する情報（</a:t>
            </a:r>
            <a:r>
              <a:rPr lang="en-US" altLang="ja-JP" dirty="0"/>
              <a:t>CPU</a:t>
            </a:r>
            <a:r>
              <a:rPr lang="ja-JP" altLang="en-US" dirty="0"/>
              <a:t>温度等）を取得</a:t>
            </a:r>
          </a:p>
          <a:p>
            <a:endParaRPr lang="ja-JP" altLang="en-US" dirty="0"/>
          </a:p>
          <a:p>
            <a:r>
              <a:rPr lang="en-US" altLang="ja-JP" dirty="0"/>
              <a:t>while True:</a:t>
            </a:r>
          </a:p>
          <a:p>
            <a:r>
              <a:rPr lang="en-US" altLang="ja-JP" dirty="0"/>
              <a:t>    temperature = </a:t>
            </a:r>
            <a:r>
              <a:rPr lang="en-US" altLang="ja-JP" dirty="0" err="1"/>
              <a:t>microcontroller.cpu.temperature</a:t>
            </a:r>
            <a:r>
              <a:rPr lang="en-US" altLang="ja-JP" dirty="0"/>
              <a:t> # </a:t>
            </a:r>
            <a:r>
              <a:rPr lang="ja-JP" altLang="en-US" dirty="0"/>
              <a:t>本体温度センサの温度取得</a:t>
            </a:r>
          </a:p>
          <a:p>
            <a:r>
              <a:rPr lang="ja-JP" altLang="en-US" dirty="0"/>
              <a:t>    </a:t>
            </a:r>
            <a:r>
              <a:rPr lang="en-US" altLang="ja-JP" dirty="0"/>
              <a:t>print(temperature)</a:t>
            </a:r>
          </a:p>
          <a:p>
            <a:r>
              <a:rPr lang="en-US" altLang="ja-JP" dirty="0"/>
              <a:t>    </a:t>
            </a:r>
            <a:r>
              <a:rPr lang="en-US" altLang="ja-JP" dirty="0" err="1"/>
              <a:t>time.sleep</a:t>
            </a:r>
            <a:r>
              <a:rPr lang="en-US" altLang="ja-JP" dirty="0"/>
              <a:t>(2)</a:t>
            </a:r>
          </a:p>
          <a:p>
            <a:endParaRPr kumimoji="1" lang="ja-JP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8072" y="1654739"/>
            <a:ext cx="8502650" cy="10134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65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000" spc="-10" dirty="0">
                <a:latin typeface="MS PGothic"/>
                <a:cs typeface="MS PGothic"/>
              </a:rPr>
              <a:t>温度測定の様子</a:t>
            </a:r>
            <a:endParaRPr sz="20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800" spc="-30" dirty="0">
                <a:latin typeface="MS PGothic"/>
                <a:cs typeface="MS PGothic"/>
              </a:rPr>
              <a:t>画面の中央に温度が</a:t>
            </a:r>
            <a:r>
              <a:rPr sz="1800" dirty="0">
                <a:latin typeface="MS PGothic"/>
                <a:cs typeface="MS PGothic"/>
              </a:rPr>
              <a:t>2</a:t>
            </a:r>
            <a:r>
              <a:rPr sz="1800" spc="-35" dirty="0">
                <a:latin typeface="MS PGothic"/>
                <a:cs typeface="MS PGothic"/>
              </a:rPr>
              <a:t>秒ごとに表示されています。この写真ではドライヤの温風をあ</a:t>
            </a:r>
            <a:endParaRPr sz="1800">
              <a:latin typeface="MS PGothic"/>
              <a:cs typeface="MS PGothic"/>
            </a:endParaRPr>
          </a:p>
          <a:p>
            <a:pPr marL="482600">
              <a:lnSpc>
                <a:spcPct val="100000"/>
              </a:lnSpc>
            </a:pPr>
            <a:r>
              <a:rPr sz="1800" spc="-20" dirty="0">
                <a:latin typeface="MS PGothic"/>
                <a:cs typeface="MS PGothic"/>
              </a:rPr>
              <a:t>て温度を上昇させた結果が出てます。逆に冷風を送ると温度がさがります。</a:t>
            </a:r>
            <a:endParaRPr sz="1800">
              <a:latin typeface="MS PGothic"/>
              <a:cs typeface="MS P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3103880"/>
            <a:ext cx="5930900" cy="3810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69632" y="378714"/>
            <a:ext cx="7022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「</a:t>
            </a:r>
            <a:r>
              <a:rPr dirty="0"/>
              <a:t>Raspberry</a:t>
            </a:r>
            <a:r>
              <a:rPr spc="-60" dirty="0"/>
              <a:t> </a:t>
            </a:r>
            <a:r>
              <a:rPr dirty="0"/>
              <a:t>Pi</a:t>
            </a:r>
            <a:r>
              <a:rPr spc="-5" dirty="0"/>
              <a:t> </a:t>
            </a:r>
            <a:r>
              <a:rPr dirty="0"/>
              <a:t>Pico</a:t>
            </a:r>
            <a:r>
              <a:rPr spc="-20" dirty="0"/>
              <a:t> </a:t>
            </a:r>
            <a:r>
              <a:rPr dirty="0"/>
              <a:t>W</a:t>
            </a:r>
            <a:r>
              <a:rPr spc="-30" dirty="0"/>
              <a:t>」の機能を使って温度測定をする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336550"/>
            <a:ext cx="6404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「Raspberry</a:t>
            </a:r>
            <a:r>
              <a:rPr sz="2800" spc="-60" dirty="0"/>
              <a:t> </a:t>
            </a:r>
            <a:r>
              <a:rPr sz="2800" dirty="0"/>
              <a:t>Pi Pico</a:t>
            </a:r>
            <a:r>
              <a:rPr sz="2800" spc="-10" dirty="0"/>
              <a:t> </a:t>
            </a:r>
            <a:r>
              <a:rPr sz="2800" dirty="0"/>
              <a:t>W</a:t>
            </a:r>
            <a:r>
              <a:rPr sz="2800" spc="-30" dirty="0"/>
              <a:t>」ハンズオンのまとめ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dirty="0"/>
              <a:t>「Raspberry</a:t>
            </a:r>
            <a:r>
              <a:rPr spc="-60" dirty="0"/>
              <a:t> </a:t>
            </a:r>
            <a:r>
              <a:rPr dirty="0"/>
              <a:t>Pi</a:t>
            </a:r>
            <a:r>
              <a:rPr spc="-10" dirty="0"/>
              <a:t> </a:t>
            </a:r>
            <a:r>
              <a:rPr dirty="0"/>
              <a:t>Pico</a:t>
            </a:r>
            <a:r>
              <a:rPr spc="-25" dirty="0"/>
              <a:t> </a:t>
            </a:r>
            <a:r>
              <a:rPr dirty="0"/>
              <a:t>W</a:t>
            </a:r>
            <a:r>
              <a:rPr spc="-15" dirty="0"/>
              <a:t>」の準備</a:t>
            </a:r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dirty="0"/>
              <a:t>「Raspberry</a:t>
            </a:r>
            <a:r>
              <a:rPr sz="1600" spc="-30" dirty="0"/>
              <a:t> </a:t>
            </a:r>
            <a:r>
              <a:rPr sz="1600" dirty="0"/>
              <a:t>Pi</a:t>
            </a:r>
            <a:r>
              <a:rPr sz="1600" spc="-30" dirty="0"/>
              <a:t> </a:t>
            </a:r>
            <a:r>
              <a:rPr sz="1600" dirty="0"/>
              <a:t>Pico</a:t>
            </a:r>
            <a:r>
              <a:rPr sz="1600" spc="-20" dirty="0"/>
              <a:t> </a:t>
            </a:r>
            <a:r>
              <a:rPr sz="1600" dirty="0"/>
              <a:t>W</a:t>
            </a:r>
            <a:r>
              <a:rPr sz="1600" spc="-15" dirty="0"/>
              <a:t>」の解説</a:t>
            </a:r>
            <a:endParaRPr sz="1600"/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sz="1600" spc="-10" dirty="0"/>
              <a:t>「</a:t>
            </a:r>
            <a:r>
              <a:rPr sz="1600" dirty="0"/>
              <a:t>Raspberry</a:t>
            </a:r>
            <a:r>
              <a:rPr sz="1600" spc="-5" dirty="0"/>
              <a:t> </a:t>
            </a:r>
            <a:r>
              <a:rPr sz="1600" dirty="0"/>
              <a:t>Pi</a:t>
            </a:r>
            <a:r>
              <a:rPr sz="1600" spc="-15" dirty="0"/>
              <a:t> </a:t>
            </a:r>
            <a:r>
              <a:rPr sz="1600" dirty="0"/>
              <a:t>Pico</a:t>
            </a:r>
            <a:r>
              <a:rPr sz="1600" spc="5" dirty="0"/>
              <a:t> </a:t>
            </a:r>
            <a:r>
              <a:rPr sz="1600" spc="-10" dirty="0"/>
              <a:t>W</a:t>
            </a:r>
            <a:r>
              <a:rPr sz="1600" spc="-35" dirty="0"/>
              <a:t>」にファームウエアを書込む</a:t>
            </a:r>
            <a:endParaRPr sz="1600"/>
          </a:p>
          <a:p>
            <a:pPr marL="482600" marR="1760855">
              <a:lnSpc>
                <a:spcPct val="126000"/>
              </a:lnSpc>
            </a:pPr>
            <a:r>
              <a:rPr sz="1600" spc="-10" dirty="0"/>
              <a:t>PC</a:t>
            </a:r>
            <a:r>
              <a:rPr sz="1600" spc="-25" dirty="0"/>
              <a:t>で</a:t>
            </a:r>
            <a:r>
              <a:rPr sz="1600" spc="-10" dirty="0"/>
              <a:t>Thonny</a:t>
            </a:r>
            <a:r>
              <a:rPr sz="1600" spc="-35" dirty="0"/>
              <a:t>を使用する準備</a:t>
            </a:r>
            <a:r>
              <a:rPr sz="1600" spc="-50" dirty="0"/>
              <a:t> </a:t>
            </a:r>
            <a:r>
              <a:rPr sz="1600" spc="-10" dirty="0"/>
              <a:t>Thonny</a:t>
            </a:r>
            <a:r>
              <a:rPr sz="1600" spc="-20" dirty="0"/>
              <a:t>の設定</a:t>
            </a:r>
            <a:endParaRPr sz="1600"/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Clr>
                <a:srgbClr val="375F92"/>
              </a:buClr>
              <a:buSzPct val="88888"/>
              <a:buFont typeface="Wingdings"/>
              <a:buChar char=""/>
              <a:tabLst>
                <a:tab pos="342900" algn="l"/>
              </a:tabLst>
            </a:pPr>
            <a:r>
              <a:rPr sz="1800" dirty="0"/>
              <a:t>「Raspberry</a:t>
            </a:r>
            <a:r>
              <a:rPr sz="1800" spc="5" dirty="0"/>
              <a:t> </a:t>
            </a:r>
            <a:r>
              <a:rPr sz="1800" dirty="0"/>
              <a:t>Pi</a:t>
            </a:r>
            <a:r>
              <a:rPr sz="1800" spc="-30" dirty="0"/>
              <a:t> </a:t>
            </a:r>
            <a:r>
              <a:rPr sz="1800" dirty="0"/>
              <a:t>Pico</a:t>
            </a:r>
            <a:r>
              <a:rPr sz="1800" spc="-5" dirty="0"/>
              <a:t> </a:t>
            </a:r>
            <a:r>
              <a:rPr sz="1800" dirty="0"/>
              <a:t>W</a:t>
            </a:r>
            <a:r>
              <a:rPr sz="1800" spc="-20" dirty="0"/>
              <a:t>」 でのLED</a:t>
            </a:r>
            <a:r>
              <a:rPr sz="1800" spc="-25" dirty="0"/>
              <a:t>点滅</a:t>
            </a:r>
            <a:endParaRPr sz="1800"/>
          </a:p>
          <a:p>
            <a:pPr marL="482600" marR="250825">
              <a:lnSpc>
                <a:spcPct val="126000"/>
              </a:lnSpc>
            </a:pPr>
            <a:r>
              <a:rPr sz="1600" spc="-20" dirty="0"/>
              <a:t>LED点滅ソフトを</a:t>
            </a:r>
            <a:r>
              <a:rPr sz="1600" dirty="0"/>
              <a:t>Raspberry</a:t>
            </a:r>
            <a:r>
              <a:rPr sz="1600" spc="35" dirty="0"/>
              <a:t> </a:t>
            </a:r>
            <a:r>
              <a:rPr sz="1600" dirty="0"/>
              <a:t>Pi</a:t>
            </a:r>
            <a:r>
              <a:rPr sz="1600" spc="-10" dirty="0"/>
              <a:t> </a:t>
            </a:r>
            <a:r>
              <a:rPr sz="1600" dirty="0"/>
              <a:t>Pico</a:t>
            </a:r>
            <a:r>
              <a:rPr sz="1600" spc="10" dirty="0"/>
              <a:t> </a:t>
            </a:r>
            <a:r>
              <a:rPr sz="1600" dirty="0"/>
              <a:t>W</a:t>
            </a:r>
            <a:r>
              <a:rPr sz="1600" spc="-40" dirty="0"/>
              <a:t>に書込む</a:t>
            </a:r>
            <a:r>
              <a:rPr sz="1600" spc="-50" dirty="0"/>
              <a:t> </a:t>
            </a:r>
            <a:r>
              <a:rPr sz="1600" spc="-20" dirty="0"/>
              <a:t>LED</a:t>
            </a:r>
            <a:r>
              <a:rPr sz="1600" spc="-15" dirty="0"/>
              <a:t>点滅ソフトの実行</a:t>
            </a:r>
            <a:endParaRPr sz="1600"/>
          </a:p>
          <a:p>
            <a:pPr marL="342900" indent="-330200">
              <a:lnSpc>
                <a:spcPct val="100000"/>
              </a:lnSpc>
              <a:spcBef>
                <a:spcPts val="500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dirty="0"/>
              <a:t>「Raspberry</a:t>
            </a:r>
            <a:r>
              <a:rPr spc="-60" dirty="0"/>
              <a:t> </a:t>
            </a:r>
            <a:r>
              <a:rPr dirty="0"/>
              <a:t>Pi</a:t>
            </a:r>
            <a:r>
              <a:rPr spc="-10" dirty="0"/>
              <a:t> </a:t>
            </a:r>
            <a:r>
              <a:rPr dirty="0"/>
              <a:t>Pico</a:t>
            </a:r>
            <a:r>
              <a:rPr spc="-25" dirty="0"/>
              <a:t> </a:t>
            </a:r>
            <a:r>
              <a:rPr dirty="0"/>
              <a:t>W</a:t>
            </a:r>
            <a:r>
              <a:rPr spc="-10" dirty="0"/>
              <a:t>」での温度測定</a:t>
            </a:r>
          </a:p>
          <a:p>
            <a:pPr marL="482600" marR="202565">
              <a:lnSpc>
                <a:spcPct val="126000"/>
              </a:lnSpc>
              <a:spcBef>
                <a:spcPts val="5"/>
              </a:spcBef>
            </a:pPr>
            <a:r>
              <a:rPr sz="1600" spc="-20" dirty="0"/>
              <a:t>温度測定ソフトを</a:t>
            </a:r>
            <a:r>
              <a:rPr sz="1600" dirty="0"/>
              <a:t>Raspberry Pi</a:t>
            </a:r>
            <a:r>
              <a:rPr sz="1600" spc="-10" dirty="0"/>
              <a:t> </a:t>
            </a:r>
            <a:r>
              <a:rPr sz="1600" dirty="0"/>
              <a:t>Pico</a:t>
            </a:r>
            <a:r>
              <a:rPr sz="1600" spc="-20" dirty="0"/>
              <a:t> </a:t>
            </a:r>
            <a:r>
              <a:rPr sz="1600" dirty="0"/>
              <a:t>W</a:t>
            </a:r>
            <a:r>
              <a:rPr sz="1600" spc="-40" dirty="0"/>
              <a:t>に書込む</a:t>
            </a:r>
            <a:r>
              <a:rPr sz="1600" spc="-15" dirty="0"/>
              <a:t>温度測定ソフトの実行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220" y="3112770"/>
            <a:ext cx="7301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5" dirty="0">
                <a:latin typeface="MS PGothic"/>
                <a:cs typeface="MS PGothic"/>
              </a:rPr>
              <a:t>ご静聴ありがとうございました。</a:t>
            </a:r>
            <a:endParaRPr sz="440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</TotalTime>
  <Words>1108</Words>
  <Application>Microsoft Office PowerPoint</Application>
  <PresentationFormat>ユーザー設定</PresentationFormat>
  <Paragraphs>204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9" baseType="lpstr">
      <vt:lpstr>MS PGothic</vt:lpstr>
      <vt:lpstr>MS Gothic</vt:lpstr>
      <vt:lpstr>Meiryo</vt:lpstr>
      <vt:lpstr>Arial</vt:lpstr>
      <vt:lpstr>Calibri</vt:lpstr>
      <vt:lpstr>Wingdings</vt:lpstr>
      <vt:lpstr>Office Theme</vt:lpstr>
      <vt:lpstr>PowerPoint プレゼンテーション</vt:lpstr>
      <vt:lpstr>講座概要</vt:lpstr>
      <vt:lpstr>「Raspberry Pi Pico W」の解説</vt:lpstr>
      <vt:lpstr>「Raspberry Pi Pico W」の解説</vt:lpstr>
      <vt:lpstr>「Raspberry Pi Pico W」の解説</vt:lpstr>
      <vt:lpstr>PowerPoint プレゼンテーション</vt:lpstr>
      <vt:lpstr>「Raspberry Pi Pico W 」にUF2ファイルをダウンロードする。</vt:lpstr>
      <vt:lpstr>PowerPoint プレゼンテーション</vt:lpstr>
      <vt:lpstr>PowerPoint プレゼンテーション</vt:lpstr>
      <vt:lpstr>開発ツール ThonnyをPCにインストール</vt:lpstr>
      <vt:lpstr>開発ツール ThonnyをPCにインストール</vt:lpstr>
      <vt:lpstr>Thonnyの設定</vt:lpstr>
      <vt:lpstr>PowerPoint プレゼンテーション</vt:lpstr>
      <vt:lpstr>PowerPoint プレゼンテーション</vt:lpstr>
      <vt:lpstr>PowerPoint プレゼンテーション</vt:lpstr>
      <vt:lpstr>LED点滅ソフトを実行</vt:lpstr>
      <vt:lpstr>LED点滅ソフトの解説</vt:lpstr>
      <vt:lpstr>「Raspberry Pi Pico W」の機能を使って温度測定をする</vt:lpstr>
      <vt:lpstr>温度測定ソフトの実行</vt:lpstr>
      <vt:lpstr>「Raspberry Pi Pico W」の機能を使って温度測定をする</vt:lpstr>
      <vt:lpstr>「Raspberry Pi Pico W」ハンズオンのまとめ</vt:lpstr>
      <vt:lpstr>ご静聴ありがとうございました。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RaspberryPicoを使ってIoTを体感しよう。</dc:title>
  <dc:creator>宮本賢</dc:creator>
  <cp:lastModifiedBy>賢 宮本</cp:lastModifiedBy>
  <cp:revision>9</cp:revision>
  <dcterms:created xsi:type="dcterms:W3CDTF">2026-03-06T01:40:23Z</dcterms:created>
  <dcterms:modified xsi:type="dcterms:W3CDTF">2026-04-14T05:39:21Z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2026-03-06T00:00:00Z</vt:filetime>
  </property>
  <property fmtid="{D5CDD505-2E9C-101B-9397-08002B2CF9AE}" pid="5" name="Producer">
    <vt:lpwstr>Microsoft® PowerPoint® for Microsoft 365</vt:lpwstr>
  </property>
</Properties>
</file>